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y="6858000" cx="12192000"/>
  <p:notesSz cx="6858000" cy="9144000"/>
  <p:embeddedFontLst>
    <p:embeddedFont>
      <p:font typeface="Century Gothic"/>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8" roundtripDataSignature="AMtx7mhj8w8tEBOk2fNJeZobUkg6SQj56g=="/>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2" name="Claudio Schiavella"/>
  <p:cmAuthor clrIdx="1" id="1" initials="" lastIdx="9" name="Paolo RENZ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1C77492-6C3E-43B7-82BC-CB507C7431A0}">
  <a:tblStyle styleId="{E1C77492-6C3E-43B7-82BC-CB507C7431A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8B367DF-6231-497F-AC9F-6F7DF9882E19}"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CenturyGothic-bold.fntdata"/><Relationship Id="rId10" Type="http://schemas.openxmlformats.org/officeDocument/2006/relationships/slide" Target="slides/slide4.xml"/><Relationship Id="rId54" Type="http://schemas.openxmlformats.org/officeDocument/2006/relationships/font" Target="fonts/CenturyGothic-regular.fntdata"/><Relationship Id="rId13" Type="http://schemas.openxmlformats.org/officeDocument/2006/relationships/slide" Target="slides/slide7.xml"/><Relationship Id="rId57" Type="http://schemas.openxmlformats.org/officeDocument/2006/relationships/font" Target="fonts/CenturyGothic-boldItalic.fntdata"/><Relationship Id="rId12" Type="http://schemas.openxmlformats.org/officeDocument/2006/relationships/slide" Target="slides/slide6.xml"/><Relationship Id="rId56" Type="http://schemas.openxmlformats.org/officeDocument/2006/relationships/font" Target="fonts/CenturyGothic-italic.fntdata"/><Relationship Id="rId15" Type="http://schemas.openxmlformats.org/officeDocument/2006/relationships/slide" Target="slides/slide9.xml"/><Relationship Id="rId14" Type="http://schemas.openxmlformats.org/officeDocument/2006/relationships/slide" Target="slides/slide8.xml"/><Relationship Id="rId58"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2-01T07:25:08.220">
    <p:pos x="6000" y="0"/>
    <p:text>Questa slide non si capisce molto, è da reimpostare seguendo il flusso logico: cosa sono i SAR, cosa sono gli RFI. Oltretttutto eviterei "human generated" che forse è troppo associabile a quelle cose che Papa ci ha detto di non dire (dual use, military, etc.)</p:text>
    <p:extLst>
      <p:ext uri="{C676402C-5697-4E1C-873F-D02D1690AC5C}">
        <p15:threadingInfo timeZoneBias="0"/>
      </p:ext>
      <p:ext uri="http://customooxmlschemas.google.com/">
        <go:slidesCustomData xmlns:go="http://customooxmlschemas.google.com/" commentPostId="AAABw2eT1xs"/>
      </p:ext>
    </p:extLst>
  </p:cm>
  <p:cm authorId="1" idx="1" dt="2025-12-01T07:23:41.584">
    <p:pos x="6000" y="0"/>
    <p:text>anche dove avvengono non lo metterei per lo stesso motivo di human generated allora</p:text>
    <p:extLst>
      <p:ext uri="{C676402C-5697-4E1C-873F-D02D1690AC5C}">
        <p15:threadingInfo timeZoneBias="0">
          <p15:parentCm authorId="0" idx="1"/>
        </p15:threadingInfo>
      </p:ext>
      <p:ext uri="http://customooxmlschemas.google.com/">
        <go:slidesCustomData xmlns:go="http://customooxmlschemas.google.com/" commentPostId="AAABw2eT1x0"/>
      </p:ext>
    </p:extLst>
  </p:cm>
  <p:cm authorId="0" idx="2" dt="2025-12-01T07:24:33.317">
    <p:pos x="6000" y="0"/>
    <p:text>Nel senso avvengono sui SAR data</p:text>
    <p:extLst>
      <p:ext uri="{C676402C-5697-4E1C-873F-D02D1690AC5C}">
        <p15:threadingInfo timeZoneBias="0">
          <p15:parentCm authorId="0" idx="1"/>
        </p15:threadingInfo>
      </p:ext>
      <p:ext uri="http://customooxmlschemas.google.com/">
        <go:slidesCustomData xmlns:go="http://customooxmlschemas.google.com/" commentPostId="AAABw5luGM8"/>
      </p:ext>
    </p:extLst>
  </p:cm>
  <p:cm authorId="1" idx="2" dt="2025-12-01T07:25:08.220">
    <p:pos x="6000" y="0"/>
    <p:text>mi sembra implicito nel fatto che siano nella stessa frequenza, ma ok</p:text>
    <p:extLst>
      <p:ext uri="{C676402C-5697-4E1C-873F-D02D1690AC5C}">
        <p15:threadingInfo timeZoneBias="0">
          <p15:parentCm authorId="0" idx="1"/>
        </p15:threadingInfo>
      </p:ext>
      <p:ext uri="http://customooxmlschemas.google.com/">
        <go:slidesCustomData xmlns:go="http://customooxmlschemas.google.com/" commentPostId="AAABw5luGNA"/>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5-12-01T08:55:34.747">
    <p:pos x="6000" y="0"/>
    <p:text>Più che due foto di satelliti (ne terreei solo una), specificherei diversamente il contenuto di questa slide. Se si paral di dati difficili da rtovare,infatti, si deve dire il perchè. "Efficency in the model" suona molto male. Associato alla questione efficienza metterei un paio di metriche che ci dicono perchè sevono modelli efficienti/lightweight (quindi qualche specifica dei device usati, o almeno un qualcosa che rende l'idea)</p:text>
    <p:extLst>
      <p:ext uri="{C676402C-5697-4E1C-873F-D02D1690AC5C}">
        <p15:threadingInfo timeZoneBias="0"/>
      </p:ext>
      <p:ext uri="http://customooxmlschemas.google.com/">
        <go:slidesCustomData xmlns:go="http://customooxmlschemas.google.com/" commentPostId="AAABw2eT1xw"/>
      </p:ext>
    </p:extLst>
  </p:cm>
  <p:cm authorId="1" idx="3" dt="2025-12-01T07:46:50.603">
    <p:pos x="6000" y="0"/>
    <p:text>le foto dovrebbero essere dello stesso satellite, ho trovato questa informazione dal data sheet, ci metto questo o la grandezza della batteria?</p:text>
    <p:extLst>
      <p:ext uri="{C676402C-5697-4E1C-873F-D02D1690AC5C}">
        <p15:threadingInfo timeZoneBias="0">
          <p15:parentCm authorId="0" idx="3"/>
        </p15:threadingInfo>
      </p:ext>
      <p:ext uri="http://customooxmlschemas.google.com/">
        <go:slidesCustomData xmlns:go="http://customooxmlschemas.google.com/" commentPostId="AAABw5luGNk"/>
      </p:ext>
    </p:extLst>
  </p:cm>
  <p:cm authorId="0" idx="4" dt="2025-12-01T07:48:33.433">
    <p:pos x="6000" y="0"/>
    <p:text>Manterrei una foto e inserirei quelle info che hai detto</p:text>
    <p:extLst>
      <p:ext uri="{C676402C-5697-4E1C-873F-D02D1690AC5C}">
        <p15:threadingInfo timeZoneBias="0">
          <p15:parentCm authorId="0" idx="3"/>
        </p15:threadingInfo>
      </p:ext>
      <p:ext uri="http://customooxmlschemas.google.com/">
        <go:slidesCustomData xmlns:go="http://customooxmlschemas.google.com/" commentPostId="AAABw5luGNo"/>
      </p:ext>
    </p:extLst>
  </p:cm>
  <p:cm authorId="1" idx="4" dt="2025-12-01T08:52:56.530">
    <p:pos x="6000" y="0"/>
    <p:text>così va bene? la foto di sinistra l'ho messa per dare un idea della scala e quella di destra per farlo vedere in orbita</p:text>
    <p:extLst>
      <p:ext uri="{C676402C-5697-4E1C-873F-D02D1690AC5C}">
        <p15:threadingInfo timeZoneBias="0">
          <p15:parentCm authorId="0" idx="3"/>
        </p15:threadingInfo>
      </p:ext>
      <p:ext uri="http://customooxmlschemas.google.com/">
        <go:slidesCustomData xmlns:go="http://customooxmlschemas.google.com/" commentPostId="AAABw50Zqro"/>
      </p:ext>
    </p:extLst>
  </p:cm>
  <p:cm authorId="0" idx="5" dt="2025-12-01T08:55:29.541">
    <p:pos x="6000" y="0"/>
    <p:text>Okappa!
1 total reaction
Paolo RENZI reacted with 👍 at 2025-12-01 08:55 AM</p:text>
    <p:extLst>
      <p:ext uri="{C676402C-5697-4E1C-873F-D02D1690AC5C}">
        <p15:threadingInfo timeZoneBias="0">
          <p15:parentCm authorId="0" idx="3"/>
        </p15:threadingInfo>
      </p:ext>
      <p:ext uri="http://customooxmlschemas.google.com/">
        <go:slidesCustomData xmlns:go="http://customooxmlschemas.google.com/" commentPostId="AAABw50Zqrw"/>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5-12-01T08:43:00.113">
    <p:pos x="6000" y="0"/>
    <p:text>Questo commento vale per tutte le slide risultati: abbiamo già qualcosa a livello numerico oppure no? Nel caso nascondiamo queste slide finchè non serviranno</p:text>
    <p:extLst>
      <p:ext uri="{C676402C-5697-4E1C-873F-D02D1690AC5C}">
        <p15:threadingInfo timeZoneBias="0"/>
      </p:ext>
      <p:ext uri="http://customooxmlschemas.google.com/">
        <go:slidesCustomData xmlns:go="http://customooxmlschemas.google.com/" commentPostId="AAABw5luGNI"/>
      </p:ext>
    </p:extLst>
  </p:cm>
  <p:cm authorId="1" idx="5" dt="2025-12-01T07:39:26.753">
    <p:pos x="6000" y="0"/>
    <p:text>solo per classification e ora ce li metto</p:text>
    <p:extLst>
      <p:ext uri="{C676402C-5697-4E1C-873F-D02D1690AC5C}">
        <p15:threadingInfo timeZoneBias="0">
          <p15:parentCm authorId="0" idx="6"/>
        </p15:threadingInfo>
      </p:ext>
      <p:ext uri="http://customooxmlschemas.google.com/">
        <go:slidesCustomData xmlns:go="http://customooxmlschemas.google.com/" commentPostId="AAABw5luGNc"/>
      </p:ext>
    </p:extLst>
  </p:cm>
  <p:cm authorId="1" idx="6" dt="2025-12-01T07:59:40.511">
    <p:pos x="6000" y="0"/>
    <p:text>metto la CNN prima anche qui?</p:text>
    <p:extLst>
      <p:ext uri="{C676402C-5697-4E1C-873F-D02D1690AC5C}">
        <p15:threadingInfo timeZoneBias="0">
          <p15:parentCm authorId="0" idx="6"/>
        </p15:threadingInfo>
      </p:ext>
      <p:ext uri="http://customooxmlschemas.google.com/">
        <go:slidesCustomData xmlns:go="http://customooxmlschemas.google.com/" commentPostId="AAABw50ZqrM"/>
      </p:ext>
    </p:extLst>
  </p:cm>
  <p:cm authorId="0" idx="7" dt="2025-12-01T08:00:24.268">
    <p:pos x="6000" y="0"/>
    <p:text>Yess ed in grassetto i risultati migliori
1 total reaction
Paolo RENZI reacted with 👍 at 2025-12-01 08:43 AM</p:text>
    <p:extLst>
      <p:ext uri="{C676402C-5697-4E1C-873F-D02D1690AC5C}">
        <p15:threadingInfo timeZoneBias="0">
          <p15:parentCm authorId="0" idx="6"/>
        </p15:threadingInfo>
      </p:ext>
      <p:ext uri="http://customooxmlschemas.google.com/">
        <go:slidesCustomData xmlns:go="http://customooxmlschemas.google.com/" commentPostId="AAABw50ZqrQ"/>
      </p:ext>
    </p:extLs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5-12-01T08:54:57.257">
    <p:pos x="6000" y="0"/>
    <p:text>Qui non si capisce bene. Vuoi applicare questi due metodi separatamente da quel che ricordo, e poi dopo unirli. Qui sembra subito che si debbano unire</p:text>
    <p:extLst>
      <p:ext uri="{C676402C-5697-4E1C-873F-D02D1690AC5C}">
        <p15:threadingInfo timeZoneBias="0"/>
      </p:ext>
      <p:ext uri="http://customooxmlschemas.google.com/">
        <go:slidesCustomData xmlns:go="http://customooxmlschemas.google.com/" commentPostId="AAABw5luGNQ"/>
      </p:ext>
    </p:extLst>
  </p:cm>
  <p:cm authorId="1" idx="7" dt="2025-12-01T07:49:31.015">
    <p:pos x="6000" y="0"/>
    <p:text>ti ricordi bene, il primo era più incentrato sullo score alto e il secondo sull'efficienza, metto un punto ciascuno per descrivere questo?</p:text>
    <p:extLst>
      <p:ext uri="{C676402C-5697-4E1C-873F-D02D1690AC5C}">
        <p15:threadingInfo timeZoneBias="0">
          <p15:parentCm authorId="0" idx="8"/>
        </p15:threadingInfo>
      </p:ext>
      <p:ext uri="http://customooxmlschemas.google.com/">
        <go:slidesCustomData xmlns:go="http://customooxmlschemas.google.com/" commentPostId="AAABw50Zqq0"/>
      </p:ext>
    </p:extLst>
  </p:cm>
  <p:cm authorId="0" idx="9" dt="2025-12-01T07:50:30.253">
    <p:pos x="6000" y="0"/>
    <p:text>Si dai, forse nel formato della slide 5 così si capisce che sono approcci separati
1 total reaction
Paolo RENZI reacted with 👍 at 2025-12-01 08:04 AM</p:text>
    <p:extLst>
      <p:ext uri="{C676402C-5697-4E1C-873F-D02D1690AC5C}">
        <p15:threadingInfo timeZoneBias="0">
          <p15:parentCm authorId="0" idx="8"/>
        </p15:threadingInfo>
      </p:ext>
      <p:ext uri="http://customooxmlschemas.google.com/">
        <go:slidesCustomData xmlns:go="http://customooxmlschemas.google.com/" commentPostId="AAABw50Zqq4"/>
      </p:ext>
    </p:extLst>
  </p:cm>
  <p:cm authorId="0" idx="10" dt="2025-12-01T08:29:19.878">
    <p:pos x="6000" y="0"/>
    <p:text>Un dubbio, magari stupido, questi due approcci già sono stati testati su task di segmentazione vero?</p:text>
    <p:extLst>
      <p:ext uri="{C676402C-5697-4E1C-873F-D02D1690AC5C}">
        <p15:threadingInfo timeZoneBias="0">
          <p15:parentCm authorId="0" idx="8"/>
        </p15:threadingInfo>
      </p:ext>
      <p:ext uri="http://customooxmlschemas.google.com/">
        <go:slidesCustomData xmlns:go="http://customooxmlschemas.google.com/" commentPostId="AAABw50ZqrY"/>
      </p:ext>
    </p:extLst>
  </p:cm>
  <p:cm authorId="0" idx="11" dt="2025-12-01T08:31:50.578">
    <p:pos x="6000" y="0"/>
    <p:text>Ho ridotto le immagini, sennò l'info era troppo dispersa. Ci sarà tempo di specificare altra cose sugli approcci, ma qua serve il colpo d'occhio
1 total reaction
Paolo RENZI reacted with 👍 at 2025-12-01 08:43 AM</p:text>
    <p:extLst>
      <p:ext uri="{C676402C-5697-4E1C-873F-D02D1690AC5C}">
        <p15:threadingInfo timeZoneBias="0">
          <p15:parentCm authorId="0" idx="8"/>
        </p15:threadingInfo>
      </p:ext>
      <p:ext uri="http://customooxmlschemas.google.com/">
        <go:slidesCustomData xmlns:go="http://customooxmlschemas.google.com/" commentPostId="AAABw50Zqrc"/>
      </p:ext>
    </p:extLst>
  </p:cm>
  <p:cm authorId="1" idx="8" dt="2025-12-01T08:45:18.698">
    <p:pos x="6000" y="0"/>
    <p:text>non sono stati usati questi in particolare, ma altri si ed è tra i future works esplicitamente</p:text>
    <p:extLst>
      <p:ext uri="{C676402C-5697-4E1C-873F-D02D1690AC5C}">
        <p15:threadingInfo timeZoneBias="0">
          <p15:parentCm authorId="0" idx="8"/>
        </p15:threadingInfo>
      </p:ext>
      <p:ext uri="http://customooxmlschemas.google.com/">
        <go:slidesCustomData xmlns:go="http://customooxmlschemas.google.com/" commentPostId="AAABw50Zqrg"/>
      </p:ext>
    </p:extLst>
  </p:cm>
  <p:cm authorId="0" idx="12" dt="2025-12-01T08:47:00.736">
    <p:pos x="6000" y="0"/>
    <p:text>Però il concetto di quelli usati è associabile a questa immagine?</p:text>
    <p:extLst>
      <p:ext uri="{C676402C-5697-4E1C-873F-D02D1690AC5C}">
        <p15:threadingInfo timeZoneBias="0">
          <p15:parentCm authorId="0" idx="8"/>
        </p15:threadingInfo>
      </p:ext>
      <p:ext uri="http://customooxmlschemas.google.com/">
        <go:slidesCustomData xmlns:go="http://customooxmlschemas.google.com/" commentPostId="AAABw50Zqrk"/>
      </p:ext>
    </p:extLst>
  </p:cm>
  <p:cm authorId="1" idx="9" dt="2025-12-01T08:54:57.257">
    <p:pos x="6000" y="0"/>
    <p:text>si, sono sempre spiking attention transformer quindi si, nell'immagine originale di MSViT sono anche spiegati</p:text>
    <p:extLst>
      <p:ext uri="{C676402C-5697-4E1C-873F-D02D1690AC5C}">
        <p15:threadingInfo timeZoneBias="0">
          <p15:parentCm authorId="0" idx="8"/>
        </p15:threadingInfo>
      </p:ext>
      <p:ext uri="http://customooxmlschemas.google.com/">
        <go:slidesCustomData xmlns:go="http://customooxmlschemas.google.com/" commentPostId="AAABw50Zqrs"/>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r">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Clr>
                <a:srgbClr val="000000"/>
              </a:buClr>
              <a:buSzPts val="1400"/>
              <a:buFont typeface="Times New Roman"/>
              <a:buNone/>
            </a:pPr>
            <a:fld id="{00000000-1234-1234-1234-123412341234}" type="slidenum">
              <a:rPr b="0" i="0" lang="it-IT"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bbfcdf618_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g3abbfcdf618_4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104" name="Google Shape;104;g3abbfcdf618_4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p:nvPr>
            <p:ph idx="2" type="sldImg"/>
          </p:nvPr>
        </p:nvSpPr>
        <p:spPr>
          <a:xfrm>
            <a:off x="685800" y="1143000"/>
            <a:ext cx="548532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2:notes"/>
          <p:cNvSpPr txBox="1"/>
          <p:nvPr>
            <p:ph idx="1" type="body"/>
          </p:nvPr>
        </p:nvSpPr>
        <p:spPr>
          <a:xfrm>
            <a:off x="685800" y="4400640"/>
            <a:ext cx="5485320" cy="359964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112" name="Google Shape;112;p2:notes"/>
          <p:cNvSpPr txBox="1"/>
          <p:nvPr>
            <p:ph idx="12" type="sldNum"/>
          </p:nvPr>
        </p:nvSpPr>
        <p:spPr>
          <a:xfrm>
            <a:off x="3884760" y="8685360"/>
            <a:ext cx="2970720" cy="4575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p:nvPr>
            <p:ph idx="2" type="sldImg"/>
          </p:nvPr>
        </p:nvSpPr>
        <p:spPr>
          <a:xfrm>
            <a:off x="685800" y="1143000"/>
            <a:ext cx="548532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1" name="Google Shape;121;p3:notes"/>
          <p:cNvSpPr txBox="1"/>
          <p:nvPr>
            <p:ph idx="1" type="body"/>
          </p:nvPr>
        </p:nvSpPr>
        <p:spPr>
          <a:xfrm>
            <a:off x="685800" y="4400640"/>
            <a:ext cx="5485320" cy="359964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it-IT"/>
              <a:t>perche risolviamo il problema e perchè così</a:t>
            </a:r>
            <a:endParaRPr/>
          </a:p>
          <a:p>
            <a:pPr indent="0" lvl="0" marL="0" rtl="0" algn="l">
              <a:spcBef>
                <a:spcPts val="0"/>
              </a:spcBef>
              <a:spcAft>
                <a:spcPts val="0"/>
              </a:spcAft>
              <a:buSzPts val="1800"/>
              <a:buNone/>
            </a:pPr>
            <a:r>
              <a:rPr lang="it-IT"/>
              <a:t>(riduci i dati da mandare a terra)</a:t>
            </a:r>
            <a:endParaRPr/>
          </a:p>
          <a:p>
            <a:pPr indent="0" lvl="0" marL="0" rtl="0" algn="l">
              <a:spcBef>
                <a:spcPts val="0"/>
              </a:spcBef>
              <a:spcAft>
                <a:spcPts val="0"/>
              </a:spcAft>
              <a:buSzPts val="1800"/>
              <a:buNone/>
            </a:pPr>
            <a:r>
              <a:rPr lang="it-IT"/>
              <a:t>energy based neural network</a:t>
            </a:r>
            <a:endParaRPr/>
          </a:p>
        </p:txBody>
      </p:sp>
      <p:sp>
        <p:nvSpPr>
          <p:cNvPr id="122" name="Google Shape;122;p3:notes"/>
          <p:cNvSpPr txBox="1"/>
          <p:nvPr>
            <p:ph idx="12" type="sldNum"/>
          </p:nvPr>
        </p:nvSpPr>
        <p:spPr>
          <a:xfrm>
            <a:off x="3884760" y="8685360"/>
            <a:ext cx="2970720" cy="4575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ac52cf137e_5_1: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ac52cf137e_5_1: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1" name="Google Shape;131;g3ac52cf137e_5_1: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it-IT"/>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4:notes"/>
          <p:cNvSpPr/>
          <p:nvPr>
            <p:ph idx="2" type="sldImg"/>
          </p:nvPr>
        </p:nvSpPr>
        <p:spPr>
          <a:xfrm>
            <a:off x="685800" y="1143000"/>
            <a:ext cx="548532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p4:notes"/>
          <p:cNvSpPr txBox="1"/>
          <p:nvPr>
            <p:ph idx="1" type="body"/>
          </p:nvPr>
        </p:nvSpPr>
        <p:spPr>
          <a:xfrm>
            <a:off x="685800" y="4400640"/>
            <a:ext cx="5485320" cy="359964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it-IT"/>
              <a:t>dividere le pipeline meglio</a:t>
            </a:r>
            <a:endParaRPr/>
          </a:p>
          <a:p>
            <a:pPr indent="0" lvl="0" marL="0" rtl="0" algn="l">
              <a:spcBef>
                <a:spcPts val="0"/>
              </a:spcBef>
              <a:spcAft>
                <a:spcPts val="0"/>
              </a:spcAft>
              <a:buSzPts val="1800"/>
              <a:buNone/>
            </a:pPr>
            <a:r>
              <a:rPr lang="it-IT"/>
              <a:t>motivare le spike (ridurre il consumo) anche in background</a:t>
            </a:r>
            <a:endParaRPr/>
          </a:p>
          <a:p>
            <a:pPr indent="0" lvl="0" marL="0" rtl="0" algn="l">
              <a:spcBef>
                <a:spcPts val="0"/>
              </a:spcBef>
              <a:spcAft>
                <a:spcPts val="0"/>
              </a:spcAft>
              <a:buSzPts val="1800"/>
              <a:buNone/>
            </a:pPr>
            <a:r>
              <a:rPr lang="it-IT"/>
              <a:t>spiegare meglio le motivazioni</a:t>
            </a:r>
            <a:endParaRPr/>
          </a:p>
          <a:p>
            <a:pPr indent="0" lvl="0" marL="0" rtl="0" algn="l">
              <a:spcBef>
                <a:spcPts val="0"/>
              </a:spcBef>
              <a:spcAft>
                <a:spcPts val="0"/>
              </a:spcAft>
              <a:buSzPts val="1800"/>
              <a:buNone/>
            </a:pPr>
            <a:r>
              <a:rPr lang="it-IT"/>
              <a:t>confronto tra la poteza </a:t>
            </a:r>
            <a:endParaRPr/>
          </a:p>
        </p:txBody>
      </p:sp>
      <p:sp>
        <p:nvSpPr>
          <p:cNvPr id="149" name="Google Shape;149;p4:notes"/>
          <p:cNvSpPr txBox="1"/>
          <p:nvPr>
            <p:ph idx="12" type="sldNum"/>
          </p:nvPr>
        </p:nvSpPr>
        <p:spPr>
          <a:xfrm>
            <a:off x="3884760" y="8685360"/>
            <a:ext cx="2970720" cy="4575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3:notes"/>
          <p:cNvSpPr/>
          <p:nvPr>
            <p:ph idx="2" type="sldImg"/>
          </p:nvPr>
        </p:nvSpPr>
        <p:spPr>
          <a:xfrm>
            <a:off x="685800" y="1143000"/>
            <a:ext cx="548532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p13:notes"/>
          <p:cNvSpPr txBox="1"/>
          <p:nvPr>
            <p:ph idx="1" type="body"/>
          </p:nvPr>
        </p:nvSpPr>
        <p:spPr>
          <a:xfrm>
            <a:off x="685800" y="4400640"/>
            <a:ext cx="5485320" cy="359964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162" name="Google Shape;162;p13:notes"/>
          <p:cNvSpPr txBox="1"/>
          <p:nvPr>
            <p:ph idx="12" type="sldNum"/>
          </p:nvPr>
        </p:nvSpPr>
        <p:spPr>
          <a:xfrm>
            <a:off x="3884760" y="8685360"/>
            <a:ext cx="2970720" cy="4575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5:notes"/>
          <p:cNvSpPr/>
          <p:nvPr>
            <p:ph idx="2" type="sldImg"/>
          </p:nvPr>
        </p:nvSpPr>
        <p:spPr>
          <a:xfrm>
            <a:off x="685800" y="1143000"/>
            <a:ext cx="548532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15:notes"/>
          <p:cNvSpPr txBox="1"/>
          <p:nvPr>
            <p:ph idx="1" type="body"/>
          </p:nvPr>
        </p:nvSpPr>
        <p:spPr>
          <a:xfrm>
            <a:off x="685800" y="4400640"/>
            <a:ext cx="5485320" cy="359964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172" name="Google Shape;172;p15:notes"/>
          <p:cNvSpPr txBox="1"/>
          <p:nvPr>
            <p:ph idx="12" type="sldNum"/>
          </p:nvPr>
        </p:nvSpPr>
        <p:spPr>
          <a:xfrm>
            <a:off x="3884760" y="8685360"/>
            <a:ext cx="2970720" cy="4575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6:notes"/>
          <p:cNvSpPr/>
          <p:nvPr>
            <p:ph idx="2" type="sldImg"/>
          </p:nvPr>
        </p:nvSpPr>
        <p:spPr>
          <a:xfrm>
            <a:off x="685800" y="1143000"/>
            <a:ext cx="548532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6:notes"/>
          <p:cNvSpPr txBox="1"/>
          <p:nvPr>
            <p:ph idx="1" type="body"/>
          </p:nvPr>
        </p:nvSpPr>
        <p:spPr>
          <a:xfrm>
            <a:off x="685800" y="4400640"/>
            <a:ext cx="5485320" cy="359964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184" name="Google Shape;184;p6:notes"/>
          <p:cNvSpPr txBox="1"/>
          <p:nvPr>
            <p:ph idx="12" type="sldNum"/>
          </p:nvPr>
        </p:nvSpPr>
        <p:spPr>
          <a:xfrm>
            <a:off x="3884760" y="8685360"/>
            <a:ext cx="2970720" cy="4575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b1faa251c2_1_16:notes"/>
          <p:cNvSpPr/>
          <p:nvPr>
            <p:ph idx="2" type="sldImg"/>
          </p:nvPr>
        </p:nvSpPr>
        <p:spPr>
          <a:xfrm>
            <a:off x="685800" y="1143000"/>
            <a:ext cx="548520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g3b1faa251c2_1_16:notes"/>
          <p:cNvSpPr txBox="1"/>
          <p:nvPr>
            <p:ph idx="1" type="body"/>
          </p:nvPr>
        </p:nvSpPr>
        <p:spPr>
          <a:xfrm>
            <a:off x="685800" y="4400640"/>
            <a:ext cx="5485200" cy="3599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193" name="Google Shape;193;g3b1faa251c2_1_16:notes"/>
          <p:cNvSpPr txBox="1"/>
          <p:nvPr>
            <p:ph idx="12" type="sldNum"/>
          </p:nvPr>
        </p:nvSpPr>
        <p:spPr>
          <a:xfrm>
            <a:off x="3884760" y="8685360"/>
            <a:ext cx="2970600" cy="4575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b1faa251c2_1_26:notes"/>
          <p:cNvSpPr/>
          <p:nvPr>
            <p:ph idx="2" type="sldImg"/>
          </p:nvPr>
        </p:nvSpPr>
        <p:spPr>
          <a:xfrm>
            <a:off x="685800" y="1143000"/>
            <a:ext cx="548520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g3b1faa251c2_1_26:notes"/>
          <p:cNvSpPr txBox="1"/>
          <p:nvPr>
            <p:ph idx="1" type="body"/>
          </p:nvPr>
        </p:nvSpPr>
        <p:spPr>
          <a:xfrm>
            <a:off x="685800" y="4400640"/>
            <a:ext cx="5485200" cy="3599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202" name="Google Shape;202;g3b1faa251c2_1_26:notes"/>
          <p:cNvSpPr txBox="1"/>
          <p:nvPr>
            <p:ph idx="12" type="sldNum"/>
          </p:nvPr>
        </p:nvSpPr>
        <p:spPr>
          <a:xfrm>
            <a:off x="3884760" y="8685360"/>
            <a:ext cx="2970600" cy="4575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b1faa251c2_1_0:notes"/>
          <p:cNvSpPr/>
          <p:nvPr>
            <p:ph idx="2" type="sldImg"/>
          </p:nvPr>
        </p:nvSpPr>
        <p:spPr>
          <a:xfrm>
            <a:off x="685800" y="1143000"/>
            <a:ext cx="548520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g3b1faa251c2_1_0:notes"/>
          <p:cNvSpPr txBox="1"/>
          <p:nvPr>
            <p:ph idx="1" type="body"/>
          </p:nvPr>
        </p:nvSpPr>
        <p:spPr>
          <a:xfrm>
            <a:off x="685800" y="4400640"/>
            <a:ext cx="5485200" cy="3599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211" name="Google Shape;211;g3b1faa251c2_1_0:notes"/>
          <p:cNvSpPr txBox="1"/>
          <p:nvPr>
            <p:ph idx="12" type="sldNum"/>
          </p:nvPr>
        </p:nvSpPr>
        <p:spPr>
          <a:xfrm>
            <a:off x="3884760" y="8685360"/>
            <a:ext cx="2970600" cy="4575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b0ee8aa525_0_0:notes"/>
          <p:cNvSpPr/>
          <p:nvPr>
            <p:ph idx="2" type="sldImg"/>
          </p:nvPr>
        </p:nvSpPr>
        <p:spPr>
          <a:xfrm>
            <a:off x="685800" y="1143000"/>
            <a:ext cx="548520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 name="Google Shape;219;g3b0ee8aa525_0_0:notes"/>
          <p:cNvSpPr txBox="1"/>
          <p:nvPr>
            <p:ph idx="1" type="body"/>
          </p:nvPr>
        </p:nvSpPr>
        <p:spPr>
          <a:xfrm>
            <a:off x="685800" y="4400640"/>
            <a:ext cx="5485200" cy="3599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220" name="Google Shape;220;g3b0ee8aa525_0_0:notes"/>
          <p:cNvSpPr txBox="1"/>
          <p:nvPr>
            <p:ph idx="12" type="sldNum"/>
          </p:nvPr>
        </p:nvSpPr>
        <p:spPr>
          <a:xfrm>
            <a:off x="3884760" y="8685360"/>
            <a:ext cx="2970600" cy="4575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b0ee8aa525_0_8:notes"/>
          <p:cNvSpPr/>
          <p:nvPr>
            <p:ph idx="2" type="sldImg"/>
          </p:nvPr>
        </p:nvSpPr>
        <p:spPr>
          <a:xfrm>
            <a:off x="685800" y="1143000"/>
            <a:ext cx="548520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g3b0ee8aa525_0_8:notes"/>
          <p:cNvSpPr txBox="1"/>
          <p:nvPr>
            <p:ph idx="1" type="body"/>
          </p:nvPr>
        </p:nvSpPr>
        <p:spPr>
          <a:xfrm>
            <a:off x="685800" y="4400640"/>
            <a:ext cx="5485200" cy="3599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229" name="Google Shape;229;g3b0ee8aa525_0_8:notes"/>
          <p:cNvSpPr txBox="1"/>
          <p:nvPr>
            <p:ph idx="12" type="sldNum"/>
          </p:nvPr>
        </p:nvSpPr>
        <p:spPr>
          <a:xfrm>
            <a:off x="3884760" y="8685360"/>
            <a:ext cx="2970600" cy="4575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bfccae9961_0_311: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 name="Google Shape;237;g3bfccae9961_0_311: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it-IT"/>
              <a:t>staccare titolettto matplot lib magari con “tabella”</a:t>
            </a:r>
            <a:endParaRPr/>
          </a:p>
        </p:txBody>
      </p:sp>
      <p:sp>
        <p:nvSpPr>
          <p:cNvPr id="238" name="Google Shape;238;g3bfccae9961_0_311:notes"/>
          <p:cNvSpPr txBox="1"/>
          <p:nvPr>
            <p:ph idx="12" type="sldNum"/>
          </p:nvPr>
        </p:nvSpPr>
        <p:spPr>
          <a:xfrm>
            <a:off x="4278960" y="10157400"/>
            <a:ext cx="3280800" cy="5343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bfccae9961_0_331: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g3bfccae9961_0_331: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59" name="Google Shape;259;g3bfccae9961_0_331:notes"/>
          <p:cNvSpPr txBox="1"/>
          <p:nvPr>
            <p:ph idx="12" type="sldNum"/>
          </p:nvPr>
        </p:nvSpPr>
        <p:spPr>
          <a:xfrm>
            <a:off x="4278960" y="10157400"/>
            <a:ext cx="3280800" cy="5343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bfccae9961_0_351: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g3bfccae9961_0_351: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80" name="Google Shape;280;g3bfccae9961_0_351:notes"/>
          <p:cNvSpPr txBox="1"/>
          <p:nvPr>
            <p:ph idx="12" type="sldNum"/>
          </p:nvPr>
        </p:nvSpPr>
        <p:spPr>
          <a:xfrm>
            <a:off x="4278960" y="10157400"/>
            <a:ext cx="3280800" cy="5343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it-IT"/>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bfccae9961_0_371: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g3bfccae9961_0_371: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01" name="Google Shape;301;g3bfccae9961_0_371:notes"/>
          <p:cNvSpPr txBox="1"/>
          <p:nvPr>
            <p:ph idx="12" type="sldNum"/>
          </p:nvPr>
        </p:nvSpPr>
        <p:spPr>
          <a:xfrm>
            <a:off x="4278960" y="10157400"/>
            <a:ext cx="3280800" cy="5343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bfccae9961_0_504: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 name="Google Shape;321;g3bfccae9961_0_504: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it-IT"/>
              <a:t>staccare titolettto matplot lib magari con “tabella”</a:t>
            </a:r>
            <a:endParaRPr/>
          </a:p>
        </p:txBody>
      </p:sp>
      <p:sp>
        <p:nvSpPr>
          <p:cNvPr id="322" name="Google Shape;322;g3bfccae9961_0_504:notes"/>
          <p:cNvSpPr txBox="1"/>
          <p:nvPr>
            <p:ph idx="12" type="sldNum"/>
          </p:nvPr>
        </p:nvSpPr>
        <p:spPr>
          <a:xfrm>
            <a:off x="4278960" y="10157400"/>
            <a:ext cx="3280800" cy="5343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bfccae9961_0_524: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2" name="Google Shape;332;g3bfccae9961_0_524: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33" name="Google Shape;333;g3bfccae9961_0_524:notes"/>
          <p:cNvSpPr txBox="1"/>
          <p:nvPr>
            <p:ph idx="12" type="sldNum"/>
          </p:nvPr>
        </p:nvSpPr>
        <p:spPr>
          <a:xfrm>
            <a:off x="4278960" y="10157400"/>
            <a:ext cx="3280800" cy="5343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bfccae9961_0_544: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g3bfccae9961_0_544: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44" name="Google Shape;344;g3bfccae9961_0_544:notes"/>
          <p:cNvSpPr txBox="1"/>
          <p:nvPr>
            <p:ph idx="12" type="sldNum"/>
          </p:nvPr>
        </p:nvSpPr>
        <p:spPr>
          <a:xfrm>
            <a:off x="4278960" y="10157400"/>
            <a:ext cx="3280800" cy="5343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it-IT"/>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bfccae9961_0_564: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4" name="Google Shape;354;g3bfccae9961_0_564: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55" name="Google Shape;355;g3bfccae9961_0_564:notes"/>
          <p:cNvSpPr txBox="1"/>
          <p:nvPr>
            <p:ph idx="12" type="sldNum"/>
          </p:nvPr>
        </p:nvSpPr>
        <p:spPr>
          <a:xfrm>
            <a:off x="4278960" y="10157400"/>
            <a:ext cx="3280800" cy="5343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bfccae9961_0_594: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7" name="Google Shape;367;g3bfccae9961_0_594: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it-IT"/>
              <a:t>staccare titolettto matplot lib magari con “tabella”</a:t>
            </a:r>
            <a:endParaRPr/>
          </a:p>
        </p:txBody>
      </p:sp>
      <p:sp>
        <p:nvSpPr>
          <p:cNvPr id="368" name="Google Shape;368;g3bfccae9961_0_594:notes"/>
          <p:cNvSpPr txBox="1"/>
          <p:nvPr>
            <p:ph idx="12" type="sldNum"/>
          </p:nvPr>
        </p:nvSpPr>
        <p:spPr>
          <a:xfrm>
            <a:off x="4278960" y="10157400"/>
            <a:ext cx="3280800" cy="5343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bfccae9961_0_604: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0" name="Google Shape;380;g3bfccae9961_0_604: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81" name="Google Shape;381;g3bfccae9961_0_604:notes"/>
          <p:cNvSpPr txBox="1"/>
          <p:nvPr>
            <p:ph idx="12" type="sldNum"/>
          </p:nvPr>
        </p:nvSpPr>
        <p:spPr>
          <a:xfrm>
            <a:off x="4278960" y="10157400"/>
            <a:ext cx="3280800" cy="5343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bfccae9961_0_614: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3" name="Google Shape;393;g3bfccae9961_0_614: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94" name="Google Shape;394;g3bfccae9961_0_614:notes"/>
          <p:cNvSpPr txBox="1"/>
          <p:nvPr>
            <p:ph idx="12" type="sldNum"/>
          </p:nvPr>
        </p:nvSpPr>
        <p:spPr>
          <a:xfrm>
            <a:off x="4278960" y="10157400"/>
            <a:ext cx="3280800" cy="5343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Times New Roman"/>
              <a:buNone/>
            </a:pPr>
            <a:fld id="{00000000-1234-1234-1234-123412341234}" type="slidenum">
              <a:rPr lang="it-IT"/>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bfccae9961_0_624: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6" name="Google Shape;406;g3bfccae9961_0_624:notes"/>
          <p:cNvSpPr txBox="1"/>
          <p:nvPr>
            <p:ph idx="1" type="body"/>
          </p:nvPr>
        </p:nvSpPr>
        <p:spPr>
          <a:xfrm>
            <a:off x="756000" y="5078520"/>
            <a:ext cx="6047700" cy="48111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07" name="Google Shape;407;g3bfccae9961_0_624:notes"/>
          <p:cNvSpPr txBox="1"/>
          <p:nvPr>
            <p:ph idx="12" type="sldNum"/>
          </p:nvPr>
        </p:nvSpPr>
        <p:spPr>
          <a:xfrm>
            <a:off x="4278960" y="10157400"/>
            <a:ext cx="3280800" cy="5343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lang="it-IT"/>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bfccae9961_0_263: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bfccae9961_0_263: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8" name="Google Shape;418;g3bfccae9961_0_263: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bfccae9961_0_275: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
        <p:nvSpPr>
          <p:cNvPr id="425" name="Google Shape;425;g3bfccae9961_0_275: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6" name="Google Shape;426;g3bfccae9961_0_275: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bfccae9961_0_287: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bfccae9961_0_287: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4" name="Google Shape;434;g3bfccae9961_0_287: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Times New Roman"/>
              <a:buNone/>
            </a:pPr>
            <a:fld id="{00000000-1234-1234-1234-123412341234}" type="slidenum">
              <a:rPr lang="it-IT"/>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bfccae9961_0_299: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bfccae9961_0_299: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42" name="Google Shape;442;g3bfccae9961_0_299: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bfccae9961_0_489: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bfccae9961_0_489: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50" name="Google Shape;450;g3bfccae9961_0_489: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bfccae9961_0_496: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bfccae9961_0_496: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58" name="Google Shape;458;g3bfccae9961_0_496: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bfccae9961_0_0:notes"/>
          <p:cNvSpPr/>
          <p:nvPr>
            <p:ph idx="2" type="sldImg"/>
          </p:nvPr>
        </p:nvSpPr>
        <p:spPr>
          <a:xfrm>
            <a:off x="685800" y="1143000"/>
            <a:ext cx="548520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5" name="Google Shape;465;g3bfccae9961_0_0:notes"/>
          <p:cNvSpPr txBox="1"/>
          <p:nvPr>
            <p:ph idx="1" type="body"/>
          </p:nvPr>
        </p:nvSpPr>
        <p:spPr>
          <a:xfrm>
            <a:off x="685800" y="4400640"/>
            <a:ext cx="5485200" cy="359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466" name="Google Shape;466;g3bfccae9961_0_0:notes"/>
          <p:cNvSpPr txBox="1"/>
          <p:nvPr>
            <p:ph idx="12" type="sldNum"/>
          </p:nvPr>
        </p:nvSpPr>
        <p:spPr>
          <a:xfrm>
            <a:off x="3884760" y="8685360"/>
            <a:ext cx="2970600" cy="4575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bfccae9961_0_99:notes"/>
          <p:cNvSpPr/>
          <p:nvPr>
            <p:ph idx="2" type="sldImg"/>
          </p:nvPr>
        </p:nvSpPr>
        <p:spPr>
          <a:xfrm>
            <a:off x="685800" y="1143000"/>
            <a:ext cx="548520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3" name="Google Shape;473;g3bfccae9961_0_99:notes"/>
          <p:cNvSpPr txBox="1"/>
          <p:nvPr>
            <p:ph idx="1" type="body"/>
          </p:nvPr>
        </p:nvSpPr>
        <p:spPr>
          <a:xfrm>
            <a:off x="685800" y="4400640"/>
            <a:ext cx="5485200" cy="359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474" name="Google Shape;474;g3bfccae9961_0_99:notes"/>
          <p:cNvSpPr txBox="1"/>
          <p:nvPr>
            <p:ph idx="12" type="sldNum"/>
          </p:nvPr>
        </p:nvSpPr>
        <p:spPr>
          <a:xfrm>
            <a:off x="3884760" y="8685360"/>
            <a:ext cx="2970600" cy="4575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bfccae9961_0_107:notes"/>
          <p:cNvSpPr/>
          <p:nvPr>
            <p:ph idx="2" type="sldImg"/>
          </p:nvPr>
        </p:nvSpPr>
        <p:spPr>
          <a:xfrm>
            <a:off x="685800" y="1143000"/>
            <a:ext cx="548520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2" name="Google Shape;482;g3bfccae9961_0_107:notes"/>
          <p:cNvSpPr txBox="1"/>
          <p:nvPr>
            <p:ph idx="1" type="body"/>
          </p:nvPr>
        </p:nvSpPr>
        <p:spPr>
          <a:xfrm>
            <a:off x="685800" y="4400640"/>
            <a:ext cx="5485200" cy="359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483" name="Google Shape;483;g3bfccae9961_0_107:notes"/>
          <p:cNvSpPr txBox="1"/>
          <p:nvPr>
            <p:ph idx="12" type="sldNum"/>
          </p:nvPr>
        </p:nvSpPr>
        <p:spPr>
          <a:xfrm>
            <a:off x="3884760" y="8685360"/>
            <a:ext cx="2970600" cy="4575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bfccae9961_0_115:notes"/>
          <p:cNvSpPr/>
          <p:nvPr>
            <p:ph idx="2" type="sldImg"/>
          </p:nvPr>
        </p:nvSpPr>
        <p:spPr>
          <a:xfrm>
            <a:off x="685800" y="1143000"/>
            <a:ext cx="548520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g3bfccae9961_0_115:notes"/>
          <p:cNvSpPr txBox="1"/>
          <p:nvPr>
            <p:ph idx="1" type="body"/>
          </p:nvPr>
        </p:nvSpPr>
        <p:spPr>
          <a:xfrm>
            <a:off x="685800" y="4400640"/>
            <a:ext cx="5485200" cy="359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492" name="Google Shape;492;g3bfccae9961_0_115:notes"/>
          <p:cNvSpPr txBox="1"/>
          <p:nvPr>
            <p:ph idx="12" type="sldNum"/>
          </p:nvPr>
        </p:nvSpPr>
        <p:spPr>
          <a:xfrm>
            <a:off x="3884760" y="8685360"/>
            <a:ext cx="2970600" cy="4575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bfccae9961_0_123:notes"/>
          <p:cNvSpPr/>
          <p:nvPr>
            <p:ph idx="2" type="sldImg"/>
          </p:nvPr>
        </p:nvSpPr>
        <p:spPr>
          <a:xfrm>
            <a:off x="685800" y="1143000"/>
            <a:ext cx="548520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0" name="Google Shape;500;g3bfccae9961_0_123:notes"/>
          <p:cNvSpPr txBox="1"/>
          <p:nvPr>
            <p:ph idx="1" type="body"/>
          </p:nvPr>
        </p:nvSpPr>
        <p:spPr>
          <a:xfrm>
            <a:off x="685800" y="4400640"/>
            <a:ext cx="5485200" cy="359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501" name="Google Shape;501;g3bfccae9961_0_123:notes"/>
          <p:cNvSpPr txBox="1"/>
          <p:nvPr>
            <p:ph idx="12" type="sldNum"/>
          </p:nvPr>
        </p:nvSpPr>
        <p:spPr>
          <a:xfrm>
            <a:off x="3884760" y="8685360"/>
            <a:ext cx="2970600" cy="4575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bfccae9961_0_131:notes"/>
          <p:cNvSpPr/>
          <p:nvPr>
            <p:ph idx="2" type="sldImg"/>
          </p:nvPr>
        </p:nvSpPr>
        <p:spPr>
          <a:xfrm>
            <a:off x="685800" y="1143000"/>
            <a:ext cx="548520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9" name="Google Shape;509;g3bfccae9961_0_131:notes"/>
          <p:cNvSpPr txBox="1"/>
          <p:nvPr>
            <p:ph idx="1" type="body"/>
          </p:nvPr>
        </p:nvSpPr>
        <p:spPr>
          <a:xfrm>
            <a:off x="685800" y="4400640"/>
            <a:ext cx="5485200" cy="359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510" name="Google Shape;510;g3bfccae9961_0_131:notes"/>
          <p:cNvSpPr txBox="1"/>
          <p:nvPr>
            <p:ph idx="12" type="sldNum"/>
          </p:nvPr>
        </p:nvSpPr>
        <p:spPr>
          <a:xfrm>
            <a:off x="3884760" y="8685360"/>
            <a:ext cx="2970600" cy="4575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bfccae9961_0_139:notes"/>
          <p:cNvSpPr/>
          <p:nvPr>
            <p:ph idx="2" type="sldImg"/>
          </p:nvPr>
        </p:nvSpPr>
        <p:spPr>
          <a:xfrm>
            <a:off x="685800" y="1143000"/>
            <a:ext cx="548520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8" name="Google Shape;518;g3bfccae9961_0_139:notes"/>
          <p:cNvSpPr txBox="1"/>
          <p:nvPr>
            <p:ph idx="1" type="body"/>
          </p:nvPr>
        </p:nvSpPr>
        <p:spPr>
          <a:xfrm>
            <a:off x="685800" y="4400640"/>
            <a:ext cx="5485200" cy="359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519" name="Google Shape;519;g3bfccae9961_0_139:notes"/>
          <p:cNvSpPr txBox="1"/>
          <p:nvPr>
            <p:ph idx="12" type="sldNum"/>
          </p:nvPr>
        </p:nvSpPr>
        <p:spPr>
          <a:xfrm>
            <a:off x="3884760" y="8685360"/>
            <a:ext cx="2970600" cy="4575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bfccae9961_0_147:notes"/>
          <p:cNvSpPr/>
          <p:nvPr>
            <p:ph idx="2" type="sldImg"/>
          </p:nvPr>
        </p:nvSpPr>
        <p:spPr>
          <a:xfrm>
            <a:off x="685800" y="1143000"/>
            <a:ext cx="548520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 name="Google Shape;527;g3bfccae9961_0_147:notes"/>
          <p:cNvSpPr txBox="1"/>
          <p:nvPr>
            <p:ph idx="1" type="body"/>
          </p:nvPr>
        </p:nvSpPr>
        <p:spPr>
          <a:xfrm>
            <a:off x="685800" y="4400640"/>
            <a:ext cx="5485200" cy="359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528" name="Google Shape;528;g3bfccae9961_0_147:notes"/>
          <p:cNvSpPr txBox="1"/>
          <p:nvPr>
            <p:ph idx="12" type="sldNum"/>
          </p:nvPr>
        </p:nvSpPr>
        <p:spPr>
          <a:xfrm>
            <a:off x="3884760" y="8685360"/>
            <a:ext cx="2970600" cy="4575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bfccae9961_0_155:notes"/>
          <p:cNvSpPr/>
          <p:nvPr>
            <p:ph idx="2" type="sldImg"/>
          </p:nvPr>
        </p:nvSpPr>
        <p:spPr>
          <a:xfrm>
            <a:off x="685800" y="1143000"/>
            <a:ext cx="548520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6" name="Google Shape;536;g3bfccae9961_0_155:notes"/>
          <p:cNvSpPr txBox="1"/>
          <p:nvPr>
            <p:ph idx="1" type="body"/>
          </p:nvPr>
        </p:nvSpPr>
        <p:spPr>
          <a:xfrm>
            <a:off x="685800" y="4400640"/>
            <a:ext cx="5485200" cy="359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537" name="Google Shape;537;g3bfccae9961_0_155:notes"/>
          <p:cNvSpPr txBox="1"/>
          <p:nvPr>
            <p:ph idx="12" type="sldNum"/>
          </p:nvPr>
        </p:nvSpPr>
        <p:spPr>
          <a:xfrm>
            <a:off x="3884760" y="8685360"/>
            <a:ext cx="2970600" cy="4575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bfccae9961_0_163:notes"/>
          <p:cNvSpPr/>
          <p:nvPr>
            <p:ph idx="2" type="sldImg"/>
          </p:nvPr>
        </p:nvSpPr>
        <p:spPr>
          <a:xfrm>
            <a:off x="685800" y="1143000"/>
            <a:ext cx="548520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5" name="Google Shape;545;g3bfccae9961_0_163:notes"/>
          <p:cNvSpPr txBox="1"/>
          <p:nvPr>
            <p:ph idx="1" type="body"/>
          </p:nvPr>
        </p:nvSpPr>
        <p:spPr>
          <a:xfrm>
            <a:off x="685800" y="4400640"/>
            <a:ext cx="5485200" cy="3599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546" name="Google Shape;546;g3bfccae9961_0_163:notes"/>
          <p:cNvSpPr txBox="1"/>
          <p:nvPr>
            <p:ph idx="12" type="sldNum"/>
          </p:nvPr>
        </p:nvSpPr>
        <p:spPr>
          <a:xfrm>
            <a:off x="3884760" y="8685360"/>
            <a:ext cx="2970600" cy="4575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ce9a862a02_0_0: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ce9a862a02_0_0: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it-IT"/>
              <a:t>T100_b26_adam_lr0.0001_modelline_vaeTrue_only_magTrue_only_angFalse_daytime20260223-171912</a:t>
            </a:r>
            <a:endParaRPr/>
          </a:p>
        </p:txBody>
      </p:sp>
      <p:sp>
        <p:nvSpPr>
          <p:cNvPr id="555" name="Google Shape;555;g3ce9a862a02_0_0: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cf04a81d9e_0_3:notes"/>
          <p:cNvSpPr/>
          <p:nvPr>
            <p:ph idx="2" type="sldImg"/>
          </p:nvPr>
        </p:nvSpPr>
        <p:spPr>
          <a:xfrm>
            <a:off x="0" y="812520"/>
            <a:ext cx="0" cy="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cf04a81d9e_0_3: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it-IT"/>
              <a:t>T100_b26_adam_lr0.0001_modelline_vaeTrue_only_magTrue_only_angFalse_daytime20260223-171912</a:t>
            </a:r>
            <a:endParaRPr/>
          </a:p>
        </p:txBody>
      </p:sp>
      <p:sp>
        <p:nvSpPr>
          <p:cNvPr id="567" name="Google Shape;567;g3cf04a81d9e_0_3: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b30f477bc2_0_0:notes"/>
          <p:cNvSpPr/>
          <p:nvPr>
            <p:ph idx="2" type="sldImg"/>
          </p:nvPr>
        </p:nvSpPr>
        <p:spPr>
          <a:xfrm>
            <a:off x="685800" y="1143000"/>
            <a:ext cx="548520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9" name="Google Shape;579;g3b30f477bc2_0_0:notes"/>
          <p:cNvSpPr txBox="1"/>
          <p:nvPr>
            <p:ph idx="1" type="body"/>
          </p:nvPr>
        </p:nvSpPr>
        <p:spPr>
          <a:xfrm>
            <a:off x="685800" y="4400640"/>
            <a:ext cx="5485200" cy="3599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580" name="Google Shape;580;g3b30f477bc2_0_0:notes"/>
          <p:cNvSpPr txBox="1"/>
          <p:nvPr>
            <p:ph idx="12" type="sldNum"/>
          </p:nvPr>
        </p:nvSpPr>
        <p:spPr>
          <a:xfrm>
            <a:off x="3884760" y="8685360"/>
            <a:ext cx="2970600" cy="4575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ac9f9fc215_3_38:notes"/>
          <p:cNvSpPr/>
          <p:nvPr>
            <p:ph idx="2" type="sldImg"/>
          </p:nvPr>
        </p:nvSpPr>
        <p:spPr>
          <a:xfrm>
            <a:off x="685800" y="1143000"/>
            <a:ext cx="548520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1" name="Google Shape;591;g3ac9f9fc215_3_38:notes"/>
          <p:cNvSpPr txBox="1"/>
          <p:nvPr>
            <p:ph idx="1" type="body"/>
          </p:nvPr>
        </p:nvSpPr>
        <p:spPr>
          <a:xfrm>
            <a:off x="685800" y="4400640"/>
            <a:ext cx="5485200" cy="3599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592" name="Google Shape;592;g3ac9f9fc215_3_38:notes"/>
          <p:cNvSpPr txBox="1"/>
          <p:nvPr>
            <p:ph idx="12" type="sldNum"/>
          </p:nvPr>
        </p:nvSpPr>
        <p:spPr>
          <a:xfrm>
            <a:off x="3884760" y="8685360"/>
            <a:ext cx="2970600" cy="4575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7:notes"/>
          <p:cNvSpPr/>
          <p:nvPr>
            <p:ph idx="2" type="sldImg"/>
          </p:nvPr>
        </p:nvSpPr>
        <p:spPr>
          <a:xfrm>
            <a:off x="685800" y="1143000"/>
            <a:ext cx="548532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4" name="Google Shape;604;p7:notes"/>
          <p:cNvSpPr txBox="1"/>
          <p:nvPr>
            <p:ph idx="1" type="body"/>
          </p:nvPr>
        </p:nvSpPr>
        <p:spPr>
          <a:xfrm>
            <a:off x="685800" y="4400640"/>
            <a:ext cx="5485320" cy="359964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605" name="Google Shape;605;p7:notes"/>
          <p:cNvSpPr txBox="1"/>
          <p:nvPr>
            <p:ph idx="12" type="sldNum"/>
          </p:nvPr>
        </p:nvSpPr>
        <p:spPr>
          <a:xfrm>
            <a:off x="3884760" y="8685360"/>
            <a:ext cx="2970720" cy="45756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abbfcdf618_0_19:notes"/>
          <p:cNvSpPr/>
          <p:nvPr>
            <p:ph idx="2" type="sldImg"/>
          </p:nvPr>
        </p:nvSpPr>
        <p:spPr>
          <a:xfrm>
            <a:off x="685800" y="1143000"/>
            <a:ext cx="5485200" cy="30852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8" name="Google Shape;618;g3abbfcdf618_0_19:notes"/>
          <p:cNvSpPr txBox="1"/>
          <p:nvPr>
            <p:ph idx="1" type="body"/>
          </p:nvPr>
        </p:nvSpPr>
        <p:spPr>
          <a:xfrm>
            <a:off x="685800" y="4400640"/>
            <a:ext cx="5485200" cy="35997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t/>
            </a:r>
            <a:endParaRPr b="0" sz="1800" u="none" strike="noStrike">
              <a:solidFill>
                <a:srgbClr val="000000"/>
              </a:solidFill>
              <a:latin typeface="Arial"/>
              <a:ea typeface="Arial"/>
              <a:cs typeface="Arial"/>
              <a:sym typeface="Arial"/>
            </a:endParaRPr>
          </a:p>
        </p:txBody>
      </p:sp>
      <p:sp>
        <p:nvSpPr>
          <p:cNvPr id="619" name="Google Shape;619;g3abbfcdf618_0_19:notes"/>
          <p:cNvSpPr txBox="1"/>
          <p:nvPr>
            <p:ph idx="12" type="sldNum"/>
          </p:nvPr>
        </p:nvSpPr>
        <p:spPr>
          <a:xfrm>
            <a:off x="3884760" y="8685360"/>
            <a:ext cx="2970600" cy="4575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it-IT" sz="1400" u="none" cap="none" strike="noStrike">
                <a:solidFill>
                  <a:srgbClr val="000000"/>
                </a:solidFill>
                <a:latin typeface="Arial"/>
                <a:ea typeface="Arial"/>
                <a:cs typeface="Arial"/>
                <a:sym typeface="Arial"/>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bg>
      <p:bgPr>
        <a:solidFill>
          <a:schemeClr val="dk2"/>
        </a:solidFill>
      </p:bgPr>
    </p:bg>
    <p:spTree>
      <p:nvGrpSpPr>
        <p:cNvPr id="10" name="Shape 10"/>
        <p:cNvGrpSpPr/>
        <p:nvPr/>
      </p:nvGrpSpPr>
      <p:grpSpPr>
        <a:xfrm>
          <a:off x="0" y="0"/>
          <a:ext cx="0" cy="0"/>
          <a:chOff x="0" y="0"/>
          <a:chExt cx="0" cy="0"/>
        </a:xfrm>
      </p:grpSpPr>
      <p:pic>
        <p:nvPicPr>
          <p:cNvPr id="11" name="Google Shape;11;p17"/>
          <p:cNvPicPr preferRelativeResize="0"/>
          <p:nvPr/>
        </p:nvPicPr>
        <p:blipFill rotWithShape="1">
          <a:blip r:embed="rId2">
            <a:alphaModFix/>
          </a:blip>
          <a:srcRect b="0" l="0" r="0" t="0"/>
          <a:stretch/>
        </p:blipFill>
        <p:spPr>
          <a:xfrm>
            <a:off x="479520" y="6448680"/>
            <a:ext cx="2099880" cy="362880"/>
          </a:xfrm>
          <a:prstGeom prst="rect">
            <a:avLst/>
          </a:prstGeom>
          <a:noFill/>
          <a:ln>
            <a:noFill/>
          </a:ln>
        </p:spPr>
      </p:pic>
      <p:sp>
        <p:nvSpPr>
          <p:cNvPr id="12" name="Google Shape;12;p17"/>
          <p:cNvSpPr txBox="1"/>
          <p:nvPr>
            <p:ph type="title"/>
          </p:nvPr>
        </p:nvSpPr>
        <p:spPr>
          <a:xfrm>
            <a:off x="1123920" y="1122480"/>
            <a:ext cx="5190120" cy="276264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pic>
        <p:nvPicPr>
          <p:cNvPr id="13" name="Google Shape;13;p17"/>
          <p:cNvPicPr preferRelativeResize="0"/>
          <p:nvPr/>
        </p:nvPicPr>
        <p:blipFill rotWithShape="1">
          <a:blip r:embed="rId3">
            <a:alphaModFix/>
          </a:blip>
          <a:srcRect b="0" l="0" r="0" t="0"/>
          <a:stretch/>
        </p:blipFill>
        <p:spPr>
          <a:xfrm>
            <a:off x="4916880" y="5877360"/>
            <a:ext cx="2795040" cy="766080"/>
          </a:xfrm>
          <a:prstGeom prst="rect">
            <a:avLst/>
          </a:prstGeom>
          <a:noFill/>
          <a:ln>
            <a:noFill/>
          </a:ln>
        </p:spPr>
      </p:pic>
      <p:pic>
        <p:nvPicPr>
          <p:cNvPr descr="A black background with white text&#10;&#10;Description automatically generated" id="14" name="Google Shape;14;p17"/>
          <p:cNvPicPr preferRelativeResize="0"/>
          <p:nvPr/>
        </p:nvPicPr>
        <p:blipFill rotWithShape="1">
          <a:blip r:embed="rId4">
            <a:alphaModFix/>
          </a:blip>
          <a:srcRect b="17334" l="7343" r="6560" t="17272"/>
          <a:stretch/>
        </p:blipFill>
        <p:spPr>
          <a:xfrm>
            <a:off x="1106640" y="5886720"/>
            <a:ext cx="2370600" cy="747000"/>
          </a:xfrm>
          <a:prstGeom prst="rect">
            <a:avLst/>
          </a:prstGeom>
          <a:noFill/>
          <a:ln>
            <a:noFill/>
          </a:ln>
        </p:spPr>
      </p:pic>
      <p:sp>
        <p:nvSpPr>
          <p:cNvPr id="15" name="Google Shape;15;p17"/>
          <p:cNvSpPr/>
          <p:nvPr/>
        </p:nvSpPr>
        <p:spPr>
          <a:xfrm rot="-1512600">
            <a:off x="7459200" y="-772560"/>
            <a:ext cx="884880" cy="8429400"/>
          </a:xfrm>
          <a:prstGeom prst="rect">
            <a:avLst/>
          </a:prstGeom>
          <a:solidFill>
            <a:schemeClr val="lt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6" name="Google Shape;16;p17"/>
          <p:cNvSpPr/>
          <p:nvPr/>
        </p:nvSpPr>
        <p:spPr>
          <a:xfrm rot="-1512600">
            <a:off x="8342280" y="-1881360"/>
            <a:ext cx="5185080" cy="9289440"/>
          </a:xfrm>
          <a:prstGeom prst="rect">
            <a:avLst/>
          </a:prstGeom>
          <a:solidFill>
            <a:schemeClr val="accent4"/>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17" name="Google Shape;17;p17"/>
          <p:cNvSpPr txBox="1"/>
          <p:nvPr>
            <p:ph idx="1" type="body"/>
          </p:nvPr>
        </p:nvSpPr>
        <p:spPr>
          <a:xfrm>
            <a:off x="609480" y="1604520"/>
            <a:ext cx="10971720" cy="39765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_WITH_TEXT" type="twoTxTwoObj">
  <p:cSld name="TWO_OBJECTS_WITH_TEXT">
    <p:bg>
      <p:bgPr>
        <a:solidFill>
          <a:schemeClr val="lt1"/>
        </a:solidFill>
      </p:bgPr>
    </p:bg>
    <p:spTree>
      <p:nvGrpSpPr>
        <p:cNvPr id="18" name="Shape 18"/>
        <p:cNvGrpSpPr/>
        <p:nvPr/>
      </p:nvGrpSpPr>
      <p:grpSpPr>
        <a:xfrm>
          <a:off x="0" y="0"/>
          <a:ext cx="0" cy="0"/>
          <a:chOff x="0" y="0"/>
          <a:chExt cx="0" cy="0"/>
        </a:xfrm>
      </p:grpSpPr>
      <p:sp>
        <p:nvSpPr>
          <p:cNvPr id="19" name="Google Shape;19;p18"/>
          <p:cNvSpPr/>
          <p:nvPr/>
        </p:nvSpPr>
        <p:spPr>
          <a:xfrm>
            <a:off x="0" y="6329880"/>
            <a:ext cx="9037080" cy="527040"/>
          </a:xfrm>
          <a:custGeom>
            <a:rect b="b" l="l" r="r" t="t"/>
            <a:pathLst>
              <a:path extrusionOk="0" h="575187" w="9038317">
                <a:moveTo>
                  <a:pt x="0" y="0"/>
                </a:moveTo>
                <a:lnTo>
                  <a:pt x="8763621" y="0"/>
                </a:lnTo>
                <a:lnTo>
                  <a:pt x="9038317" y="575187"/>
                </a:lnTo>
                <a:lnTo>
                  <a:pt x="0" y="575187"/>
                </a:lnTo>
                <a:lnTo>
                  <a:pt x="0" y="0"/>
                </a:lnTo>
                <a:close/>
              </a:path>
            </a:pathLst>
          </a:custGeom>
          <a:solidFill>
            <a:schemeClr val="accent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pic>
        <p:nvPicPr>
          <p:cNvPr id="20" name="Google Shape;20;p18"/>
          <p:cNvPicPr preferRelativeResize="0"/>
          <p:nvPr/>
        </p:nvPicPr>
        <p:blipFill rotWithShape="1">
          <a:blip r:embed="rId2">
            <a:alphaModFix/>
          </a:blip>
          <a:srcRect b="0" l="0" r="0" t="0"/>
          <a:stretch/>
        </p:blipFill>
        <p:spPr>
          <a:xfrm>
            <a:off x="479520" y="6448680"/>
            <a:ext cx="2099880" cy="362880"/>
          </a:xfrm>
          <a:prstGeom prst="rect">
            <a:avLst/>
          </a:prstGeom>
          <a:noFill/>
          <a:ln>
            <a:noFill/>
          </a:ln>
        </p:spPr>
      </p:pic>
      <p:sp>
        <p:nvSpPr>
          <p:cNvPr id="21" name="Google Shape;21;p18"/>
          <p:cNvSpPr/>
          <p:nvPr/>
        </p:nvSpPr>
        <p:spPr>
          <a:xfrm rot="10800000">
            <a:off x="9697680" y="6330960"/>
            <a:ext cx="2494440" cy="527040"/>
          </a:xfrm>
          <a:custGeom>
            <a:rect b="b" l="l" r="r" t="t"/>
            <a:pathLst>
              <a:path extrusionOk="0" h="575187" w="9038317">
                <a:moveTo>
                  <a:pt x="0" y="0"/>
                </a:moveTo>
                <a:lnTo>
                  <a:pt x="8763621" y="0"/>
                </a:lnTo>
                <a:lnTo>
                  <a:pt x="9038317" y="575187"/>
                </a:lnTo>
                <a:lnTo>
                  <a:pt x="0" y="575187"/>
                </a:lnTo>
                <a:lnTo>
                  <a:pt x="0" y="0"/>
                </a:lnTo>
                <a:close/>
              </a:path>
            </a:pathLst>
          </a:custGeom>
          <a:solidFill>
            <a:schemeClr val="accent4"/>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2" name="Google Shape;22;p18"/>
          <p:cNvSpPr/>
          <p:nvPr/>
        </p:nvSpPr>
        <p:spPr>
          <a:xfrm rot="-1512600">
            <a:off x="8939880" y="6089040"/>
            <a:ext cx="887040" cy="1028880"/>
          </a:xfrm>
          <a:custGeom>
            <a:rect b="b" l="l" r="r" t="t"/>
            <a:pathLst>
              <a:path extrusionOk="0" h="1029830" w="888289">
                <a:moveTo>
                  <a:pt x="1706" y="0"/>
                </a:moveTo>
                <a:lnTo>
                  <a:pt x="888289" y="418745"/>
                </a:lnTo>
                <a:cubicBezTo>
                  <a:pt x="887836" y="696227"/>
                  <a:pt x="883548" y="752348"/>
                  <a:pt x="883095" y="1029830"/>
                </a:cubicBezTo>
                <a:lnTo>
                  <a:pt x="0" y="609435"/>
                </a:lnTo>
                <a:cubicBezTo>
                  <a:pt x="201" y="192372"/>
                  <a:pt x="1505" y="417063"/>
                  <a:pt x="1706" y="0"/>
                </a:cubicBezTo>
                <a:close/>
              </a:path>
            </a:pathLst>
          </a:custGeom>
          <a:solidFill>
            <a:schemeClr val="lt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3" name="Google Shape;23;p18"/>
          <p:cNvSpPr txBox="1"/>
          <p:nvPr>
            <p:ph type="title"/>
          </p:nvPr>
        </p:nvSpPr>
        <p:spPr>
          <a:xfrm>
            <a:off x="839880" y="365040"/>
            <a:ext cx="10514520" cy="132444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4" name="Google Shape;24;p18"/>
          <p:cNvSpPr txBox="1"/>
          <p:nvPr>
            <p:ph idx="1" type="body"/>
          </p:nvPr>
        </p:nvSpPr>
        <p:spPr>
          <a:xfrm>
            <a:off x="839880" y="1681200"/>
            <a:ext cx="5156640" cy="822960"/>
          </a:xfrm>
          <a:prstGeom prst="rect">
            <a:avLst/>
          </a:prstGeom>
          <a:noFill/>
          <a:ln>
            <a:noFill/>
          </a:ln>
        </p:spPr>
        <p:txBody>
          <a:bodyPr anchorCtr="0" anchor="b"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5" name="Google Shape;25;p18"/>
          <p:cNvSpPr txBox="1"/>
          <p:nvPr>
            <p:ph idx="2" type="body"/>
          </p:nvPr>
        </p:nvSpPr>
        <p:spPr>
          <a:xfrm>
            <a:off x="839880" y="2505240"/>
            <a:ext cx="5156640" cy="368352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6" name="Google Shape;26;p18"/>
          <p:cNvSpPr txBox="1"/>
          <p:nvPr>
            <p:ph idx="3" type="body"/>
          </p:nvPr>
        </p:nvSpPr>
        <p:spPr>
          <a:xfrm>
            <a:off x="6172200" y="1681200"/>
            <a:ext cx="5182200" cy="822960"/>
          </a:xfrm>
          <a:prstGeom prst="rect">
            <a:avLst/>
          </a:prstGeom>
          <a:noFill/>
          <a:ln>
            <a:noFill/>
          </a:ln>
        </p:spPr>
        <p:txBody>
          <a:bodyPr anchorCtr="0" anchor="b"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7" name="Google Shape;27;p18"/>
          <p:cNvSpPr txBox="1"/>
          <p:nvPr>
            <p:ph idx="4" type="body"/>
          </p:nvPr>
        </p:nvSpPr>
        <p:spPr>
          <a:xfrm>
            <a:off x="6172200" y="2505240"/>
            <a:ext cx="5182200" cy="368352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8" name="Google Shape;28;p18"/>
          <p:cNvSpPr txBox="1"/>
          <p:nvPr>
            <p:ph idx="10" type="dt"/>
          </p:nvPr>
        </p:nvSpPr>
        <p:spPr>
          <a:xfrm>
            <a:off x="4724280" y="6365520"/>
            <a:ext cx="2742120" cy="36396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9" name="Google Shape;29;p18"/>
          <p:cNvSpPr txBox="1"/>
          <p:nvPr>
            <p:ph idx="12" type="sldNum"/>
          </p:nvPr>
        </p:nvSpPr>
        <p:spPr>
          <a:xfrm>
            <a:off x="8610480" y="6365520"/>
            <a:ext cx="2742120" cy="36396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1pPr>
            <a:lvl2pPr indent="0" lvl="1"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2pPr>
            <a:lvl3pPr indent="0" lvl="2"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3pPr>
            <a:lvl4pPr indent="0" lvl="3"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4pPr>
            <a:lvl5pPr indent="0" lvl="4"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5pPr>
            <a:lvl6pPr indent="0" lvl="5"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6pPr>
            <a:lvl7pPr indent="0" lvl="6"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7pPr>
            <a:lvl8pPr indent="0" lvl="7"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8pPr>
            <a:lvl9pPr indent="0" lvl="8"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it-IT"/>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bg>
      <p:bgPr>
        <a:solidFill>
          <a:schemeClr val="lt1"/>
        </a:solidFill>
      </p:bgPr>
    </p:bg>
    <p:spTree>
      <p:nvGrpSpPr>
        <p:cNvPr id="30" name="Shape 30"/>
        <p:cNvGrpSpPr/>
        <p:nvPr/>
      </p:nvGrpSpPr>
      <p:grpSpPr>
        <a:xfrm>
          <a:off x="0" y="0"/>
          <a:ext cx="0" cy="0"/>
          <a:chOff x="0" y="0"/>
          <a:chExt cx="0" cy="0"/>
        </a:xfrm>
      </p:grpSpPr>
      <p:sp>
        <p:nvSpPr>
          <p:cNvPr id="31" name="Google Shape;31;p19"/>
          <p:cNvSpPr/>
          <p:nvPr/>
        </p:nvSpPr>
        <p:spPr>
          <a:xfrm>
            <a:off x="0" y="6329880"/>
            <a:ext cx="9037080" cy="527040"/>
          </a:xfrm>
          <a:custGeom>
            <a:rect b="b" l="l" r="r" t="t"/>
            <a:pathLst>
              <a:path extrusionOk="0" h="575187" w="9038317">
                <a:moveTo>
                  <a:pt x="0" y="0"/>
                </a:moveTo>
                <a:lnTo>
                  <a:pt x="8763621" y="0"/>
                </a:lnTo>
                <a:lnTo>
                  <a:pt x="9038317" y="575187"/>
                </a:lnTo>
                <a:lnTo>
                  <a:pt x="0" y="575187"/>
                </a:lnTo>
                <a:lnTo>
                  <a:pt x="0" y="0"/>
                </a:lnTo>
                <a:close/>
              </a:path>
            </a:pathLst>
          </a:custGeom>
          <a:solidFill>
            <a:schemeClr val="accent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pic>
        <p:nvPicPr>
          <p:cNvPr id="32" name="Google Shape;32;p19"/>
          <p:cNvPicPr preferRelativeResize="0"/>
          <p:nvPr/>
        </p:nvPicPr>
        <p:blipFill rotWithShape="1">
          <a:blip r:embed="rId2">
            <a:alphaModFix/>
          </a:blip>
          <a:srcRect b="0" l="0" r="0" t="0"/>
          <a:stretch/>
        </p:blipFill>
        <p:spPr>
          <a:xfrm>
            <a:off x="479520" y="6448680"/>
            <a:ext cx="2099880" cy="362880"/>
          </a:xfrm>
          <a:prstGeom prst="rect">
            <a:avLst/>
          </a:prstGeom>
          <a:noFill/>
          <a:ln>
            <a:noFill/>
          </a:ln>
        </p:spPr>
      </p:pic>
      <p:sp>
        <p:nvSpPr>
          <p:cNvPr id="33" name="Google Shape;33;p19"/>
          <p:cNvSpPr/>
          <p:nvPr/>
        </p:nvSpPr>
        <p:spPr>
          <a:xfrm rot="10800000">
            <a:off x="9697680" y="6330960"/>
            <a:ext cx="2494440" cy="527040"/>
          </a:xfrm>
          <a:custGeom>
            <a:rect b="b" l="l" r="r" t="t"/>
            <a:pathLst>
              <a:path extrusionOk="0" h="575187" w="9038317">
                <a:moveTo>
                  <a:pt x="0" y="0"/>
                </a:moveTo>
                <a:lnTo>
                  <a:pt x="8763621" y="0"/>
                </a:lnTo>
                <a:lnTo>
                  <a:pt x="9038317" y="575187"/>
                </a:lnTo>
                <a:lnTo>
                  <a:pt x="0" y="575187"/>
                </a:lnTo>
                <a:lnTo>
                  <a:pt x="0" y="0"/>
                </a:lnTo>
                <a:close/>
              </a:path>
            </a:pathLst>
          </a:custGeom>
          <a:solidFill>
            <a:schemeClr val="accent4"/>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4" name="Google Shape;34;p19"/>
          <p:cNvSpPr/>
          <p:nvPr/>
        </p:nvSpPr>
        <p:spPr>
          <a:xfrm rot="-1512600">
            <a:off x="8939880" y="6089040"/>
            <a:ext cx="887040" cy="1028880"/>
          </a:xfrm>
          <a:custGeom>
            <a:rect b="b" l="l" r="r" t="t"/>
            <a:pathLst>
              <a:path extrusionOk="0" h="1029830" w="888289">
                <a:moveTo>
                  <a:pt x="1706" y="0"/>
                </a:moveTo>
                <a:lnTo>
                  <a:pt x="888289" y="418745"/>
                </a:lnTo>
                <a:cubicBezTo>
                  <a:pt x="887836" y="696227"/>
                  <a:pt x="883548" y="752348"/>
                  <a:pt x="883095" y="1029830"/>
                </a:cubicBezTo>
                <a:lnTo>
                  <a:pt x="0" y="609435"/>
                </a:lnTo>
                <a:cubicBezTo>
                  <a:pt x="201" y="192372"/>
                  <a:pt x="1505" y="417063"/>
                  <a:pt x="1706" y="0"/>
                </a:cubicBezTo>
                <a:close/>
              </a:path>
            </a:pathLst>
          </a:custGeom>
          <a:solidFill>
            <a:schemeClr val="lt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35" name="Google Shape;35;p19"/>
          <p:cNvSpPr txBox="1"/>
          <p:nvPr>
            <p:ph type="title"/>
          </p:nvPr>
        </p:nvSpPr>
        <p:spPr>
          <a:xfrm>
            <a:off x="838080" y="365040"/>
            <a:ext cx="10514520" cy="132444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6" name="Google Shape;36;p19"/>
          <p:cNvSpPr txBox="1"/>
          <p:nvPr>
            <p:ph idx="1" type="body"/>
          </p:nvPr>
        </p:nvSpPr>
        <p:spPr>
          <a:xfrm rot="5400000">
            <a:off x="3921120" y="-1255680"/>
            <a:ext cx="4350240" cy="1051452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37" name="Google Shape;37;p19"/>
          <p:cNvSpPr txBox="1"/>
          <p:nvPr>
            <p:ph idx="10" type="dt"/>
          </p:nvPr>
        </p:nvSpPr>
        <p:spPr>
          <a:xfrm>
            <a:off x="4724280" y="6365520"/>
            <a:ext cx="2742120" cy="36396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38" name="Google Shape;38;p19"/>
          <p:cNvSpPr txBox="1"/>
          <p:nvPr>
            <p:ph idx="12" type="sldNum"/>
          </p:nvPr>
        </p:nvSpPr>
        <p:spPr>
          <a:xfrm>
            <a:off x="8610480" y="6365520"/>
            <a:ext cx="2742120" cy="36396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1pPr>
            <a:lvl2pPr indent="0" lvl="1"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2pPr>
            <a:lvl3pPr indent="0" lvl="2"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3pPr>
            <a:lvl4pPr indent="0" lvl="3"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4pPr>
            <a:lvl5pPr indent="0" lvl="4"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5pPr>
            <a:lvl6pPr indent="0" lvl="5"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6pPr>
            <a:lvl7pPr indent="0" lvl="6"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7pPr>
            <a:lvl8pPr indent="0" lvl="7"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8pPr>
            <a:lvl9pPr indent="0" lvl="8"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it-IT"/>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bg>
      <p:bgPr>
        <a:solidFill>
          <a:schemeClr val="lt1"/>
        </a:solidFill>
      </p:bgPr>
    </p:bg>
    <p:spTree>
      <p:nvGrpSpPr>
        <p:cNvPr id="39" name="Shape 39"/>
        <p:cNvGrpSpPr/>
        <p:nvPr/>
      </p:nvGrpSpPr>
      <p:grpSpPr>
        <a:xfrm>
          <a:off x="0" y="0"/>
          <a:ext cx="0" cy="0"/>
          <a:chOff x="0" y="0"/>
          <a:chExt cx="0" cy="0"/>
        </a:xfrm>
      </p:grpSpPr>
      <p:sp>
        <p:nvSpPr>
          <p:cNvPr id="40" name="Google Shape;40;p20"/>
          <p:cNvSpPr/>
          <p:nvPr/>
        </p:nvSpPr>
        <p:spPr>
          <a:xfrm>
            <a:off x="0" y="6329880"/>
            <a:ext cx="9037080" cy="527040"/>
          </a:xfrm>
          <a:custGeom>
            <a:rect b="b" l="l" r="r" t="t"/>
            <a:pathLst>
              <a:path extrusionOk="0" h="575187" w="9038317">
                <a:moveTo>
                  <a:pt x="0" y="0"/>
                </a:moveTo>
                <a:lnTo>
                  <a:pt x="8763621" y="0"/>
                </a:lnTo>
                <a:lnTo>
                  <a:pt x="9038317" y="575187"/>
                </a:lnTo>
                <a:lnTo>
                  <a:pt x="0" y="575187"/>
                </a:lnTo>
                <a:lnTo>
                  <a:pt x="0" y="0"/>
                </a:lnTo>
                <a:close/>
              </a:path>
            </a:pathLst>
          </a:custGeom>
          <a:solidFill>
            <a:schemeClr val="accent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pic>
        <p:nvPicPr>
          <p:cNvPr id="41" name="Google Shape;41;p20"/>
          <p:cNvPicPr preferRelativeResize="0"/>
          <p:nvPr/>
        </p:nvPicPr>
        <p:blipFill rotWithShape="1">
          <a:blip r:embed="rId2">
            <a:alphaModFix/>
          </a:blip>
          <a:srcRect b="0" l="0" r="0" t="0"/>
          <a:stretch/>
        </p:blipFill>
        <p:spPr>
          <a:xfrm>
            <a:off x="479520" y="6448680"/>
            <a:ext cx="2099880" cy="362880"/>
          </a:xfrm>
          <a:prstGeom prst="rect">
            <a:avLst/>
          </a:prstGeom>
          <a:noFill/>
          <a:ln>
            <a:noFill/>
          </a:ln>
        </p:spPr>
      </p:pic>
      <p:sp>
        <p:nvSpPr>
          <p:cNvPr id="42" name="Google Shape;42;p20"/>
          <p:cNvSpPr/>
          <p:nvPr/>
        </p:nvSpPr>
        <p:spPr>
          <a:xfrm rot="10800000">
            <a:off x="9697680" y="6330960"/>
            <a:ext cx="2494440" cy="527040"/>
          </a:xfrm>
          <a:custGeom>
            <a:rect b="b" l="l" r="r" t="t"/>
            <a:pathLst>
              <a:path extrusionOk="0" h="575187" w="9038317">
                <a:moveTo>
                  <a:pt x="0" y="0"/>
                </a:moveTo>
                <a:lnTo>
                  <a:pt x="8763621" y="0"/>
                </a:lnTo>
                <a:lnTo>
                  <a:pt x="9038317" y="575187"/>
                </a:lnTo>
                <a:lnTo>
                  <a:pt x="0" y="575187"/>
                </a:lnTo>
                <a:lnTo>
                  <a:pt x="0" y="0"/>
                </a:lnTo>
                <a:close/>
              </a:path>
            </a:pathLst>
          </a:custGeom>
          <a:solidFill>
            <a:schemeClr val="accent4"/>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3" name="Google Shape;43;p20"/>
          <p:cNvSpPr/>
          <p:nvPr/>
        </p:nvSpPr>
        <p:spPr>
          <a:xfrm rot="-1512600">
            <a:off x="8939880" y="6089040"/>
            <a:ext cx="887040" cy="1028880"/>
          </a:xfrm>
          <a:custGeom>
            <a:rect b="b" l="l" r="r" t="t"/>
            <a:pathLst>
              <a:path extrusionOk="0" h="1029830" w="888289">
                <a:moveTo>
                  <a:pt x="1706" y="0"/>
                </a:moveTo>
                <a:lnTo>
                  <a:pt x="888289" y="418745"/>
                </a:lnTo>
                <a:cubicBezTo>
                  <a:pt x="887836" y="696227"/>
                  <a:pt x="883548" y="752348"/>
                  <a:pt x="883095" y="1029830"/>
                </a:cubicBezTo>
                <a:lnTo>
                  <a:pt x="0" y="609435"/>
                </a:lnTo>
                <a:cubicBezTo>
                  <a:pt x="201" y="192372"/>
                  <a:pt x="1505" y="417063"/>
                  <a:pt x="1706" y="0"/>
                </a:cubicBezTo>
                <a:close/>
              </a:path>
            </a:pathLst>
          </a:custGeom>
          <a:solidFill>
            <a:schemeClr val="lt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44" name="Google Shape;44;p20"/>
          <p:cNvSpPr txBox="1"/>
          <p:nvPr>
            <p:ph type="title"/>
          </p:nvPr>
        </p:nvSpPr>
        <p:spPr>
          <a:xfrm rot="5400000">
            <a:off x="7134120" y="1956240"/>
            <a:ext cx="5810760" cy="26280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5" name="Google Shape;45;p20"/>
          <p:cNvSpPr txBox="1"/>
          <p:nvPr>
            <p:ph idx="1" type="body"/>
          </p:nvPr>
        </p:nvSpPr>
        <p:spPr>
          <a:xfrm rot="5400000">
            <a:off x="1800720" y="-596160"/>
            <a:ext cx="5810760" cy="773316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46" name="Google Shape;46;p20"/>
          <p:cNvSpPr txBox="1"/>
          <p:nvPr>
            <p:ph idx="10" type="dt"/>
          </p:nvPr>
        </p:nvSpPr>
        <p:spPr>
          <a:xfrm>
            <a:off x="4724280" y="6365520"/>
            <a:ext cx="2742120" cy="36396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7" name="Google Shape;47;p20"/>
          <p:cNvSpPr txBox="1"/>
          <p:nvPr>
            <p:ph idx="12" type="sldNum"/>
          </p:nvPr>
        </p:nvSpPr>
        <p:spPr>
          <a:xfrm>
            <a:off x="8610480" y="6365520"/>
            <a:ext cx="2742120" cy="36396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1pPr>
            <a:lvl2pPr indent="0" lvl="1"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2pPr>
            <a:lvl3pPr indent="0" lvl="2"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3pPr>
            <a:lvl4pPr indent="0" lvl="3"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4pPr>
            <a:lvl5pPr indent="0" lvl="4"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5pPr>
            <a:lvl6pPr indent="0" lvl="5"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6pPr>
            <a:lvl7pPr indent="0" lvl="6"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7pPr>
            <a:lvl8pPr indent="0" lvl="7"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8pPr>
            <a:lvl9pPr indent="0" lvl="8"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it-IT"/>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secHead">
  <p:cSld name="SECTION_HEADER">
    <p:bg>
      <p:bgPr>
        <a:solidFill>
          <a:schemeClr val="lt1"/>
        </a:solidFill>
      </p:bgPr>
    </p:bg>
    <p:spTree>
      <p:nvGrpSpPr>
        <p:cNvPr id="48" name="Shape 48"/>
        <p:cNvGrpSpPr/>
        <p:nvPr/>
      </p:nvGrpSpPr>
      <p:grpSpPr>
        <a:xfrm>
          <a:off x="0" y="0"/>
          <a:ext cx="0" cy="0"/>
          <a:chOff x="0" y="0"/>
          <a:chExt cx="0" cy="0"/>
        </a:xfrm>
      </p:grpSpPr>
      <p:sp>
        <p:nvSpPr>
          <p:cNvPr id="49" name="Google Shape;49;p21"/>
          <p:cNvSpPr/>
          <p:nvPr/>
        </p:nvSpPr>
        <p:spPr>
          <a:xfrm>
            <a:off x="0" y="6329880"/>
            <a:ext cx="9037080" cy="527040"/>
          </a:xfrm>
          <a:custGeom>
            <a:rect b="b" l="l" r="r" t="t"/>
            <a:pathLst>
              <a:path extrusionOk="0" h="575187" w="9038317">
                <a:moveTo>
                  <a:pt x="0" y="0"/>
                </a:moveTo>
                <a:lnTo>
                  <a:pt x="8763621" y="0"/>
                </a:lnTo>
                <a:lnTo>
                  <a:pt x="9038317" y="575187"/>
                </a:lnTo>
                <a:lnTo>
                  <a:pt x="0" y="575187"/>
                </a:lnTo>
                <a:lnTo>
                  <a:pt x="0" y="0"/>
                </a:lnTo>
                <a:close/>
              </a:path>
            </a:pathLst>
          </a:custGeom>
          <a:solidFill>
            <a:schemeClr val="accent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pic>
        <p:nvPicPr>
          <p:cNvPr id="50" name="Google Shape;50;p21"/>
          <p:cNvPicPr preferRelativeResize="0"/>
          <p:nvPr/>
        </p:nvPicPr>
        <p:blipFill rotWithShape="1">
          <a:blip r:embed="rId2">
            <a:alphaModFix/>
          </a:blip>
          <a:srcRect b="0" l="0" r="0" t="0"/>
          <a:stretch/>
        </p:blipFill>
        <p:spPr>
          <a:xfrm>
            <a:off x="479520" y="6448680"/>
            <a:ext cx="2099880" cy="362880"/>
          </a:xfrm>
          <a:prstGeom prst="rect">
            <a:avLst/>
          </a:prstGeom>
          <a:noFill/>
          <a:ln>
            <a:noFill/>
          </a:ln>
        </p:spPr>
      </p:pic>
      <p:sp>
        <p:nvSpPr>
          <p:cNvPr id="51" name="Google Shape;51;p21"/>
          <p:cNvSpPr/>
          <p:nvPr/>
        </p:nvSpPr>
        <p:spPr>
          <a:xfrm rot="10800000">
            <a:off x="9697680" y="6330960"/>
            <a:ext cx="2494440" cy="527040"/>
          </a:xfrm>
          <a:custGeom>
            <a:rect b="b" l="l" r="r" t="t"/>
            <a:pathLst>
              <a:path extrusionOk="0" h="575187" w="9038317">
                <a:moveTo>
                  <a:pt x="0" y="0"/>
                </a:moveTo>
                <a:lnTo>
                  <a:pt x="8763621" y="0"/>
                </a:lnTo>
                <a:lnTo>
                  <a:pt x="9038317" y="575187"/>
                </a:lnTo>
                <a:lnTo>
                  <a:pt x="0" y="575187"/>
                </a:lnTo>
                <a:lnTo>
                  <a:pt x="0" y="0"/>
                </a:lnTo>
                <a:close/>
              </a:path>
            </a:pathLst>
          </a:custGeom>
          <a:solidFill>
            <a:schemeClr val="accent4"/>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52" name="Google Shape;52;p21"/>
          <p:cNvSpPr/>
          <p:nvPr/>
        </p:nvSpPr>
        <p:spPr>
          <a:xfrm rot="-1512600">
            <a:off x="8939880" y="6089040"/>
            <a:ext cx="887040" cy="1028880"/>
          </a:xfrm>
          <a:custGeom>
            <a:rect b="b" l="l" r="r" t="t"/>
            <a:pathLst>
              <a:path extrusionOk="0" h="1029830" w="888289">
                <a:moveTo>
                  <a:pt x="1706" y="0"/>
                </a:moveTo>
                <a:lnTo>
                  <a:pt x="888289" y="418745"/>
                </a:lnTo>
                <a:cubicBezTo>
                  <a:pt x="887836" y="696227"/>
                  <a:pt x="883548" y="752348"/>
                  <a:pt x="883095" y="1029830"/>
                </a:cubicBezTo>
                <a:lnTo>
                  <a:pt x="0" y="609435"/>
                </a:lnTo>
                <a:cubicBezTo>
                  <a:pt x="201" y="192372"/>
                  <a:pt x="1505" y="417063"/>
                  <a:pt x="1706" y="0"/>
                </a:cubicBezTo>
                <a:close/>
              </a:path>
            </a:pathLst>
          </a:custGeom>
          <a:solidFill>
            <a:schemeClr val="lt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53" name="Google Shape;53;p21"/>
          <p:cNvSpPr txBox="1"/>
          <p:nvPr>
            <p:ph type="title"/>
          </p:nvPr>
        </p:nvSpPr>
        <p:spPr>
          <a:xfrm>
            <a:off x="831960" y="1709640"/>
            <a:ext cx="10514520" cy="285156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4" name="Google Shape;54;p21"/>
          <p:cNvSpPr txBox="1"/>
          <p:nvPr>
            <p:ph idx="1" type="body"/>
          </p:nvPr>
        </p:nvSpPr>
        <p:spPr>
          <a:xfrm>
            <a:off x="831960" y="4589640"/>
            <a:ext cx="10514520" cy="149904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5" name="Google Shape;55;p21"/>
          <p:cNvSpPr txBox="1"/>
          <p:nvPr>
            <p:ph idx="10" type="dt"/>
          </p:nvPr>
        </p:nvSpPr>
        <p:spPr>
          <a:xfrm>
            <a:off x="4724280" y="6365520"/>
            <a:ext cx="2742120" cy="36396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6" name="Google Shape;56;p21"/>
          <p:cNvSpPr txBox="1"/>
          <p:nvPr>
            <p:ph idx="12" type="sldNum"/>
          </p:nvPr>
        </p:nvSpPr>
        <p:spPr>
          <a:xfrm>
            <a:off x="8610480" y="6365520"/>
            <a:ext cx="2742120" cy="36396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1pPr>
            <a:lvl2pPr indent="0" lvl="1"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2pPr>
            <a:lvl3pPr indent="0" lvl="2"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3pPr>
            <a:lvl4pPr indent="0" lvl="3"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4pPr>
            <a:lvl5pPr indent="0" lvl="4"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5pPr>
            <a:lvl6pPr indent="0" lvl="5"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6pPr>
            <a:lvl7pPr indent="0" lvl="6"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7pPr>
            <a:lvl8pPr indent="0" lvl="7"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8pPr>
            <a:lvl9pPr indent="0" lvl="8"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it-IT"/>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bg>
      <p:bgPr>
        <a:solidFill>
          <a:schemeClr val="lt1"/>
        </a:solidFill>
      </p:bgPr>
    </p:bg>
    <p:spTree>
      <p:nvGrpSpPr>
        <p:cNvPr id="57" name="Shape 57"/>
        <p:cNvGrpSpPr/>
        <p:nvPr/>
      </p:nvGrpSpPr>
      <p:grpSpPr>
        <a:xfrm>
          <a:off x="0" y="0"/>
          <a:ext cx="0" cy="0"/>
          <a:chOff x="0" y="0"/>
          <a:chExt cx="0" cy="0"/>
        </a:xfrm>
      </p:grpSpPr>
      <p:sp>
        <p:nvSpPr>
          <p:cNvPr id="58" name="Google Shape;58;p22"/>
          <p:cNvSpPr/>
          <p:nvPr/>
        </p:nvSpPr>
        <p:spPr>
          <a:xfrm>
            <a:off x="0" y="6329880"/>
            <a:ext cx="9037080" cy="527040"/>
          </a:xfrm>
          <a:custGeom>
            <a:rect b="b" l="l" r="r" t="t"/>
            <a:pathLst>
              <a:path extrusionOk="0" h="575187" w="9038317">
                <a:moveTo>
                  <a:pt x="0" y="0"/>
                </a:moveTo>
                <a:lnTo>
                  <a:pt x="8763621" y="0"/>
                </a:lnTo>
                <a:lnTo>
                  <a:pt x="9038317" y="575187"/>
                </a:lnTo>
                <a:lnTo>
                  <a:pt x="0" y="575187"/>
                </a:lnTo>
                <a:lnTo>
                  <a:pt x="0" y="0"/>
                </a:lnTo>
                <a:close/>
              </a:path>
            </a:pathLst>
          </a:custGeom>
          <a:solidFill>
            <a:schemeClr val="accent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pic>
        <p:nvPicPr>
          <p:cNvPr id="59" name="Google Shape;59;p22"/>
          <p:cNvPicPr preferRelativeResize="0"/>
          <p:nvPr/>
        </p:nvPicPr>
        <p:blipFill rotWithShape="1">
          <a:blip r:embed="rId2">
            <a:alphaModFix/>
          </a:blip>
          <a:srcRect b="0" l="0" r="0" t="0"/>
          <a:stretch/>
        </p:blipFill>
        <p:spPr>
          <a:xfrm>
            <a:off x="479520" y="6448680"/>
            <a:ext cx="2099880" cy="362880"/>
          </a:xfrm>
          <a:prstGeom prst="rect">
            <a:avLst/>
          </a:prstGeom>
          <a:noFill/>
          <a:ln>
            <a:noFill/>
          </a:ln>
        </p:spPr>
      </p:pic>
      <p:sp>
        <p:nvSpPr>
          <p:cNvPr id="60" name="Google Shape;60;p22"/>
          <p:cNvSpPr/>
          <p:nvPr/>
        </p:nvSpPr>
        <p:spPr>
          <a:xfrm rot="10800000">
            <a:off x="9697680" y="6330960"/>
            <a:ext cx="2494440" cy="527040"/>
          </a:xfrm>
          <a:custGeom>
            <a:rect b="b" l="l" r="r" t="t"/>
            <a:pathLst>
              <a:path extrusionOk="0" h="575187" w="9038317">
                <a:moveTo>
                  <a:pt x="0" y="0"/>
                </a:moveTo>
                <a:lnTo>
                  <a:pt x="8763621" y="0"/>
                </a:lnTo>
                <a:lnTo>
                  <a:pt x="9038317" y="575187"/>
                </a:lnTo>
                <a:lnTo>
                  <a:pt x="0" y="575187"/>
                </a:lnTo>
                <a:lnTo>
                  <a:pt x="0" y="0"/>
                </a:lnTo>
                <a:close/>
              </a:path>
            </a:pathLst>
          </a:custGeom>
          <a:solidFill>
            <a:schemeClr val="accent4"/>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1" name="Google Shape;61;p22"/>
          <p:cNvSpPr/>
          <p:nvPr/>
        </p:nvSpPr>
        <p:spPr>
          <a:xfrm rot="-1512600">
            <a:off x="8939880" y="6089040"/>
            <a:ext cx="887040" cy="1028880"/>
          </a:xfrm>
          <a:custGeom>
            <a:rect b="b" l="l" r="r" t="t"/>
            <a:pathLst>
              <a:path extrusionOk="0" h="1029830" w="888289">
                <a:moveTo>
                  <a:pt x="1706" y="0"/>
                </a:moveTo>
                <a:lnTo>
                  <a:pt x="888289" y="418745"/>
                </a:lnTo>
                <a:cubicBezTo>
                  <a:pt x="887836" y="696227"/>
                  <a:pt x="883548" y="752348"/>
                  <a:pt x="883095" y="1029830"/>
                </a:cubicBezTo>
                <a:lnTo>
                  <a:pt x="0" y="609435"/>
                </a:lnTo>
                <a:cubicBezTo>
                  <a:pt x="201" y="192372"/>
                  <a:pt x="1505" y="417063"/>
                  <a:pt x="1706" y="0"/>
                </a:cubicBezTo>
                <a:close/>
              </a:path>
            </a:pathLst>
          </a:custGeom>
          <a:solidFill>
            <a:schemeClr val="lt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62" name="Google Shape;62;p22"/>
          <p:cNvSpPr txBox="1"/>
          <p:nvPr>
            <p:ph type="title"/>
          </p:nvPr>
        </p:nvSpPr>
        <p:spPr>
          <a:xfrm>
            <a:off x="838080" y="365040"/>
            <a:ext cx="10514520" cy="132444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3" name="Google Shape;63;p22"/>
          <p:cNvSpPr txBox="1"/>
          <p:nvPr>
            <p:ph idx="1" type="body"/>
          </p:nvPr>
        </p:nvSpPr>
        <p:spPr>
          <a:xfrm>
            <a:off x="838080" y="1825560"/>
            <a:ext cx="5180400" cy="435024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64" name="Google Shape;64;p22"/>
          <p:cNvSpPr txBox="1"/>
          <p:nvPr>
            <p:ph idx="2" type="body"/>
          </p:nvPr>
        </p:nvSpPr>
        <p:spPr>
          <a:xfrm>
            <a:off x="6172200" y="1825560"/>
            <a:ext cx="5180400" cy="435024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65" name="Google Shape;65;p22"/>
          <p:cNvSpPr txBox="1"/>
          <p:nvPr>
            <p:ph idx="10" type="dt"/>
          </p:nvPr>
        </p:nvSpPr>
        <p:spPr>
          <a:xfrm>
            <a:off x="4724280" y="6365520"/>
            <a:ext cx="2742120" cy="36396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6" name="Google Shape;66;p22"/>
          <p:cNvSpPr txBox="1"/>
          <p:nvPr>
            <p:ph idx="12" type="sldNum"/>
          </p:nvPr>
        </p:nvSpPr>
        <p:spPr>
          <a:xfrm>
            <a:off x="8610480" y="6365520"/>
            <a:ext cx="2742120" cy="36396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1pPr>
            <a:lvl2pPr indent="0" lvl="1"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2pPr>
            <a:lvl3pPr indent="0" lvl="2"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3pPr>
            <a:lvl4pPr indent="0" lvl="3"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4pPr>
            <a:lvl5pPr indent="0" lvl="4"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5pPr>
            <a:lvl6pPr indent="0" lvl="5"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6pPr>
            <a:lvl7pPr indent="0" lvl="6"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7pPr>
            <a:lvl8pPr indent="0" lvl="7"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8pPr>
            <a:lvl9pPr indent="0" lvl="8"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it-IT"/>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2">
    <p:bg>
      <p:bgPr>
        <a:solidFill>
          <a:schemeClr val="lt1"/>
        </a:solidFill>
      </p:bgPr>
    </p:bg>
    <p:spTree>
      <p:nvGrpSpPr>
        <p:cNvPr id="67" name="Shape 67"/>
        <p:cNvGrpSpPr/>
        <p:nvPr/>
      </p:nvGrpSpPr>
      <p:grpSpPr>
        <a:xfrm>
          <a:off x="0" y="0"/>
          <a:ext cx="0" cy="0"/>
          <a:chOff x="0" y="0"/>
          <a:chExt cx="0" cy="0"/>
        </a:xfrm>
      </p:grpSpPr>
      <p:sp>
        <p:nvSpPr>
          <p:cNvPr id="68" name="Google Shape;68;p23"/>
          <p:cNvSpPr/>
          <p:nvPr/>
        </p:nvSpPr>
        <p:spPr>
          <a:xfrm>
            <a:off x="0" y="6329880"/>
            <a:ext cx="9037080" cy="527040"/>
          </a:xfrm>
          <a:custGeom>
            <a:rect b="b" l="l" r="r" t="t"/>
            <a:pathLst>
              <a:path extrusionOk="0" h="575187" w="9038317">
                <a:moveTo>
                  <a:pt x="0" y="0"/>
                </a:moveTo>
                <a:lnTo>
                  <a:pt x="8763621" y="0"/>
                </a:lnTo>
                <a:lnTo>
                  <a:pt x="9038317" y="575187"/>
                </a:lnTo>
                <a:lnTo>
                  <a:pt x="0" y="575187"/>
                </a:lnTo>
                <a:lnTo>
                  <a:pt x="0" y="0"/>
                </a:lnTo>
                <a:close/>
              </a:path>
            </a:pathLst>
          </a:custGeom>
          <a:solidFill>
            <a:schemeClr val="accent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pic>
        <p:nvPicPr>
          <p:cNvPr id="69" name="Google Shape;69;p23"/>
          <p:cNvPicPr preferRelativeResize="0"/>
          <p:nvPr/>
        </p:nvPicPr>
        <p:blipFill rotWithShape="1">
          <a:blip r:embed="rId2">
            <a:alphaModFix/>
          </a:blip>
          <a:srcRect b="0" l="0" r="0" t="0"/>
          <a:stretch/>
        </p:blipFill>
        <p:spPr>
          <a:xfrm>
            <a:off x="479520" y="6448680"/>
            <a:ext cx="2099880" cy="362880"/>
          </a:xfrm>
          <a:prstGeom prst="rect">
            <a:avLst/>
          </a:prstGeom>
          <a:noFill/>
          <a:ln>
            <a:noFill/>
          </a:ln>
        </p:spPr>
      </p:pic>
      <p:sp>
        <p:nvSpPr>
          <p:cNvPr id="70" name="Google Shape;70;p23"/>
          <p:cNvSpPr/>
          <p:nvPr/>
        </p:nvSpPr>
        <p:spPr>
          <a:xfrm rot="10800000">
            <a:off x="9697680" y="6330960"/>
            <a:ext cx="2494440" cy="527040"/>
          </a:xfrm>
          <a:custGeom>
            <a:rect b="b" l="l" r="r" t="t"/>
            <a:pathLst>
              <a:path extrusionOk="0" h="575187" w="9038317">
                <a:moveTo>
                  <a:pt x="0" y="0"/>
                </a:moveTo>
                <a:lnTo>
                  <a:pt x="8763621" y="0"/>
                </a:lnTo>
                <a:lnTo>
                  <a:pt x="9038317" y="575187"/>
                </a:lnTo>
                <a:lnTo>
                  <a:pt x="0" y="575187"/>
                </a:lnTo>
                <a:lnTo>
                  <a:pt x="0" y="0"/>
                </a:lnTo>
                <a:close/>
              </a:path>
            </a:pathLst>
          </a:custGeom>
          <a:solidFill>
            <a:schemeClr val="accent4"/>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1" name="Google Shape;71;p23"/>
          <p:cNvSpPr/>
          <p:nvPr/>
        </p:nvSpPr>
        <p:spPr>
          <a:xfrm rot="-1512600">
            <a:off x="8939880" y="6089040"/>
            <a:ext cx="887040" cy="1028880"/>
          </a:xfrm>
          <a:custGeom>
            <a:rect b="b" l="l" r="r" t="t"/>
            <a:pathLst>
              <a:path extrusionOk="0" h="1029830" w="888289">
                <a:moveTo>
                  <a:pt x="1706" y="0"/>
                </a:moveTo>
                <a:lnTo>
                  <a:pt x="888289" y="418745"/>
                </a:lnTo>
                <a:cubicBezTo>
                  <a:pt x="887836" y="696227"/>
                  <a:pt x="883548" y="752348"/>
                  <a:pt x="883095" y="1029830"/>
                </a:cubicBezTo>
                <a:lnTo>
                  <a:pt x="0" y="609435"/>
                </a:lnTo>
                <a:cubicBezTo>
                  <a:pt x="201" y="192372"/>
                  <a:pt x="1505" y="417063"/>
                  <a:pt x="1706" y="0"/>
                </a:cubicBezTo>
                <a:close/>
              </a:path>
            </a:pathLst>
          </a:custGeom>
          <a:solidFill>
            <a:schemeClr val="lt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2" name="Google Shape;72;p23"/>
          <p:cNvSpPr txBox="1"/>
          <p:nvPr>
            <p:ph idx="10" type="dt"/>
          </p:nvPr>
        </p:nvSpPr>
        <p:spPr>
          <a:xfrm>
            <a:off x="4724280" y="6365520"/>
            <a:ext cx="2742120" cy="36396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3" name="Google Shape;73;p23"/>
          <p:cNvSpPr txBox="1"/>
          <p:nvPr>
            <p:ph idx="12" type="sldNum"/>
          </p:nvPr>
        </p:nvSpPr>
        <p:spPr>
          <a:xfrm>
            <a:off x="8610480" y="6365520"/>
            <a:ext cx="2742120" cy="36396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1pPr>
            <a:lvl2pPr indent="0" lvl="1"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2pPr>
            <a:lvl3pPr indent="0" lvl="2"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3pPr>
            <a:lvl4pPr indent="0" lvl="3"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4pPr>
            <a:lvl5pPr indent="0" lvl="4"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5pPr>
            <a:lvl6pPr indent="0" lvl="5"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6pPr>
            <a:lvl7pPr indent="0" lvl="6"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7pPr>
            <a:lvl8pPr indent="0" lvl="7"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8pPr>
            <a:lvl9pPr indent="0" lvl="8"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it-IT"/>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objTx">
  <p:cSld name="OBJECT_WITH_CAPTION_TEXT">
    <p:bg>
      <p:bgPr>
        <a:solidFill>
          <a:schemeClr val="lt1"/>
        </a:solidFill>
      </p:bgPr>
    </p:bg>
    <p:spTree>
      <p:nvGrpSpPr>
        <p:cNvPr id="74" name="Shape 74"/>
        <p:cNvGrpSpPr/>
        <p:nvPr/>
      </p:nvGrpSpPr>
      <p:grpSpPr>
        <a:xfrm>
          <a:off x="0" y="0"/>
          <a:ext cx="0" cy="0"/>
          <a:chOff x="0" y="0"/>
          <a:chExt cx="0" cy="0"/>
        </a:xfrm>
      </p:grpSpPr>
      <p:sp>
        <p:nvSpPr>
          <p:cNvPr id="75" name="Google Shape;75;p24"/>
          <p:cNvSpPr/>
          <p:nvPr/>
        </p:nvSpPr>
        <p:spPr>
          <a:xfrm>
            <a:off x="0" y="6329880"/>
            <a:ext cx="9037080" cy="527040"/>
          </a:xfrm>
          <a:custGeom>
            <a:rect b="b" l="l" r="r" t="t"/>
            <a:pathLst>
              <a:path extrusionOk="0" h="575187" w="9038317">
                <a:moveTo>
                  <a:pt x="0" y="0"/>
                </a:moveTo>
                <a:lnTo>
                  <a:pt x="8763621" y="0"/>
                </a:lnTo>
                <a:lnTo>
                  <a:pt x="9038317" y="575187"/>
                </a:lnTo>
                <a:lnTo>
                  <a:pt x="0" y="575187"/>
                </a:lnTo>
                <a:lnTo>
                  <a:pt x="0" y="0"/>
                </a:lnTo>
                <a:close/>
              </a:path>
            </a:pathLst>
          </a:custGeom>
          <a:solidFill>
            <a:schemeClr val="accent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pic>
        <p:nvPicPr>
          <p:cNvPr id="76" name="Google Shape;76;p24"/>
          <p:cNvPicPr preferRelativeResize="0"/>
          <p:nvPr/>
        </p:nvPicPr>
        <p:blipFill rotWithShape="1">
          <a:blip r:embed="rId2">
            <a:alphaModFix/>
          </a:blip>
          <a:srcRect b="0" l="0" r="0" t="0"/>
          <a:stretch/>
        </p:blipFill>
        <p:spPr>
          <a:xfrm>
            <a:off x="479520" y="6448680"/>
            <a:ext cx="2099880" cy="362880"/>
          </a:xfrm>
          <a:prstGeom prst="rect">
            <a:avLst/>
          </a:prstGeom>
          <a:noFill/>
          <a:ln>
            <a:noFill/>
          </a:ln>
        </p:spPr>
      </p:pic>
      <p:sp>
        <p:nvSpPr>
          <p:cNvPr id="77" name="Google Shape;77;p24"/>
          <p:cNvSpPr/>
          <p:nvPr/>
        </p:nvSpPr>
        <p:spPr>
          <a:xfrm rot="10800000">
            <a:off x="9697680" y="6330960"/>
            <a:ext cx="2494440" cy="527040"/>
          </a:xfrm>
          <a:custGeom>
            <a:rect b="b" l="l" r="r" t="t"/>
            <a:pathLst>
              <a:path extrusionOk="0" h="575187" w="9038317">
                <a:moveTo>
                  <a:pt x="0" y="0"/>
                </a:moveTo>
                <a:lnTo>
                  <a:pt x="8763621" y="0"/>
                </a:lnTo>
                <a:lnTo>
                  <a:pt x="9038317" y="575187"/>
                </a:lnTo>
                <a:lnTo>
                  <a:pt x="0" y="575187"/>
                </a:lnTo>
                <a:lnTo>
                  <a:pt x="0" y="0"/>
                </a:lnTo>
                <a:close/>
              </a:path>
            </a:pathLst>
          </a:custGeom>
          <a:solidFill>
            <a:schemeClr val="accent4"/>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8" name="Google Shape;78;p24"/>
          <p:cNvSpPr/>
          <p:nvPr/>
        </p:nvSpPr>
        <p:spPr>
          <a:xfrm rot="-1512600">
            <a:off x="8939880" y="6089040"/>
            <a:ext cx="887040" cy="1028880"/>
          </a:xfrm>
          <a:custGeom>
            <a:rect b="b" l="l" r="r" t="t"/>
            <a:pathLst>
              <a:path extrusionOk="0" h="1029830" w="888289">
                <a:moveTo>
                  <a:pt x="1706" y="0"/>
                </a:moveTo>
                <a:lnTo>
                  <a:pt x="888289" y="418745"/>
                </a:lnTo>
                <a:cubicBezTo>
                  <a:pt x="887836" y="696227"/>
                  <a:pt x="883548" y="752348"/>
                  <a:pt x="883095" y="1029830"/>
                </a:cubicBezTo>
                <a:lnTo>
                  <a:pt x="0" y="609435"/>
                </a:lnTo>
                <a:cubicBezTo>
                  <a:pt x="201" y="192372"/>
                  <a:pt x="1505" y="417063"/>
                  <a:pt x="1706" y="0"/>
                </a:cubicBezTo>
                <a:close/>
              </a:path>
            </a:pathLst>
          </a:custGeom>
          <a:solidFill>
            <a:schemeClr val="lt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79" name="Google Shape;79;p24"/>
          <p:cNvSpPr txBox="1"/>
          <p:nvPr>
            <p:ph type="title"/>
          </p:nvPr>
        </p:nvSpPr>
        <p:spPr>
          <a:xfrm>
            <a:off x="839880" y="457200"/>
            <a:ext cx="3931200" cy="159912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0" name="Google Shape;80;p24"/>
          <p:cNvSpPr txBox="1"/>
          <p:nvPr>
            <p:ph idx="1" type="body"/>
          </p:nvPr>
        </p:nvSpPr>
        <p:spPr>
          <a:xfrm>
            <a:off x="5183280" y="987480"/>
            <a:ext cx="6171120" cy="48726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81" name="Google Shape;81;p24"/>
          <p:cNvSpPr txBox="1"/>
          <p:nvPr>
            <p:ph idx="2" type="body"/>
          </p:nvPr>
        </p:nvSpPr>
        <p:spPr>
          <a:xfrm>
            <a:off x="839880" y="2057400"/>
            <a:ext cx="3931200" cy="38106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82" name="Google Shape;82;p24"/>
          <p:cNvSpPr txBox="1"/>
          <p:nvPr>
            <p:ph idx="10" type="dt"/>
          </p:nvPr>
        </p:nvSpPr>
        <p:spPr>
          <a:xfrm>
            <a:off x="4724280" y="6365520"/>
            <a:ext cx="2742120" cy="36396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3" name="Google Shape;83;p24"/>
          <p:cNvSpPr txBox="1"/>
          <p:nvPr>
            <p:ph idx="12" type="sldNum"/>
          </p:nvPr>
        </p:nvSpPr>
        <p:spPr>
          <a:xfrm>
            <a:off x="8610480" y="6365520"/>
            <a:ext cx="2742120" cy="36396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1pPr>
            <a:lvl2pPr indent="0" lvl="1"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2pPr>
            <a:lvl3pPr indent="0" lvl="2"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3pPr>
            <a:lvl4pPr indent="0" lvl="3"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4pPr>
            <a:lvl5pPr indent="0" lvl="4"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5pPr>
            <a:lvl6pPr indent="0" lvl="5"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6pPr>
            <a:lvl7pPr indent="0" lvl="6"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7pPr>
            <a:lvl8pPr indent="0" lvl="7"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8pPr>
            <a:lvl9pPr indent="0" lvl="8"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it-IT"/>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bg>
      <p:bgPr>
        <a:solidFill>
          <a:schemeClr val="lt1"/>
        </a:solidFill>
      </p:bgPr>
    </p:bg>
    <p:spTree>
      <p:nvGrpSpPr>
        <p:cNvPr id="84" name="Shape 84"/>
        <p:cNvGrpSpPr/>
        <p:nvPr/>
      </p:nvGrpSpPr>
      <p:grpSpPr>
        <a:xfrm>
          <a:off x="0" y="0"/>
          <a:ext cx="0" cy="0"/>
          <a:chOff x="0" y="0"/>
          <a:chExt cx="0" cy="0"/>
        </a:xfrm>
      </p:grpSpPr>
      <p:sp>
        <p:nvSpPr>
          <p:cNvPr id="85" name="Google Shape;85;p25"/>
          <p:cNvSpPr/>
          <p:nvPr/>
        </p:nvSpPr>
        <p:spPr>
          <a:xfrm>
            <a:off x="0" y="6329880"/>
            <a:ext cx="9037080" cy="527040"/>
          </a:xfrm>
          <a:custGeom>
            <a:rect b="b" l="l" r="r" t="t"/>
            <a:pathLst>
              <a:path extrusionOk="0" h="575187" w="9038317">
                <a:moveTo>
                  <a:pt x="0" y="0"/>
                </a:moveTo>
                <a:lnTo>
                  <a:pt x="8763621" y="0"/>
                </a:lnTo>
                <a:lnTo>
                  <a:pt x="9038317" y="575187"/>
                </a:lnTo>
                <a:lnTo>
                  <a:pt x="0" y="575187"/>
                </a:lnTo>
                <a:lnTo>
                  <a:pt x="0" y="0"/>
                </a:lnTo>
                <a:close/>
              </a:path>
            </a:pathLst>
          </a:custGeom>
          <a:solidFill>
            <a:schemeClr val="accent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pic>
        <p:nvPicPr>
          <p:cNvPr id="86" name="Google Shape;86;p25"/>
          <p:cNvPicPr preferRelativeResize="0"/>
          <p:nvPr/>
        </p:nvPicPr>
        <p:blipFill rotWithShape="1">
          <a:blip r:embed="rId2">
            <a:alphaModFix/>
          </a:blip>
          <a:srcRect b="0" l="0" r="0" t="0"/>
          <a:stretch/>
        </p:blipFill>
        <p:spPr>
          <a:xfrm>
            <a:off x="479520" y="6448680"/>
            <a:ext cx="2099880" cy="362880"/>
          </a:xfrm>
          <a:prstGeom prst="rect">
            <a:avLst/>
          </a:prstGeom>
          <a:noFill/>
          <a:ln>
            <a:noFill/>
          </a:ln>
        </p:spPr>
      </p:pic>
      <p:sp>
        <p:nvSpPr>
          <p:cNvPr id="87" name="Google Shape;87;p25"/>
          <p:cNvSpPr/>
          <p:nvPr/>
        </p:nvSpPr>
        <p:spPr>
          <a:xfrm rot="10800000">
            <a:off x="9697680" y="6330960"/>
            <a:ext cx="2494440" cy="527040"/>
          </a:xfrm>
          <a:custGeom>
            <a:rect b="b" l="l" r="r" t="t"/>
            <a:pathLst>
              <a:path extrusionOk="0" h="575187" w="9038317">
                <a:moveTo>
                  <a:pt x="0" y="0"/>
                </a:moveTo>
                <a:lnTo>
                  <a:pt x="8763621" y="0"/>
                </a:lnTo>
                <a:lnTo>
                  <a:pt x="9038317" y="575187"/>
                </a:lnTo>
                <a:lnTo>
                  <a:pt x="0" y="575187"/>
                </a:lnTo>
                <a:lnTo>
                  <a:pt x="0" y="0"/>
                </a:lnTo>
                <a:close/>
              </a:path>
            </a:pathLst>
          </a:custGeom>
          <a:solidFill>
            <a:schemeClr val="accent4"/>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8" name="Google Shape;88;p25"/>
          <p:cNvSpPr/>
          <p:nvPr/>
        </p:nvSpPr>
        <p:spPr>
          <a:xfrm rot="-1512600">
            <a:off x="8939880" y="6089040"/>
            <a:ext cx="887040" cy="1028880"/>
          </a:xfrm>
          <a:custGeom>
            <a:rect b="b" l="l" r="r" t="t"/>
            <a:pathLst>
              <a:path extrusionOk="0" h="1029830" w="888289">
                <a:moveTo>
                  <a:pt x="1706" y="0"/>
                </a:moveTo>
                <a:lnTo>
                  <a:pt x="888289" y="418745"/>
                </a:lnTo>
                <a:cubicBezTo>
                  <a:pt x="887836" y="696227"/>
                  <a:pt x="883548" y="752348"/>
                  <a:pt x="883095" y="1029830"/>
                </a:cubicBezTo>
                <a:lnTo>
                  <a:pt x="0" y="609435"/>
                </a:lnTo>
                <a:cubicBezTo>
                  <a:pt x="201" y="192372"/>
                  <a:pt x="1505" y="417063"/>
                  <a:pt x="1706" y="0"/>
                </a:cubicBezTo>
                <a:close/>
              </a:path>
            </a:pathLst>
          </a:custGeom>
          <a:solidFill>
            <a:schemeClr val="lt1"/>
          </a:solid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89" name="Google Shape;89;p25"/>
          <p:cNvSpPr txBox="1"/>
          <p:nvPr>
            <p:ph type="title"/>
          </p:nvPr>
        </p:nvSpPr>
        <p:spPr>
          <a:xfrm>
            <a:off x="839880" y="457200"/>
            <a:ext cx="3931200" cy="1599120"/>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0" name="Google Shape;90;p25"/>
          <p:cNvSpPr txBox="1"/>
          <p:nvPr>
            <p:ph idx="1" type="body"/>
          </p:nvPr>
        </p:nvSpPr>
        <p:spPr>
          <a:xfrm>
            <a:off x="5183280" y="987480"/>
            <a:ext cx="6171120" cy="4872600"/>
          </a:xfrm>
          <a:prstGeom prst="rect">
            <a:avLst/>
          </a:prstGeom>
          <a:noFill/>
          <a:ln>
            <a:noFill/>
          </a:ln>
        </p:spPr>
        <p:txBody>
          <a:bodyPr anchorCtr="0" anchor="t" bIns="45000" lIns="90000" spcFirstLastPara="1" rIns="90000" wrap="square" tIns="450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91" name="Google Shape;91;p25"/>
          <p:cNvSpPr txBox="1"/>
          <p:nvPr>
            <p:ph idx="2" type="body"/>
          </p:nvPr>
        </p:nvSpPr>
        <p:spPr>
          <a:xfrm>
            <a:off x="839880" y="2057400"/>
            <a:ext cx="3931200" cy="38106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92" name="Google Shape;92;p25"/>
          <p:cNvSpPr txBox="1"/>
          <p:nvPr>
            <p:ph idx="10" type="dt"/>
          </p:nvPr>
        </p:nvSpPr>
        <p:spPr>
          <a:xfrm>
            <a:off x="4724280" y="6365520"/>
            <a:ext cx="2742120" cy="36396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Times New Roman"/>
              <a:buNone/>
              <a:defRPr b="0" i="0" sz="1400" u="none" cap="none" strike="noStrike">
                <a:solidFill>
                  <a:srgbClr val="000000"/>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93" name="Google Shape;93;p25"/>
          <p:cNvSpPr txBox="1"/>
          <p:nvPr>
            <p:ph idx="12" type="sldNum"/>
          </p:nvPr>
        </p:nvSpPr>
        <p:spPr>
          <a:xfrm>
            <a:off x="8610480" y="6365520"/>
            <a:ext cx="2742120" cy="36396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1pPr>
            <a:lvl2pPr indent="0" lvl="1"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2pPr>
            <a:lvl3pPr indent="0" lvl="2"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3pPr>
            <a:lvl4pPr indent="0" lvl="3"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4pPr>
            <a:lvl5pPr indent="0" lvl="4"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5pPr>
            <a:lvl6pPr indent="0" lvl="5"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6pPr>
            <a:lvl7pPr indent="0" lvl="6"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7pPr>
            <a:lvl8pPr indent="0" lvl="7"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8pPr>
            <a:lvl9pPr indent="0" lvl="8" marL="0" marR="0" rtl="0" algn="r">
              <a:lnSpc>
                <a:spcPct val="100000"/>
              </a:lnSpc>
              <a:spcBef>
                <a:spcPts val="0"/>
              </a:spcBef>
              <a:buClr>
                <a:srgbClr val="888888"/>
              </a:buClr>
              <a:buSzPts val="1200"/>
              <a:buFont typeface="Century Gothic"/>
              <a:buNone/>
              <a:defRPr b="0" i="0" sz="1200" u="none" cap="none" strike="noStrike">
                <a:solidFill>
                  <a:srgbClr val="888888"/>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it-IT"/>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showMasterSp="0">
  <p:cSld name="Title Slide">
    <p:bg>
      <p:bgPr>
        <a:solidFill>
          <a:schemeClr val="dk2"/>
        </a:solidFill>
      </p:bgPr>
    </p:bg>
    <p:spTree>
      <p:nvGrpSpPr>
        <p:cNvPr id="94" name="Shape 94"/>
        <p:cNvGrpSpPr/>
        <p:nvPr/>
      </p:nvGrpSpPr>
      <p:grpSpPr>
        <a:xfrm>
          <a:off x="0" y="0"/>
          <a:ext cx="0" cy="0"/>
          <a:chOff x="0" y="0"/>
          <a:chExt cx="0" cy="0"/>
        </a:xfrm>
      </p:grpSpPr>
      <p:sp>
        <p:nvSpPr>
          <p:cNvPr id="95" name="Google Shape;95;g3abbfcdf618_4_71"/>
          <p:cNvSpPr txBox="1"/>
          <p:nvPr>
            <p:ph type="ctrTitle"/>
          </p:nvPr>
        </p:nvSpPr>
        <p:spPr>
          <a:xfrm>
            <a:off x="1123950" y="1122362"/>
            <a:ext cx="5191200" cy="27639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Century Gothic"/>
              <a:buNone/>
              <a:defRPr sz="6000">
                <a:solidFill>
                  <a:schemeClr val="lt1"/>
                </a:solidFill>
              </a:defRPr>
            </a:lvl1pPr>
            <a:lvl2pPr lvl="1" algn="l">
              <a:lnSpc>
                <a:spcPct val="100000"/>
              </a:lnSpc>
              <a:spcBef>
                <a:spcPts val="0"/>
              </a:spcBef>
              <a:spcAft>
                <a:spcPts val="0"/>
              </a:spcAft>
              <a:buSzPts val="1500"/>
              <a:buNone/>
              <a:defRPr sz="1900"/>
            </a:lvl2pPr>
            <a:lvl3pPr lvl="2" algn="l">
              <a:lnSpc>
                <a:spcPct val="100000"/>
              </a:lnSpc>
              <a:spcBef>
                <a:spcPts val="0"/>
              </a:spcBef>
              <a:spcAft>
                <a:spcPts val="0"/>
              </a:spcAft>
              <a:buSzPts val="1500"/>
              <a:buNone/>
              <a:defRPr sz="1900"/>
            </a:lvl3pPr>
            <a:lvl4pPr lvl="3" algn="l">
              <a:lnSpc>
                <a:spcPct val="100000"/>
              </a:lnSpc>
              <a:spcBef>
                <a:spcPts val="0"/>
              </a:spcBef>
              <a:spcAft>
                <a:spcPts val="0"/>
              </a:spcAft>
              <a:buSzPts val="1500"/>
              <a:buNone/>
              <a:defRPr sz="1900"/>
            </a:lvl4pPr>
            <a:lvl5pPr lvl="4" algn="l">
              <a:lnSpc>
                <a:spcPct val="100000"/>
              </a:lnSpc>
              <a:spcBef>
                <a:spcPts val="0"/>
              </a:spcBef>
              <a:spcAft>
                <a:spcPts val="0"/>
              </a:spcAft>
              <a:buSzPts val="1500"/>
              <a:buNone/>
              <a:defRPr sz="1900"/>
            </a:lvl5pPr>
            <a:lvl6pPr lvl="5" algn="l">
              <a:lnSpc>
                <a:spcPct val="100000"/>
              </a:lnSpc>
              <a:spcBef>
                <a:spcPts val="0"/>
              </a:spcBef>
              <a:spcAft>
                <a:spcPts val="0"/>
              </a:spcAft>
              <a:buSzPts val="1500"/>
              <a:buNone/>
              <a:defRPr sz="1900"/>
            </a:lvl6pPr>
            <a:lvl7pPr lvl="6" algn="l">
              <a:lnSpc>
                <a:spcPct val="100000"/>
              </a:lnSpc>
              <a:spcBef>
                <a:spcPts val="0"/>
              </a:spcBef>
              <a:spcAft>
                <a:spcPts val="0"/>
              </a:spcAft>
              <a:buSzPts val="1500"/>
              <a:buNone/>
              <a:defRPr sz="1900"/>
            </a:lvl7pPr>
            <a:lvl8pPr lvl="7" algn="l">
              <a:lnSpc>
                <a:spcPct val="100000"/>
              </a:lnSpc>
              <a:spcBef>
                <a:spcPts val="0"/>
              </a:spcBef>
              <a:spcAft>
                <a:spcPts val="0"/>
              </a:spcAft>
              <a:buSzPts val="1500"/>
              <a:buNone/>
              <a:defRPr sz="1900"/>
            </a:lvl8pPr>
            <a:lvl9pPr lvl="8" algn="l">
              <a:lnSpc>
                <a:spcPct val="100000"/>
              </a:lnSpc>
              <a:spcBef>
                <a:spcPts val="0"/>
              </a:spcBef>
              <a:spcAft>
                <a:spcPts val="0"/>
              </a:spcAft>
              <a:buSzPts val="1500"/>
              <a:buNone/>
              <a:defRPr sz="1900"/>
            </a:lvl9pPr>
          </a:lstStyle>
          <a:p/>
        </p:txBody>
      </p:sp>
      <p:sp>
        <p:nvSpPr>
          <p:cNvPr id="96" name="Google Shape;96;g3abbfcdf618_4_71"/>
          <p:cNvSpPr txBox="1"/>
          <p:nvPr>
            <p:ph idx="1" type="subTitle"/>
          </p:nvPr>
        </p:nvSpPr>
        <p:spPr>
          <a:xfrm>
            <a:off x="1123950" y="3952874"/>
            <a:ext cx="5191200" cy="13047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1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900"/>
              <a:buNone/>
              <a:defRPr sz="19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97" name="Google Shape;97;g3abbfcdf618_4_71"/>
          <p:cNvPicPr preferRelativeResize="0"/>
          <p:nvPr/>
        </p:nvPicPr>
        <p:blipFill rotWithShape="1">
          <a:blip r:embed="rId2">
            <a:alphaModFix/>
          </a:blip>
          <a:srcRect b="0" l="0" r="0" t="0"/>
          <a:stretch/>
        </p:blipFill>
        <p:spPr>
          <a:xfrm>
            <a:off x="4916994" y="5877290"/>
            <a:ext cx="2796160" cy="767284"/>
          </a:xfrm>
          <a:prstGeom prst="rect">
            <a:avLst/>
          </a:prstGeom>
          <a:noFill/>
          <a:ln>
            <a:noFill/>
          </a:ln>
        </p:spPr>
      </p:pic>
      <p:pic>
        <p:nvPicPr>
          <p:cNvPr descr="A black background with white text&#10;&#10;Description automatically generated" id="98" name="Google Shape;98;g3abbfcdf618_4_71"/>
          <p:cNvPicPr preferRelativeResize="0"/>
          <p:nvPr/>
        </p:nvPicPr>
        <p:blipFill rotWithShape="1">
          <a:blip r:embed="rId3">
            <a:alphaModFix/>
          </a:blip>
          <a:srcRect b="17340" l="7344" r="6560" t="17275"/>
          <a:stretch/>
        </p:blipFill>
        <p:spPr>
          <a:xfrm>
            <a:off x="1106620" y="5886809"/>
            <a:ext cx="2371725" cy="748249"/>
          </a:xfrm>
          <a:prstGeom prst="rect">
            <a:avLst/>
          </a:prstGeom>
          <a:noFill/>
          <a:ln>
            <a:noFill/>
          </a:ln>
        </p:spPr>
      </p:pic>
      <p:sp>
        <p:nvSpPr>
          <p:cNvPr id="99" name="Google Shape;99;g3abbfcdf618_4_71"/>
          <p:cNvSpPr/>
          <p:nvPr/>
        </p:nvSpPr>
        <p:spPr>
          <a:xfrm rot="-1511634">
            <a:off x="7459995" y="-773007"/>
            <a:ext cx="885871" cy="843028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Century Gothic"/>
              <a:ea typeface="Century Gothic"/>
              <a:cs typeface="Century Gothic"/>
              <a:sym typeface="Century Gothic"/>
            </a:endParaRPr>
          </a:p>
        </p:txBody>
      </p:sp>
      <p:sp>
        <p:nvSpPr>
          <p:cNvPr id="100" name="Google Shape;100;g3abbfcdf618_4_71"/>
          <p:cNvSpPr/>
          <p:nvPr/>
        </p:nvSpPr>
        <p:spPr>
          <a:xfrm rot="-1512523">
            <a:off x="8343096" y="-1882243"/>
            <a:ext cx="5186224" cy="929065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900"/>
              <a:buFont typeface="Arial"/>
              <a:buNone/>
            </a:pPr>
            <a:r>
              <a:t/>
            </a:r>
            <a:endParaRPr b="0" i="0" sz="1900" u="none" cap="none" strike="noStrike">
              <a:solidFill>
                <a:schemeClr val="lt1"/>
              </a:solidFill>
              <a:latin typeface="Century Gothic"/>
              <a:ea typeface="Century Gothic"/>
              <a:cs typeface="Century Gothic"/>
              <a:sym typeface="Century Gothic"/>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comments" Target="../comments/comment1.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comments" Target="../comments/comment2.xml"/><Relationship Id="rId4" Type="http://schemas.openxmlformats.org/officeDocument/2006/relationships/image" Target="../media/image31.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0.png"/><Relationship Id="rId4" Type="http://schemas.openxmlformats.org/officeDocument/2006/relationships/image" Target="../media/image13.png"/><Relationship Id="rId5" Type="http://schemas.openxmlformats.org/officeDocument/2006/relationships/image" Target="../media/image39.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1.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comments" Target="../comments/commen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12.png"/><Relationship Id="rId5" Type="http://schemas.openxmlformats.org/officeDocument/2006/relationships/image" Target="../media/image10.png"/><Relationship Id="rId6"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9.png"/><Relationship Id="rId4" Type="http://schemas.openxmlformats.org/officeDocument/2006/relationships/image" Target="../media/image21.png"/><Relationship Id="rId5" Type="http://schemas.openxmlformats.org/officeDocument/2006/relationships/image" Target="../media/image17.png"/><Relationship Id="rId6"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9.png"/><Relationship Id="rId4" Type="http://schemas.openxmlformats.org/officeDocument/2006/relationships/image" Target="../media/image32.png"/><Relationship Id="rId5" Type="http://schemas.openxmlformats.org/officeDocument/2006/relationships/image" Target="../media/image25.png"/><Relationship Id="rId6" Type="http://schemas.openxmlformats.org/officeDocument/2006/relationships/image" Target="../media/image30.png"/><Relationship Id="rId7"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7.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6.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3.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2.png"/><Relationship Id="rId4" Type="http://schemas.openxmlformats.org/officeDocument/2006/relationships/image" Target="../media/image55.png"/><Relationship Id="rId5" Type="http://schemas.openxmlformats.org/officeDocument/2006/relationships/image" Target="../media/image46.png"/><Relationship Id="rId6" Type="http://schemas.openxmlformats.org/officeDocument/2006/relationships/image" Target="../media/image4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2.png"/><Relationship Id="rId4" Type="http://schemas.openxmlformats.org/officeDocument/2006/relationships/image" Target="../media/image58.png"/><Relationship Id="rId5" Type="http://schemas.openxmlformats.org/officeDocument/2006/relationships/image" Target="../media/image62.png"/><Relationship Id="rId6" Type="http://schemas.openxmlformats.org/officeDocument/2006/relationships/image" Target="../media/image4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4.png"/><Relationship Id="rId4" Type="http://schemas.openxmlformats.org/officeDocument/2006/relationships/image" Target="../media/image57.png"/><Relationship Id="rId5" Type="http://schemas.openxmlformats.org/officeDocument/2006/relationships/image" Target="../media/image56.png"/><Relationship Id="rId6" Type="http://schemas.openxmlformats.org/officeDocument/2006/relationships/image" Target="../media/image4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5.png"/><Relationship Id="rId4" Type="http://schemas.openxmlformats.org/officeDocument/2006/relationships/image" Target="../media/image63.png"/><Relationship Id="rId5" Type="http://schemas.openxmlformats.org/officeDocument/2006/relationships/image" Target="../media/image50.png"/><Relationship Id="rId6" Type="http://schemas.openxmlformats.org/officeDocument/2006/relationships/image" Target="../media/image4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7.png"/><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7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6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6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6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54.png"/><Relationship Id="rId4" Type="http://schemas.openxmlformats.org/officeDocument/2006/relationships/image" Target="../media/image5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69.png"/><Relationship Id="rId4" Type="http://schemas.openxmlformats.org/officeDocument/2006/relationships/image" Target="../media/image7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73.png"/><Relationship Id="rId4" Type="http://schemas.openxmlformats.org/officeDocument/2006/relationships/image" Target="../media/image7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61.png"/><Relationship Id="rId4" Type="http://schemas.openxmlformats.org/officeDocument/2006/relationships/image" Target="../media/image6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comments" Target="../comments/comment4.xml"/><Relationship Id="rId4" Type="http://schemas.openxmlformats.org/officeDocument/2006/relationships/image" Target="../media/image74.png"/><Relationship Id="rId5" Type="http://schemas.openxmlformats.org/officeDocument/2006/relationships/image" Target="../media/image6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74.png"/><Relationship Id="rId4"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g3abbfcdf618_4_0"/>
          <p:cNvSpPr txBox="1"/>
          <p:nvPr>
            <p:ph type="ctrTitle"/>
          </p:nvPr>
        </p:nvSpPr>
        <p:spPr>
          <a:xfrm>
            <a:off x="1123950" y="1122362"/>
            <a:ext cx="5191200" cy="27639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6000"/>
              <a:buFont typeface="Century Gothic"/>
              <a:buNone/>
            </a:pPr>
            <a:r>
              <a:rPr b="1" lang="it-IT">
                <a:latin typeface="Century Gothic"/>
                <a:ea typeface="Century Gothic"/>
                <a:cs typeface="Century Gothic"/>
                <a:sym typeface="Century Gothic"/>
              </a:rPr>
              <a:t>On-Board RFI detection</a:t>
            </a:r>
            <a:endParaRPr/>
          </a:p>
        </p:txBody>
      </p:sp>
      <p:sp>
        <p:nvSpPr>
          <p:cNvPr id="107" name="Google Shape;107;g3abbfcdf618_4_0"/>
          <p:cNvSpPr txBox="1"/>
          <p:nvPr>
            <p:ph idx="1" type="subTitle"/>
          </p:nvPr>
        </p:nvSpPr>
        <p:spPr>
          <a:xfrm>
            <a:off x="1123950" y="3952874"/>
            <a:ext cx="6323100" cy="1304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1"/>
              </a:buClr>
              <a:buSzPts val="2400"/>
              <a:buNone/>
            </a:pPr>
            <a:r>
              <a:rPr lang="it-IT">
                <a:latin typeface="Century Gothic"/>
                <a:ea typeface="Century Gothic"/>
                <a:cs typeface="Century Gothic"/>
                <a:sym typeface="Century Gothic"/>
              </a:rPr>
              <a:t>Paolo Renzi 1887793</a:t>
            </a:r>
            <a:endParaRPr/>
          </a:p>
        </p:txBody>
      </p:sp>
      <p:pic>
        <p:nvPicPr>
          <p:cNvPr id="108" name="Google Shape;108;g3abbfcdf618_4_0"/>
          <p:cNvPicPr preferRelativeResize="0"/>
          <p:nvPr/>
        </p:nvPicPr>
        <p:blipFill rotWithShape="1">
          <a:blip r:embed="rId3">
            <a:alphaModFix/>
          </a:blip>
          <a:srcRect b="0" l="0" r="0" t="0"/>
          <a:stretch/>
        </p:blipFill>
        <p:spPr>
          <a:xfrm>
            <a:off x="8790214" y="1638299"/>
            <a:ext cx="3363686" cy="336368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
          <p:cNvSpPr txBox="1"/>
          <p:nvPr>
            <p:ph type="title"/>
          </p:nvPr>
        </p:nvSpPr>
        <p:spPr>
          <a:xfrm>
            <a:off x="146880" y="160200"/>
            <a:ext cx="11852640" cy="76248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accent1"/>
              </a:buClr>
              <a:buSzPts val="4400"/>
              <a:buFont typeface="Century Gothic"/>
              <a:buNone/>
            </a:pPr>
            <a:r>
              <a:rPr b="1" lang="it-IT" sz="4400" u="none" strike="noStrike">
                <a:solidFill>
                  <a:schemeClr val="accent1"/>
                </a:solidFill>
                <a:latin typeface="Century Gothic"/>
                <a:ea typeface="Century Gothic"/>
                <a:cs typeface="Century Gothic"/>
                <a:sym typeface="Century Gothic"/>
              </a:rPr>
              <a:t>Background</a:t>
            </a:r>
            <a:endParaRPr b="0" sz="4400" u="none" strike="noStrike">
              <a:solidFill>
                <a:srgbClr val="000000"/>
              </a:solidFill>
              <a:latin typeface="Arial"/>
              <a:ea typeface="Arial"/>
              <a:cs typeface="Arial"/>
              <a:sym typeface="Arial"/>
            </a:endParaRPr>
          </a:p>
        </p:txBody>
      </p:sp>
      <p:sp>
        <p:nvSpPr>
          <p:cNvPr id="115" name="Google Shape;115;p2"/>
          <p:cNvSpPr/>
          <p:nvPr/>
        </p:nvSpPr>
        <p:spPr>
          <a:xfrm>
            <a:off x="290880" y="923760"/>
            <a:ext cx="11275920" cy="57924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None/>
            </a:pPr>
            <a:r>
              <a:rPr b="1" i="0" lang="it-IT" sz="2700" u="none" cap="none" strike="noStrike">
                <a:solidFill>
                  <a:schemeClr val="accent3"/>
                </a:solidFill>
                <a:latin typeface="Century Gothic"/>
                <a:ea typeface="Century Gothic"/>
                <a:cs typeface="Century Gothic"/>
                <a:sym typeface="Century Gothic"/>
              </a:rPr>
              <a:t>Radio Frequency Interference (RFI)</a:t>
            </a:r>
            <a:endParaRPr b="0" i="0" sz="2700" u="none" cap="none" strike="noStrike">
              <a:solidFill>
                <a:srgbClr val="000000"/>
              </a:solidFill>
              <a:latin typeface="Arial"/>
              <a:ea typeface="Arial"/>
              <a:cs typeface="Arial"/>
              <a:sym typeface="Arial"/>
            </a:endParaRPr>
          </a:p>
        </p:txBody>
      </p:sp>
      <p:sp>
        <p:nvSpPr>
          <p:cNvPr id="116" name="Google Shape;116;p2"/>
          <p:cNvSpPr txBox="1"/>
          <p:nvPr>
            <p:ph idx="1" type="body"/>
          </p:nvPr>
        </p:nvSpPr>
        <p:spPr>
          <a:xfrm>
            <a:off x="334800" y="1503724"/>
            <a:ext cx="11565300" cy="1089300"/>
          </a:xfrm>
          <a:prstGeom prst="rect">
            <a:avLst/>
          </a:prstGeom>
          <a:noFill/>
          <a:ln>
            <a:noFill/>
          </a:ln>
        </p:spPr>
        <p:txBody>
          <a:bodyPr anchorCtr="0" anchor="t" bIns="46800" lIns="91425" spcFirstLastPara="1" rIns="91425" wrap="square" tIns="45700">
            <a:normAutofit/>
          </a:bodyPr>
          <a:lstStyle/>
          <a:p>
            <a:pPr indent="-266759" lvl="0" marL="266759" marR="0" rtl="0" algn="l">
              <a:lnSpc>
                <a:spcPct val="100000"/>
              </a:lnSpc>
              <a:spcBef>
                <a:spcPts val="0"/>
              </a:spcBef>
              <a:spcAft>
                <a:spcPts val="0"/>
              </a:spcAft>
              <a:buClr>
                <a:srgbClr val="00ACA7"/>
              </a:buClr>
              <a:buSzPts val="2000"/>
              <a:buFont typeface="Arial"/>
              <a:buChar char="●"/>
            </a:pPr>
            <a:r>
              <a:rPr lang="it-IT" sz="2000">
                <a:solidFill>
                  <a:schemeClr val="dk1"/>
                </a:solidFill>
              </a:rPr>
              <a:t>Synthetic Aperture Radar data</a:t>
            </a:r>
            <a:endParaRPr sz="2000">
              <a:solidFill>
                <a:schemeClr val="dk1"/>
              </a:solidFill>
            </a:endParaRPr>
          </a:p>
          <a:p>
            <a:pPr indent="-266759" lvl="0" marL="266759" marR="0" rtl="0" algn="l">
              <a:lnSpc>
                <a:spcPct val="100000"/>
              </a:lnSpc>
              <a:spcBef>
                <a:spcPts val="0"/>
              </a:spcBef>
              <a:spcAft>
                <a:spcPts val="0"/>
              </a:spcAft>
              <a:buClr>
                <a:srgbClr val="00ACA7"/>
              </a:buClr>
              <a:buSzPts val="2000"/>
              <a:buFont typeface="Arial"/>
              <a:buChar char="●"/>
            </a:pPr>
            <a:r>
              <a:rPr lang="it-IT" sz="2000">
                <a:solidFill>
                  <a:schemeClr val="dk1"/>
                </a:solidFill>
              </a:rPr>
              <a:t>RFI is s</a:t>
            </a:r>
            <a:r>
              <a:rPr b="0" i="0" lang="it-IT" sz="2000" u="none" cap="none" strike="noStrike">
                <a:solidFill>
                  <a:schemeClr val="dk1"/>
                </a:solidFill>
                <a:latin typeface="Arial"/>
                <a:ea typeface="Arial"/>
                <a:cs typeface="Arial"/>
                <a:sym typeface="Arial"/>
              </a:rPr>
              <a:t>ignals</a:t>
            </a:r>
            <a:r>
              <a:rPr lang="it-IT" sz="2000">
                <a:solidFill>
                  <a:schemeClr val="dk1"/>
                </a:solidFill>
              </a:rPr>
              <a:t> </a:t>
            </a:r>
            <a:r>
              <a:rPr b="0" i="0" lang="it-IT" sz="2000" u="none" cap="none" strike="noStrike">
                <a:solidFill>
                  <a:schemeClr val="dk1"/>
                </a:solidFill>
                <a:latin typeface="Arial"/>
                <a:ea typeface="Arial"/>
                <a:cs typeface="Arial"/>
                <a:sym typeface="Arial"/>
              </a:rPr>
              <a:t>in the same frequency used by the satellite</a:t>
            </a:r>
            <a:endParaRPr b="0" i="0" sz="2000" u="none" cap="none" strike="noStrike">
              <a:solidFill>
                <a:srgbClr val="000000"/>
              </a:solidFill>
              <a:latin typeface="Arial"/>
              <a:ea typeface="Arial"/>
              <a:cs typeface="Arial"/>
              <a:sym typeface="Arial"/>
            </a:endParaRPr>
          </a:p>
          <a:p>
            <a:pPr indent="-266759" lvl="0" marL="266759" marR="0" rtl="0" algn="l">
              <a:lnSpc>
                <a:spcPct val="100000"/>
              </a:lnSpc>
              <a:spcBef>
                <a:spcPts val="201"/>
              </a:spcBef>
              <a:spcAft>
                <a:spcPts val="0"/>
              </a:spcAft>
              <a:buClr>
                <a:srgbClr val="00ACA7"/>
              </a:buClr>
              <a:buSzPts val="2000"/>
              <a:buFont typeface="Arial"/>
              <a:buChar char="●"/>
            </a:pPr>
            <a:r>
              <a:rPr lang="it-IT" sz="2000">
                <a:solidFill>
                  <a:schemeClr val="dk1"/>
                </a:solidFill>
              </a:rPr>
              <a:t>Overpowers the satellite sensors</a:t>
            </a:r>
            <a:endParaRPr sz="2000">
              <a:solidFill>
                <a:schemeClr val="dk1"/>
              </a:solidFill>
            </a:endParaRPr>
          </a:p>
        </p:txBody>
      </p:sp>
      <p:pic>
        <p:nvPicPr>
          <p:cNvPr id="117" name="Google Shape;117;p2"/>
          <p:cNvPicPr preferRelativeResize="0"/>
          <p:nvPr/>
        </p:nvPicPr>
        <p:blipFill rotWithShape="1">
          <a:blip r:embed="rId4">
            <a:alphaModFix/>
          </a:blip>
          <a:srcRect b="1808" l="3833" r="4901" t="51358"/>
          <a:stretch/>
        </p:blipFill>
        <p:spPr>
          <a:xfrm>
            <a:off x="2499120" y="3043800"/>
            <a:ext cx="3093120" cy="2995560"/>
          </a:xfrm>
          <a:prstGeom prst="rect">
            <a:avLst/>
          </a:prstGeom>
          <a:noFill/>
          <a:ln>
            <a:noFill/>
          </a:ln>
        </p:spPr>
      </p:pic>
      <p:pic>
        <p:nvPicPr>
          <p:cNvPr id="118" name="Google Shape;118;p2"/>
          <p:cNvPicPr preferRelativeResize="0"/>
          <p:nvPr/>
        </p:nvPicPr>
        <p:blipFill rotWithShape="1">
          <a:blip r:embed="rId4">
            <a:alphaModFix/>
          </a:blip>
          <a:srcRect b="51363" l="0" r="5204" t="1640"/>
          <a:stretch/>
        </p:blipFill>
        <p:spPr>
          <a:xfrm>
            <a:off x="6269760" y="3039120"/>
            <a:ext cx="3133800" cy="2931480"/>
          </a:xfrm>
          <a:prstGeom prst="rect">
            <a:avLst/>
          </a:prstGeom>
          <a:noFill/>
          <a:ln>
            <a:noFill/>
          </a:ln>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
          <p:cNvSpPr txBox="1"/>
          <p:nvPr>
            <p:ph type="title"/>
          </p:nvPr>
        </p:nvSpPr>
        <p:spPr>
          <a:xfrm>
            <a:off x="146880" y="160200"/>
            <a:ext cx="11852640" cy="76248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accent1"/>
              </a:buClr>
              <a:buSzPts val="4400"/>
              <a:buFont typeface="Century Gothic"/>
              <a:buNone/>
            </a:pPr>
            <a:r>
              <a:rPr b="1" lang="it-IT" sz="4400">
                <a:solidFill>
                  <a:schemeClr val="accent1"/>
                </a:solidFill>
                <a:latin typeface="Century Gothic"/>
                <a:ea typeface="Century Gothic"/>
                <a:cs typeface="Century Gothic"/>
                <a:sym typeface="Century Gothic"/>
              </a:rPr>
              <a:t>Motivations and limitations</a:t>
            </a:r>
            <a:endParaRPr b="0" sz="4400" u="none" strike="noStrike">
              <a:solidFill>
                <a:srgbClr val="000000"/>
              </a:solidFill>
              <a:latin typeface="Arial"/>
              <a:ea typeface="Arial"/>
              <a:cs typeface="Arial"/>
              <a:sym typeface="Arial"/>
            </a:endParaRPr>
          </a:p>
        </p:txBody>
      </p:sp>
      <p:sp>
        <p:nvSpPr>
          <p:cNvPr id="125" name="Google Shape;125;p3"/>
          <p:cNvSpPr txBox="1"/>
          <p:nvPr>
            <p:ph idx="1" type="body"/>
          </p:nvPr>
        </p:nvSpPr>
        <p:spPr>
          <a:xfrm>
            <a:off x="334800" y="1503720"/>
            <a:ext cx="11565300" cy="1175700"/>
          </a:xfrm>
          <a:prstGeom prst="rect">
            <a:avLst/>
          </a:prstGeom>
          <a:noFill/>
          <a:ln>
            <a:noFill/>
          </a:ln>
        </p:spPr>
        <p:txBody>
          <a:bodyPr anchorCtr="0" anchor="t" bIns="46800" lIns="91425" spcFirstLastPara="1" rIns="91425" wrap="square" tIns="45700">
            <a:normAutofit/>
          </a:bodyPr>
          <a:lstStyle/>
          <a:p>
            <a:pPr indent="-266760" lvl="0" marL="266760" marR="0" rtl="0" algn="l">
              <a:lnSpc>
                <a:spcPct val="100000"/>
              </a:lnSpc>
              <a:spcBef>
                <a:spcPts val="0"/>
              </a:spcBef>
              <a:spcAft>
                <a:spcPts val="0"/>
              </a:spcAft>
              <a:buClr>
                <a:srgbClr val="00ACA7"/>
              </a:buClr>
              <a:buSzPts val="2000"/>
              <a:buFont typeface="Arial"/>
              <a:buChar char="•"/>
            </a:pPr>
            <a:r>
              <a:rPr b="0" i="0" lang="it-IT" sz="2000" u="none" cap="none" strike="noStrike">
                <a:solidFill>
                  <a:schemeClr val="dk1"/>
                </a:solidFill>
                <a:latin typeface="Arial"/>
                <a:ea typeface="Arial"/>
                <a:cs typeface="Arial"/>
                <a:sym typeface="Arial"/>
              </a:rPr>
              <a:t>Data is hard to find and no </a:t>
            </a:r>
            <a:r>
              <a:rPr lang="it-IT" sz="2000">
                <a:solidFill>
                  <a:schemeClr val="dk1"/>
                </a:solidFill>
              </a:rPr>
              <a:t>labeled data</a:t>
            </a:r>
            <a:r>
              <a:rPr b="0" i="0" lang="it-IT" sz="2000" u="none" cap="none" strike="noStrike">
                <a:solidFill>
                  <a:schemeClr val="dk1"/>
                </a:solidFill>
                <a:latin typeface="Arial"/>
                <a:ea typeface="Arial"/>
                <a:cs typeface="Arial"/>
                <a:sym typeface="Arial"/>
              </a:rPr>
              <a:t> exists in those cases</a:t>
            </a:r>
            <a:endParaRPr b="0" i="0" sz="2000" u="none" cap="none" strike="noStrike">
              <a:solidFill>
                <a:srgbClr val="000000"/>
              </a:solidFill>
              <a:latin typeface="Arial"/>
              <a:ea typeface="Arial"/>
              <a:cs typeface="Arial"/>
              <a:sym typeface="Arial"/>
            </a:endParaRPr>
          </a:p>
          <a:p>
            <a:pPr indent="-266759" lvl="0" marL="266759" marR="0" rtl="0" algn="l">
              <a:lnSpc>
                <a:spcPct val="100000"/>
              </a:lnSpc>
              <a:spcBef>
                <a:spcPts val="201"/>
              </a:spcBef>
              <a:spcAft>
                <a:spcPts val="0"/>
              </a:spcAft>
              <a:buClr>
                <a:srgbClr val="00ACA7"/>
              </a:buClr>
              <a:buSzPts val="2000"/>
              <a:buFont typeface="Arial"/>
              <a:buChar char="•"/>
            </a:pPr>
            <a:r>
              <a:rPr lang="it-IT" sz="2000">
                <a:solidFill>
                  <a:schemeClr val="dk1"/>
                </a:solidFill>
              </a:rPr>
              <a:t>Limited computational capabilities on-board</a:t>
            </a:r>
            <a:endParaRPr sz="2000">
              <a:solidFill>
                <a:schemeClr val="dk1"/>
              </a:solidFill>
            </a:endParaRPr>
          </a:p>
          <a:p>
            <a:pPr indent="-266759" lvl="0" marL="266759" marR="0" rtl="0" algn="l">
              <a:lnSpc>
                <a:spcPct val="100000"/>
              </a:lnSpc>
              <a:spcBef>
                <a:spcPts val="201"/>
              </a:spcBef>
              <a:spcAft>
                <a:spcPts val="0"/>
              </a:spcAft>
              <a:buClr>
                <a:srgbClr val="00ACA7"/>
              </a:buClr>
              <a:buSzPts val="2000"/>
              <a:buFont typeface="Arial"/>
              <a:buChar char="•"/>
            </a:pPr>
            <a:r>
              <a:rPr lang="it-IT" sz="2000">
                <a:solidFill>
                  <a:schemeClr val="dk1"/>
                </a:solidFill>
              </a:rPr>
              <a:t>Less data sent to ground station if interferences are </a:t>
            </a:r>
            <a:r>
              <a:rPr lang="it-IT" sz="2000">
                <a:solidFill>
                  <a:schemeClr val="dk1"/>
                </a:solidFill>
              </a:rPr>
              <a:t>caught</a:t>
            </a:r>
            <a:r>
              <a:rPr lang="it-IT" sz="2000">
                <a:solidFill>
                  <a:schemeClr val="dk1"/>
                </a:solidFill>
              </a:rPr>
              <a:t> early</a:t>
            </a:r>
            <a:endParaRPr sz="2000">
              <a:solidFill>
                <a:schemeClr val="dk1"/>
              </a:solidFill>
            </a:endParaRPr>
          </a:p>
        </p:txBody>
      </p:sp>
      <p:pic>
        <p:nvPicPr>
          <p:cNvPr id="126" name="Google Shape;126;p3"/>
          <p:cNvPicPr preferRelativeResize="0"/>
          <p:nvPr/>
        </p:nvPicPr>
        <p:blipFill rotWithShape="1">
          <a:blip r:embed="rId4">
            <a:alphaModFix/>
          </a:blip>
          <a:srcRect b="0" l="0" r="0" t="0"/>
          <a:stretch/>
        </p:blipFill>
        <p:spPr>
          <a:xfrm>
            <a:off x="1080000" y="2731063"/>
            <a:ext cx="4820386" cy="3208211"/>
          </a:xfrm>
          <a:prstGeom prst="rect">
            <a:avLst/>
          </a:prstGeom>
          <a:noFill/>
          <a:ln>
            <a:noFill/>
          </a:ln>
        </p:spPr>
      </p:pic>
      <p:pic>
        <p:nvPicPr>
          <p:cNvPr id="127" name="Google Shape;127;p3"/>
          <p:cNvPicPr preferRelativeResize="0"/>
          <p:nvPr/>
        </p:nvPicPr>
        <p:blipFill rotWithShape="1">
          <a:blip r:embed="rId5">
            <a:alphaModFix/>
          </a:blip>
          <a:srcRect b="0" l="0" r="0" t="0"/>
          <a:stretch/>
        </p:blipFill>
        <p:spPr>
          <a:xfrm>
            <a:off x="6551200" y="2762100"/>
            <a:ext cx="4853160" cy="2729519"/>
          </a:xfrm>
          <a:prstGeom prst="rect">
            <a:avLst/>
          </a:prstGeom>
          <a:noFill/>
          <a:ln>
            <a:noFill/>
          </a:ln>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ac52cf137e_5_1"/>
          <p:cNvSpPr txBox="1"/>
          <p:nvPr>
            <p:ph type="title"/>
          </p:nvPr>
        </p:nvSpPr>
        <p:spPr>
          <a:xfrm>
            <a:off x="147600" y="162000"/>
            <a:ext cx="11851200" cy="763200"/>
          </a:xfrm>
          <a:prstGeom prst="rect">
            <a:avLst/>
          </a:prstGeom>
        </p:spPr>
        <p:txBody>
          <a:bodyPr anchorCtr="0" anchor="ctr" bIns="90000" lIns="216000" spcFirstLastPara="1" rIns="91425" wrap="square" tIns="144000">
            <a:noAutofit/>
          </a:bodyPr>
          <a:lstStyle/>
          <a:p>
            <a:pPr indent="0" lvl="0" marL="0" rtl="0" algn="l">
              <a:spcBef>
                <a:spcPts val="0"/>
              </a:spcBef>
              <a:spcAft>
                <a:spcPts val="0"/>
              </a:spcAft>
              <a:buNone/>
            </a:pPr>
            <a:r>
              <a:rPr b="1" lang="it-IT" sz="4400">
                <a:solidFill>
                  <a:schemeClr val="dk2"/>
                </a:solidFill>
                <a:latin typeface="Century Gothic"/>
                <a:ea typeface="Century Gothic"/>
                <a:cs typeface="Century Gothic"/>
                <a:sym typeface="Century Gothic"/>
              </a:rPr>
              <a:t>D</a:t>
            </a:r>
            <a:r>
              <a:rPr b="1" lang="it-IT" sz="4400">
                <a:solidFill>
                  <a:schemeClr val="dk2"/>
                </a:solidFill>
                <a:latin typeface="Century Gothic"/>
                <a:ea typeface="Century Gothic"/>
                <a:cs typeface="Century Gothic"/>
                <a:sym typeface="Century Gothic"/>
              </a:rPr>
              <a:t>ataset</a:t>
            </a:r>
            <a:endParaRPr/>
          </a:p>
        </p:txBody>
      </p:sp>
      <p:pic>
        <p:nvPicPr>
          <p:cNvPr id="134" name="Google Shape;134;g3ac52cf137e_5_1"/>
          <p:cNvPicPr preferRelativeResize="0"/>
          <p:nvPr/>
        </p:nvPicPr>
        <p:blipFill>
          <a:blip r:embed="rId3">
            <a:alphaModFix/>
          </a:blip>
          <a:stretch>
            <a:fillRect/>
          </a:stretch>
        </p:blipFill>
        <p:spPr>
          <a:xfrm>
            <a:off x="6450025" y="2077745"/>
            <a:ext cx="5183495" cy="3721381"/>
          </a:xfrm>
          <a:prstGeom prst="rect">
            <a:avLst/>
          </a:prstGeom>
          <a:noFill/>
          <a:ln>
            <a:noFill/>
          </a:ln>
        </p:spPr>
      </p:pic>
      <p:sp>
        <p:nvSpPr>
          <p:cNvPr id="135" name="Google Shape;135;g3ac52cf137e_5_1"/>
          <p:cNvSpPr/>
          <p:nvPr/>
        </p:nvSpPr>
        <p:spPr>
          <a:xfrm>
            <a:off x="6439875" y="4141125"/>
            <a:ext cx="2444100" cy="1694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g3ac52cf137e_5_1"/>
          <p:cNvSpPr/>
          <p:nvPr/>
        </p:nvSpPr>
        <p:spPr>
          <a:xfrm>
            <a:off x="9340825" y="5641200"/>
            <a:ext cx="297300" cy="22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g3ac52cf137e_5_1"/>
          <p:cNvSpPr/>
          <p:nvPr/>
        </p:nvSpPr>
        <p:spPr>
          <a:xfrm>
            <a:off x="10799300" y="5668575"/>
            <a:ext cx="297300" cy="22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g3ac52cf137e_5_1"/>
          <p:cNvSpPr txBox="1"/>
          <p:nvPr>
            <p:ph idx="1" type="body"/>
          </p:nvPr>
        </p:nvSpPr>
        <p:spPr>
          <a:xfrm>
            <a:off x="360625" y="1492183"/>
            <a:ext cx="5626500" cy="1175700"/>
          </a:xfrm>
          <a:prstGeom prst="rect">
            <a:avLst/>
          </a:prstGeom>
          <a:noFill/>
          <a:ln>
            <a:noFill/>
          </a:ln>
        </p:spPr>
        <p:txBody>
          <a:bodyPr anchorCtr="0" anchor="t" bIns="46800" lIns="91425" spcFirstLastPara="1" rIns="91425" wrap="square" tIns="45700">
            <a:normAutofit/>
          </a:bodyPr>
          <a:lstStyle/>
          <a:p>
            <a:pPr indent="-266759" lvl="0" marL="266759" marR="0" rtl="0" algn="l">
              <a:lnSpc>
                <a:spcPct val="100000"/>
              </a:lnSpc>
              <a:spcBef>
                <a:spcPts val="0"/>
              </a:spcBef>
              <a:spcAft>
                <a:spcPts val="0"/>
              </a:spcAft>
              <a:buClr>
                <a:srgbClr val="00ACA7"/>
              </a:buClr>
              <a:buSzPts val="2000"/>
              <a:buFont typeface="Arial"/>
              <a:buChar char="•"/>
            </a:pPr>
            <a:r>
              <a:rPr lang="it-IT" sz="2000">
                <a:solidFill>
                  <a:schemeClr val="dk1"/>
                </a:solidFill>
              </a:rPr>
              <a:t>L0 level data</a:t>
            </a:r>
            <a:endParaRPr b="0" i="0" sz="2000" u="none" cap="none" strike="noStrike">
              <a:solidFill>
                <a:srgbClr val="000000"/>
              </a:solidFill>
              <a:latin typeface="Arial"/>
              <a:ea typeface="Arial"/>
              <a:cs typeface="Arial"/>
              <a:sym typeface="Arial"/>
            </a:endParaRPr>
          </a:p>
          <a:p>
            <a:pPr indent="-266759" lvl="0" marL="266759" marR="0" rtl="0" algn="l">
              <a:lnSpc>
                <a:spcPct val="100000"/>
              </a:lnSpc>
              <a:spcBef>
                <a:spcPts val="201"/>
              </a:spcBef>
              <a:spcAft>
                <a:spcPts val="0"/>
              </a:spcAft>
              <a:buClr>
                <a:srgbClr val="00ACA7"/>
              </a:buClr>
              <a:buSzPts val="2000"/>
              <a:buFont typeface="Arial"/>
              <a:buChar char="•"/>
            </a:pPr>
            <a:r>
              <a:rPr lang="it-IT" sz="2000">
                <a:solidFill>
                  <a:schemeClr val="dk1"/>
                </a:solidFill>
              </a:rPr>
              <a:t>Limited computational capabilities on-board</a:t>
            </a:r>
            <a:endParaRPr sz="2000">
              <a:solidFill>
                <a:schemeClr val="dk1"/>
              </a:solidFill>
            </a:endParaRPr>
          </a:p>
          <a:p>
            <a:pPr indent="-266759" lvl="0" marL="266759" marR="0" rtl="0" algn="l">
              <a:lnSpc>
                <a:spcPct val="100000"/>
              </a:lnSpc>
              <a:spcBef>
                <a:spcPts val="201"/>
              </a:spcBef>
              <a:spcAft>
                <a:spcPts val="0"/>
              </a:spcAft>
              <a:buClr>
                <a:srgbClr val="00ACA7"/>
              </a:buClr>
              <a:buSzPts val="2000"/>
              <a:buFont typeface="Arial"/>
              <a:buChar char="•"/>
            </a:pPr>
            <a:r>
              <a:rPr lang="it-IT" sz="2000">
                <a:solidFill>
                  <a:schemeClr val="dk1"/>
                </a:solidFill>
              </a:rPr>
              <a:t>Less data sent to ground station</a:t>
            </a:r>
            <a:endParaRPr sz="2000">
              <a:solidFill>
                <a:schemeClr val="dk1"/>
              </a:solidFill>
            </a:endParaRPr>
          </a:p>
        </p:txBody>
      </p:sp>
      <p:pic>
        <p:nvPicPr>
          <p:cNvPr id="139" name="Google Shape;139;g3ac52cf137e_5_1" title="ChirpRFIpng.png"/>
          <p:cNvPicPr preferRelativeResize="0"/>
          <p:nvPr/>
        </p:nvPicPr>
        <p:blipFill>
          <a:blip r:embed="rId4">
            <a:alphaModFix/>
          </a:blip>
          <a:stretch>
            <a:fillRect/>
          </a:stretch>
        </p:blipFill>
        <p:spPr>
          <a:xfrm>
            <a:off x="1016550" y="2994700"/>
            <a:ext cx="2254075" cy="260875"/>
          </a:xfrm>
          <a:prstGeom prst="rect">
            <a:avLst/>
          </a:prstGeom>
          <a:noFill/>
          <a:ln>
            <a:noFill/>
          </a:ln>
        </p:spPr>
      </p:pic>
      <p:pic>
        <p:nvPicPr>
          <p:cNvPr id="140" name="Google Shape;140;g3ac52cf137e_5_1" title="trainRFI.png"/>
          <p:cNvPicPr preferRelativeResize="0"/>
          <p:nvPr/>
        </p:nvPicPr>
        <p:blipFill>
          <a:blip r:embed="rId5">
            <a:alphaModFix/>
          </a:blip>
          <a:stretch>
            <a:fillRect/>
          </a:stretch>
        </p:blipFill>
        <p:spPr>
          <a:xfrm>
            <a:off x="1250850" y="3419150"/>
            <a:ext cx="1538888" cy="418563"/>
          </a:xfrm>
          <a:prstGeom prst="rect">
            <a:avLst/>
          </a:prstGeom>
          <a:noFill/>
          <a:ln>
            <a:noFill/>
          </a:ln>
        </p:spPr>
      </p:pic>
      <p:pic>
        <p:nvPicPr>
          <p:cNvPr id="141" name="Google Shape;141;g3ac52cf137e_5_1" title="PRFI.png"/>
          <p:cNvPicPr preferRelativeResize="0"/>
          <p:nvPr/>
        </p:nvPicPr>
        <p:blipFill>
          <a:blip r:embed="rId6">
            <a:alphaModFix/>
          </a:blip>
          <a:stretch>
            <a:fillRect/>
          </a:stretch>
        </p:blipFill>
        <p:spPr>
          <a:xfrm>
            <a:off x="3667326" y="4167950"/>
            <a:ext cx="1595875" cy="310525"/>
          </a:xfrm>
          <a:prstGeom prst="rect">
            <a:avLst/>
          </a:prstGeom>
          <a:noFill/>
          <a:ln>
            <a:noFill/>
          </a:ln>
        </p:spPr>
      </p:pic>
      <p:pic>
        <p:nvPicPr>
          <p:cNvPr id="142" name="Google Shape;142;g3ac52cf137e_5_1" title="mapRFI.png"/>
          <p:cNvPicPr preferRelativeResize="0"/>
          <p:nvPr/>
        </p:nvPicPr>
        <p:blipFill>
          <a:blip r:embed="rId7">
            <a:alphaModFix/>
          </a:blip>
          <a:stretch>
            <a:fillRect/>
          </a:stretch>
        </p:blipFill>
        <p:spPr>
          <a:xfrm>
            <a:off x="861850" y="4026900"/>
            <a:ext cx="2498025" cy="566825"/>
          </a:xfrm>
          <a:prstGeom prst="rect">
            <a:avLst/>
          </a:prstGeom>
          <a:noFill/>
          <a:ln>
            <a:noFill/>
          </a:ln>
        </p:spPr>
      </p:pic>
      <p:pic>
        <p:nvPicPr>
          <p:cNvPr id="143" name="Google Shape;143;g3ac52cf137e_5_1" title="finalRFI.png"/>
          <p:cNvPicPr preferRelativeResize="0"/>
          <p:nvPr/>
        </p:nvPicPr>
        <p:blipFill>
          <a:blip r:embed="rId8">
            <a:alphaModFix/>
          </a:blip>
          <a:stretch>
            <a:fillRect/>
          </a:stretch>
        </p:blipFill>
        <p:spPr>
          <a:xfrm>
            <a:off x="1635300" y="4888300"/>
            <a:ext cx="3160426" cy="601475"/>
          </a:xfrm>
          <a:prstGeom prst="rect">
            <a:avLst/>
          </a:prstGeom>
          <a:noFill/>
          <a:ln>
            <a:noFill/>
          </a:ln>
        </p:spPr>
      </p:pic>
      <p:sp>
        <p:nvSpPr>
          <p:cNvPr id="144" name="Google Shape;144;g3ac52cf137e_5_1"/>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None/>
            </a:pPr>
            <a:r>
              <a:rPr b="1" lang="it-IT" sz="2700">
                <a:solidFill>
                  <a:schemeClr val="accent3"/>
                </a:solidFill>
                <a:latin typeface="Century Gothic"/>
                <a:ea typeface="Century Gothic"/>
                <a:cs typeface="Century Gothic"/>
                <a:sym typeface="Century Gothic"/>
              </a:rPr>
              <a:t>RFInject</a:t>
            </a:r>
            <a:r>
              <a:rPr b="1" lang="it-IT" sz="1000">
                <a:solidFill>
                  <a:srgbClr val="888888"/>
                </a:solidFill>
                <a:latin typeface="Century Gothic"/>
                <a:ea typeface="Century Gothic"/>
                <a:cs typeface="Century Gothic"/>
                <a:sym typeface="Century Gothic"/>
              </a:rPr>
              <a:t>[1]</a:t>
            </a:r>
            <a:endParaRPr b="0" i="0" sz="1000" u="none" cap="none" strike="noStrike">
              <a:solidFill>
                <a:srgbClr val="888888"/>
              </a:solidFill>
              <a:latin typeface="Arial"/>
              <a:ea typeface="Arial"/>
              <a:cs typeface="Arial"/>
              <a:sym typeface="Arial"/>
            </a:endParaRPr>
          </a:p>
        </p:txBody>
      </p:sp>
      <p:sp>
        <p:nvSpPr>
          <p:cNvPr id="145" name="Google Shape;145;g3ac52cf137e_5_1"/>
          <p:cNvSpPr/>
          <p:nvPr/>
        </p:nvSpPr>
        <p:spPr>
          <a:xfrm>
            <a:off x="0" y="5982480"/>
            <a:ext cx="12191100" cy="289500"/>
          </a:xfrm>
          <a:prstGeom prst="rect">
            <a:avLst/>
          </a:prstGeom>
          <a:noFill/>
          <a:ln>
            <a:noFill/>
          </a:ln>
        </p:spPr>
        <p:txBody>
          <a:bodyPr anchorCtr="0" anchor="t" bIns="69100" lIns="90000" spcFirstLastPara="1" rIns="90000" wrap="square" tIns="69100">
            <a:noAutofit/>
          </a:bodyPr>
          <a:lstStyle/>
          <a:p>
            <a:pPr indent="0" lvl="0" marL="0" marR="0" rtl="0" algn="ctr">
              <a:lnSpc>
                <a:spcPct val="90000"/>
              </a:lnSpc>
              <a:spcBef>
                <a:spcPts val="0"/>
              </a:spcBef>
              <a:spcAft>
                <a:spcPts val="0"/>
              </a:spcAft>
              <a:buNone/>
            </a:pPr>
            <a:r>
              <a:rPr b="0" i="0" lang="it-IT" sz="1000" u="none" cap="none" strike="noStrike">
                <a:solidFill>
                  <a:srgbClr val="7F7F7F"/>
                </a:solidFill>
                <a:highlight>
                  <a:srgbClr val="FFFFFF"/>
                </a:highlight>
                <a:latin typeface="Arial"/>
                <a:ea typeface="Arial"/>
                <a:cs typeface="Arial"/>
                <a:sym typeface="Arial"/>
              </a:rPr>
              <a:t>[</a:t>
            </a:r>
            <a:r>
              <a:rPr lang="it-IT" sz="1000">
                <a:solidFill>
                  <a:srgbClr val="7F7F7F"/>
                </a:solidFill>
                <a:highlight>
                  <a:srgbClr val="FFFFFF"/>
                </a:highlight>
              </a:rPr>
              <a:t>1</a:t>
            </a:r>
            <a:r>
              <a:rPr b="0" i="0" lang="it-IT" sz="1000" u="none" cap="none" strike="noStrike">
                <a:solidFill>
                  <a:srgbClr val="7F7F7F"/>
                </a:solidFill>
                <a:highlight>
                  <a:srgbClr val="FFFFFF"/>
                </a:highlight>
                <a:latin typeface="Arial"/>
                <a:ea typeface="Arial"/>
                <a:cs typeface="Arial"/>
                <a:sym typeface="Arial"/>
              </a:rPr>
              <a:t>]</a:t>
            </a:r>
            <a:r>
              <a:rPr lang="it-IT" sz="800">
                <a:solidFill>
                  <a:srgbClr val="7F7F7F"/>
                </a:solidFill>
              </a:rPr>
              <a:t>Del Prete, R. (n.d.). </a:t>
            </a:r>
            <a:r>
              <a:rPr i="1" lang="it-IT" sz="800">
                <a:solidFill>
                  <a:srgbClr val="7F7F7F"/>
                </a:solidFill>
              </a:rPr>
              <a:t>RFInject: Injection of simulated radio frequency interference in Sentinel-1 Level-0 data</a:t>
            </a:r>
            <a:r>
              <a:rPr lang="it-IT" sz="800">
                <a:solidFill>
                  <a:srgbClr val="7F7F7F"/>
                </a:solidFill>
              </a:rPr>
              <a:t>. Φ-lab, European Space Agency (ESA); RMIT.</a:t>
            </a:r>
            <a:endParaRPr b="0" i="0" sz="800" u="none" cap="none" strike="noStrike">
              <a:solidFill>
                <a:srgbClr val="7F7F7F"/>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4"/>
          <p:cNvSpPr txBox="1"/>
          <p:nvPr>
            <p:ph type="title"/>
          </p:nvPr>
        </p:nvSpPr>
        <p:spPr>
          <a:xfrm>
            <a:off x="146880" y="160200"/>
            <a:ext cx="11852640" cy="76248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accent1"/>
              </a:buClr>
              <a:buSzPts val="4400"/>
              <a:buFont typeface="Century Gothic"/>
              <a:buNone/>
            </a:pPr>
            <a:r>
              <a:rPr b="1" lang="it-IT" sz="4400">
                <a:solidFill>
                  <a:schemeClr val="accent1"/>
                </a:solidFill>
                <a:latin typeface="Century Gothic"/>
                <a:ea typeface="Century Gothic"/>
                <a:cs typeface="Century Gothic"/>
                <a:sym typeface="Century Gothic"/>
              </a:rPr>
              <a:t>Possible</a:t>
            </a:r>
            <a:r>
              <a:rPr b="1" lang="it-IT" sz="4400" u="none" strike="noStrike">
                <a:solidFill>
                  <a:schemeClr val="accent1"/>
                </a:solidFill>
                <a:latin typeface="Century Gothic"/>
                <a:ea typeface="Century Gothic"/>
                <a:cs typeface="Century Gothic"/>
                <a:sym typeface="Century Gothic"/>
              </a:rPr>
              <a:t> approaches</a:t>
            </a:r>
            <a:endParaRPr b="0" sz="4400" u="none" strike="noStrike">
              <a:solidFill>
                <a:srgbClr val="000000"/>
              </a:solidFill>
              <a:latin typeface="Arial"/>
              <a:ea typeface="Arial"/>
              <a:cs typeface="Arial"/>
              <a:sym typeface="Arial"/>
            </a:endParaRPr>
          </a:p>
        </p:txBody>
      </p:sp>
      <p:sp>
        <p:nvSpPr>
          <p:cNvPr id="152" name="Google Shape;152;p4"/>
          <p:cNvSpPr txBox="1"/>
          <p:nvPr>
            <p:ph idx="1" type="body"/>
          </p:nvPr>
        </p:nvSpPr>
        <p:spPr>
          <a:xfrm>
            <a:off x="290880" y="5317560"/>
            <a:ext cx="11516040" cy="833040"/>
          </a:xfrm>
          <a:prstGeom prst="rect">
            <a:avLst/>
          </a:prstGeom>
          <a:noFill/>
          <a:ln>
            <a:noFill/>
          </a:ln>
        </p:spPr>
        <p:txBody>
          <a:bodyPr anchorCtr="0" anchor="t" bIns="46800" lIns="91425" spcFirstLastPara="1" rIns="91425" wrap="square" tIns="45700">
            <a:normAutofit fontScale="92500" lnSpcReduction="20000"/>
          </a:bodyPr>
          <a:lstStyle/>
          <a:p>
            <a:pPr indent="-257235" lvl="0" marL="266760" marR="0" rtl="0" algn="l">
              <a:lnSpc>
                <a:spcPct val="100000"/>
              </a:lnSpc>
              <a:spcBef>
                <a:spcPts val="0"/>
              </a:spcBef>
              <a:spcAft>
                <a:spcPts val="0"/>
              </a:spcAft>
              <a:buClr>
                <a:srgbClr val="00ACA7"/>
              </a:buClr>
              <a:buSzPct val="100000"/>
              <a:buFont typeface="Arial"/>
              <a:buChar char="•"/>
            </a:pPr>
            <a:r>
              <a:rPr b="1" i="0" lang="it-IT" sz="2000" u="none" cap="none" strike="noStrike">
                <a:solidFill>
                  <a:schemeClr val="accent2"/>
                </a:solidFill>
                <a:latin typeface="Arial"/>
                <a:ea typeface="Arial"/>
                <a:cs typeface="Arial"/>
                <a:sym typeface="Arial"/>
              </a:rPr>
              <a:t>CS brach:</a:t>
            </a:r>
            <a:r>
              <a:rPr b="0" i="0" lang="it-IT" sz="2000" u="none" cap="none" strike="noStrike">
                <a:solidFill>
                  <a:schemeClr val="dk1"/>
                </a:solidFill>
                <a:latin typeface="Arial"/>
                <a:ea typeface="Arial"/>
                <a:cs typeface="Arial"/>
                <a:sym typeface="Arial"/>
              </a:rPr>
              <a:t> first a classification step to see if the RFI is there then segmentation to find it</a:t>
            </a:r>
            <a:endParaRPr b="0" i="0" sz="2000" u="none" cap="none" strike="noStrike">
              <a:solidFill>
                <a:srgbClr val="000000"/>
              </a:solidFill>
              <a:latin typeface="Arial"/>
              <a:ea typeface="Arial"/>
              <a:cs typeface="Arial"/>
              <a:sym typeface="Arial"/>
            </a:endParaRPr>
          </a:p>
          <a:p>
            <a:pPr indent="-257235" lvl="0" marL="266760" marR="0" rtl="0" algn="l">
              <a:lnSpc>
                <a:spcPct val="100000"/>
              </a:lnSpc>
              <a:spcBef>
                <a:spcPts val="201"/>
              </a:spcBef>
              <a:spcAft>
                <a:spcPts val="0"/>
              </a:spcAft>
              <a:buClr>
                <a:srgbClr val="00ACA7"/>
              </a:buClr>
              <a:buSzPct val="100000"/>
              <a:buFont typeface="Arial"/>
              <a:buChar char="•"/>
            </a:pPr>
            <a:r>
              <a:rPr b="1" i="0" lang="it-IT" sz="2000" u="none" cap="none" strike="noStrike">
                <a:solidFill>
                  <a:schemeClr val="accent4"/>
                </a:solidFill>
                <a:latin typeface="Arial"/>
                <a:ea typeface="Arial"/>
                <a:cs typeface="Arial"/>
                <a:sym typeface="Arial"/>
              </a:rPr>
              <a:t>Anomaly branch:</a:t>
            </a:r>
            <a:r>
              <a:rPr b="0" i="0" lang="it-IT" sz="2000" u="none" cap="none" strike="noStrike">
                <a:solidFill>
                  <a:schemeClr val="dk1"/>
                </a:solidFill>
                <a:latin typeface="Arial"/>
                <a:ea typeface="Arial"/>
                <a:cs typeface="Arial"/>
                <a:sym typeface="Arial"/>
              </a:rPr>
              <a:t> check for anomaly on the </a:t>
            </a:r>
            <a:r>
              <a:rPr lang="it-IT" sz="2000">
                <a:solidFill>
                  <a:schemeClr val="dk1"/>
                </a:solidFill>
              </a:rPr>
              <a:t>single line</a:t>
            </a:r>
            <a:r>
              <a:rPr b="0" i="0" lang="it-IT" sz="2000" u="none" cap="none" strike="noStrike">
                <a:solidFill>
                  <a:schemeClr val="dk1"/>
                </a:solidFill>
                <a:latin typeface="Arial"/>
                <a:ea typeface="Arial"/>
                <a:cs typeface="Arial"/>
                <a:sym typeface="Arial"/>
              </a:rPr>
              <a:t> scale</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201"/>
              </a:spcBef>
              <a:spcAft>
                <a:spcPts val="0"/>
              </a:spcAft>
              <a:buSzPct val="100000"/>
              <a:buFont typeface="Arial"/>
              <a:buNone/>
            </a:pPr>
            <a:r>
              <a:t/>
            </a:r>
            <a:endParaRPr b="0" i="0" sz="2000" u="none" cap="none" strike="noStrike">
              <a:solidFill>
                <a:srgbClr val="000000"/>
              </a:solidFill>
              <a:latin typeface="Arial"/>
              <a:ea typeface="Arial"/>
              <a:cs typeface="Arial"/>
              <a:sym typeface="Arial"/>
            </a:endParaRPr>
          </a:p>
        </p:txBody>
      </p:sp>
      <p:grpSp>
        <p:nvGrpSpPr>
          <p:cNvPr id="153" name="Google Shape;153;p4"/>
          <p:cNvGrpSpPr/>
          <p:nvPr/>
        </p:nvGrpSpPr>
        <p:grpSpPr>
          <a:xfrm>
            <a:off x="896725" y="1565640"/>
            <a:ext cx="10098376" cy="3750840"/>
            <a:chOff x="896725" y="1565640"/>
            <a:chExt cx="10098376" cy="3750840"/>
          </a:xfrm>
        </p:grpSpPr>
        <p:sp>
          <p:nvSpPr>
            <p:cNvPr id="154" name="Google Shape;154;p4"/>
            <p:cNvSpPr/>
            <p:nvPr/>
          </p:nvSpPr>
          <p:spPr>
            <a:xfrm>
              <a:off x="6523920" y="1565640"/>
              <a:ext cx="1193760" cy="306720"/>
            </a:xfrm>
            <a:prstGeom prst="rect">
              <a:avLst/>
            </a:prstGeom>
            <a:noFill/>
            <a:ln>
              <a:noFill/>
            </a:ln>
          </p:spPr>
          <p:txBody>
            <a:bodyPr anchorCtr="0" anchor="t" bIns="45000" lIns="90000" spcFirstLastPara="1" rIns="90000" wrap="square" tIns="45000">
              <a:spAutoFit/>
            </a:bodyPr>
            <a:lstStyle/>
            <a:p>
              <a:pPr indent="0" lvl="0" marL="0" marR="0" rtl="0" algn="ctr">
                <a:lnSpc>
                  <a:spcPct val="100000"/>
                </a:lnSpc>
                <a:spcBef>
                  <a:spcPts val="0"/>
                </a:spcBef>
                <a:spcAft>
                  <a:spcPts val="0"/>
                </a:spcAft>
                <a:buNone/>
              </a:pPr>
              <a:r>
                <a:rPr b="1" i="0" lang="it-IT" sz="1400" u="none" cap="none" strike="noStrike">
                  <a:solidFill>
                    <a:schemeClr val="accent2"/>
                  </a:solidFill>
                  <a:latin typeface="Arial"/>
                  <a:ea typeface="Arial"/>
                  <a:cs typeface="Arial"/>
                  <a:sym typeface="Arial"/>
                </a:rPr>
                <a:t>CS branch</a:t>
              </a:r>
              <a:endParaRPr b="0" i="0" sz="1400" u="none" cap="none" strike="noStrike">
                <a:solidFill>
                  <a:srgbClr val="000000"/>
                </a:solidFill>
                <a:latin typeface="Arial"/>
                <a:ea typeface="Arial"/>
                <a:cs typeface="Arial"/>
                <a:sym typeface="Arial"/>
              </a:endParaRPr>
            </a:p>
          </p:txBody>
        </p:sp>
        <p:pic>
          <p:nvPicPr>
            <p:cNvPr id="155" name="Google Shape;155;p4" title="branches.png"/>
            <p:cNvPicPr preferRelativeResize="0"/>
            <p:nvPr/>
          </p:nvPicPr>
          <p:blipFill rotWithShape="1">
            <a:blip r:embed="rId3">
              <a:alphaModFix/>
            </a:blip>
            <a:srcRect b="7908" l="0" r="0" t="10645"/>
            <a:stretch/>
          </p:blipFill>
          <p:spPr>
            <a:xfrm>
              <a:off x="896725" y="1919500"/>
              <a:ext cx="10098376" cy="2980088"/>
            </a:xfrm>
            <a:prstGeom prst="rect">
              <a:avLst/>
            </a:prstGeom>
            <a:noFill/>
            <a:ln>
              <a:noFill/>
            </a:ln>
          </p:spPr>
        </p:pic>
        <p:cxnSp>
          <p:nvCxnSpPr>
            <p:cNvPr id="156" name="Google Shape;156;p4"/>
            <p:cNvCxnSpPr/>
            <p:nvPr/>
          </p:nvCxnSpPr>
          <p:spPr>
            <a:xfrm>
              <a:off x="3375720" y="4943160"/>
              <a:ext cx="5408280" cy="1080"/>
            </a:xfrm>
            <a:prstGeom prst="straightConnector1">
              <a:avLst/>
            </a:prstGeom>
            <a:noFill/>
            <a:ln cap="flat" cmpd="sng" w="9525">
              <a:solidFill>
                <a:srgbClr val="00CAC2"/>
              </a:solidFill>
              <a:prstDash val="solid"/>
              <a:round/>
              <a:headEnd len="med" w="med" type="oval"/>
              <a:tailEnd len="med" w="med" type="oval"/>
            </a:ln>
          </p:spPr>
        </p:cxnSp>
        <p:sp>
          <p:nvSpPr>
            <p:cNvPr id="157" name="Google Shape;157;p4"/>
            <p:cNvSpPr/>
            <p:nvPr/>
          </p:nvSpPr>
          <p:spPr>
            <a:xfrm>
              <a:off x="5271840" y="5009760"/>
              <a:ext cx="1614240" cy="30672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1" i="0" lang="it-IT" sz="1400" u="none" cap="none" strike="noStrike">
                  <a:solidFill>
                    <a:schemeClr val="accent4"/>
                  </a:solidFill>
                  <a:latin typeface="Arial"/>
                  <a:ea typeface="Arial"/>
                  <a:cs typeface="Arial"/>
                  <a:sym typeface="Arial"/>
                </a:rPr>
                <a:t>Anomaly branch</a:t>
              </a:r>
              <a:endParaRPr b="0" i="0" sz="1400" u="none" cap="none" strike="noStrike">
                <a:solidFill>
                  <a:srgbClr val="000000"/>
                </a:solidFill>
                <a:latin typeface="Arial"/>
                <a:ea typeface="Arial"/>
                <a:cs typeface="Arial"/>
                <a:sym typeface="Arial"/>
              </a:endParaRPr>
            </a:p>
          </p:txBody>
        </p:sp>
      </p:grpSp>
      <p:cxnSp>
        <p:nvCxnSpPr>
          <p:cNvPr id="158" name="Google Shape;158;p4"/>
          <p:cNvCxnSpPr/>
          <p:nvPr/>
        </p:nvCxnSpPr>
        <p:spPr>
          <a:xfrm>
            <a:off x="3375720" y="1919520"/>
            <a:ext cx="7491960" cy="1080"/>
          </a:xfrm>
          <a:prstGeom prst="straightConnector1">
            <a:avLst/>
          </a:prstGeom>
          <a:noFill/>
          <a:ln cap="flat" cmpd="sng" w="9525">
            <a:solidFill>
              <a:srgbClr val="00648B"/>
            </a:solidFill>
            <a:prstDash val="solid"/>
            <a:round/>
            <a:headEnd len="med" w="med" type="oval"/>
            <a:tailEnd len="med" w="med" type="oval"/>
          </a:ln>
        </p:spPr>
      </p:cxn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3"/>
          <p:cNvSpPr txBox="1"/>
          <p:nvPr>
            <p:ph type="title"/>
          </p:nvPr>
        </p:nvSpPr>
        <p:spPr>
          <a:xfrm>
            <a:off x="146880" y="160200"/>
            <a:ext cx="11852640" cy="76248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accent1"/>
              </a:buClr>
              <a:buSzPts val="4400"/>
              <a:buFont typeface="Century Gothic"/>
              <a:buNone/>
            </a:pPr>
            <a:r>
              <a:rPr b="1" lang="it-IT" sz="4400" u="none" strike="noStrike">
                <a:solidFill>
                  <a:schemeClr val="accent1"/>
                </a:solidFill>
                <a:latin typeface="Century Gothic"/>
                <a:ea typeface="Century Gothic"/>
                <a:cs typeface="Century Gothic"/>
                <a:sym typeface="Century Gothic"/>
              </a:rPr>
              <a:t>Anomaly brach</a:t>
            </a:r>
            <a:endParaRPr b="0" sz="4400" u="none" strike="noStrike">
              <a:solidFill>
                <a:srgbClr val="000000"/>
              </a:solidFill>
              <a:latin typeface="Arial"/>
              <a:ea typeface="Arial"/>
              <a:cs typeface="Arial"/>
              <a:sym typeface="Arial"/>
            </a:endParaRPr>
          </a:p>
        </p:txBody>
      </p:sp>
      <p:sp>
        <p:nvSpPr>
          <p:cNvPr id="165" name="Google Shape;165;p13"/>
          <p:cNvSpPr/>
          <p:nvPr/>
        </p:nvSpPr>
        <p:spPr>
          <a:xfrm>
            <a:off x="290880" y="923760"/>
            <a:ext cx="11275920" cy="57924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None/>
            </a:pPr>
            <a:r>
              <a:rPr b="1" i="0" lang="it-IT" sz="2700" u="none" cap="none" strike="noStrike">
                <a:solidFill>
                  <a:schemeClr val="accent3"/>
                </a:solidFill>
                <a:latin typeface="Century Gothic"/>
                <a:ea typeface="Century Gothic"/>
                <a:cs typeface="Century Gothic"/>
                <a:sym typeface="Century Gothic"/>
              </a:rPr>
              <a:t>Proposed approach</a:t>
            </a:r>
            <a:endParaRPr b="0" i="0" sz="2700" u="none" cap="none" strike="noStrike">
              <a:solidFill>
                <a:srgbClr val="000000"/>
              </a:solidFill>
              <a:latin typeface="Arial"/>
              <a:ea typeface="Arial"/>
              <a:cs typeface="Arial"/>
              <a:sym typeface="Arial"/>
            </a:endParaRPr>
          </a:p>
        </p:txBody>
      </p:sp>
      <p:sp>
        <p:nvSpPr>
          <p:cNvPr id="166" name="Google Shape;166;p13"/>
          <p:cNvSpPr/>
          <p:nvPr/>
        </p:nvSpPr>
        <p:spPr>
          <a:xfrm>
            <a:off x="3190320" y="1355040"/>
            <a:ext cx="4894560" cy="260640"/>
          </a:xfrm>
          <a:prstGeom prst="rect">
            <a:avLst/>
          </a:prstGeom>
          <a:noFill/>
          <a:ln>
            <a:noFill/>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1" i="0" lang="it-IT" sz="1100" u="none" cap="none" strike="noStrike">
                <a:solidFill>
                  <a:schemeClr val="dk1"/>
                </a:solidFill>
                <a:latin typeface="Century Gothic"/>
                <a:ea typeface="Century Gothic"/>
                <a:cs typeface="Century Gothic"/>
                <a:sym typeface="Century Gothic"/>
              </a:rPr>
              <a:t>Spiking CNN autoencoder </a:t>
            </a:r>
            <a:endParaRPr b="0" i="0" sz="1100" u="none" cap="none" strike="noStrike">
              <a:solidFill>
                <a:srgbClr val="000000"/>
              </a:solidFill>
              <a:latin typeface="Arial"/>
              <a:ea typeface="Arial"/>
              <a:cs typeface="Arial"/>
              <a:sym typeface="Arial"/>
            </a:endParaRPr>
          </a:p>
        </p:txBody>
      </p:sp>
      <p:sp>
        <p:nvSpPr>
          <p:cNvPr id="167" name="Google Shape;167;p13"/>
          <p:cNvSpPr txBox="1"/>
          <p:nvPr>
            <p:ph idx="1" type="body"/>
          </p:nvPr>
        </p:nvSpPr>
        <p:spPr>
          <a:xfrm>
            <a:off x="2947505" y="4758625"/>
            <a:ext cx="5380200" cy="833100"/>
          </a:xfrm>
          <a:prstGeom prst="rect">
            <a:avLst/>
          </a:prstGeom>
          <a:noFill/>
          <a:ln>
            <a:noFill/>
          </a:ln>
        </p:spPr>
        <p:txBody>
          <a:bodyPr anchorCtr="0" anchor="t" bIns="46800" lIns="91425" spcFirstLastPara="1" rIns="91425" wrap="square" tIns="45700">
            <a:normAutofit/>
          </a:bodyPr>
          <a:lstStyle/>
          <a:p>
            <a:pPr indent="-266759" lvl="0" marL="266759" marR="0" rtl="0" algn="l">
              <a:lnSpc>
                <a:spcPct val="100000"/>
              </a:lnSpc>
              <a:spcBef>
                <a:spcPts val="0"/>
              </a:spcBef>
              <a:spcAft>
                <a:spcPts val="0"/>
              </a:spcAft>
              <a:buClr>
                <a:srgbClr val="00ACA7"/>
              </a:buClr>
              <a:buSzPts val="2000"/>
              <a:buFont typeface="Arial"/>
              <a:buChar char="•"/>
            </a:pPr>
            <a:r>
              <a:rPr lang="it-IT" sz="2000">
                <a:solidFill>
                  <a:schemeClr val="dk1"/>
                </a:solidFill>
              </a:rPr>
              <a:t>Still spiking network so low power usage</a:t>
            </a:r>
            <a:endParaRPr b="0" i="0" sz="2000" u="none" cap="none" strike="noStrike">
              <a:solidFill>
                <a:srgbClr val="000000"/>
              </a:solidFill>
              <a:latin typeface="Arial"/>
              <a:ea typeface="Arial"/>
              <a:cs typeface="Arial"/>
              <a:sym typeface="Arial"/>
            </a:endParaRPr>
          </a:p>
          <a:p>
            <a:pPr indent="-266759" lvl="0" marL="266759" marR="0" rtl="0" algn="l">
              <a:lnSpc>
                <a:spcPct val="100000"/>
              </a:lnSpc>
              <a:spcBef>
                <a:spcPts val="201"/>
              </a:spcBef>
              <a:spcAft>
                <a:spcPts val="0"/>
              </a:spcAft>
              <a:buClr>
                <a:srgbClr val="00ACA7"/>
              </a:buClr>
              <a:buSzPts val="2000"/>
              <a:buFont typeface="Arial"/>
              <a:buChar char="•"/>
            </a:pPr>
            <a:r>
              <a:rPr lang="it-IT" sz="2000">
                <a:solidFill>
                  <a:schemeClr val="dk1"/>
                </a:solidFill>
              </a:rPr>
              <a:t>Convolutions to retain high performance</a:t>
            </a:r>
            <a:endParaRPr b="0" i="0" sz="2000" u="none" cap="none" strike="noStrike">
              <a:solidFill>
                <a:srgbClr val="000000"/>
              </a:solidFill>
              <a:latin typeface="Arial"/>
              <a:ea typeface="Arial"/>
              <a:cs typeface="Arial"/>
              <a:sym typeface="Arial"/>
            </a:endParaRPr>
          </a:p>
        </p:txBody>
      </p:sp>
      <p:pic>
        <p:nvPicPr>
          <p:cNvPr id="168" name="Google Shape;168;p13"/>
          <p:cNvPicPr preferRelativeResize="0"/>
          <p:nvPr/>
        </p:nvPicPr>
        <p:blipFill rotWithShape="1">
          <a:blip r:embed="rId3">
            <a:alphaModFix/>
          </a:blip>
          <a:srcRect b="0" l="0" r="0" t="0"/>
          <a:stretch/>
        </p:blipFill>
        <p:spPr>
          <a:xfrm>
            <a:off x="3498120" y="1632600"/>
            <a:ext cx="4138920" cy="3022560"/>
          </a:xfrm>
          <a:prstGeom prst="rect">
            <a:avLst/>
          </a:prstGeom>
          <a:noFill/>
          <a:ln>
            <a:noFill/>
          </a:ln>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5"/>
          <p:cNvSpPr txBox="1"/>
          <p:nvPr>
            <p:ph type="title"/>
          </p:nvPr>
        </p:nvSpPr>
        <p:spPr>
          <a:xfrm>
            <a:off x="146880" y="160200"/>
            <a:ext cx="11852640" cy="76248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accent1"/>
              </a:buClr>
              <a:buSzPts val="4400"/>
              <a:buFont typeface="Century Gothic"/>
              <a:buNone/>
            </a:pPr>
            <a:r>
              <a:rPr b="1" lang="it-IT" sz="4400">
                <a:solidFill>
                  <a:schemeClr val="accent1"/>
                </a:solidFill>
                <a:latin typeface="Century Gothic"/>
                <a:ea typeface="Century Gothic"/>
                <a:cs typeface="Century Gothic"/>
                <a:sym typeface="Century Gothic"/>
              </a:rPr>
              <a:t>Anomaly detection</a:t>
            </a:r>
            <a:endParaRPr b="0" sz="4400" u="none" strike="noStrike">
              <a:solidFill>
                <a:srgbClr val="000000"/>
              </a:solidFill>
              <a:latin typeface="Arial"/>
              <a:ea typeface="Arial"/>
              <a:cs typeface="Arial"/>
              <a:sym typeface="Arial"/>
            </a:endParaRPr>
          </a:p>
        </p:txBody>
      </p:sp>
      <p:sp>
        <p:nvSpPr>
          <p:cNvPr id="175" name="Google Shape;175;p15"/>
          <p:cNvSpPr/>
          <p:nvPr/>
        </p:nvSpPr>
        <p:spPr>
          <a:xfrm>
            <a:off x="290880" y="923760"/>
            <a:ext cx="11275920" cy="57924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None/>
            </a:pPr>
            <a:r>
              <a:rPr b="1" i="0" lang="it-IT" sz="2700" u="none" cap="none" strike="noStrike">
                <a:solidFill>
                  <a:schemeClr val="accent3"/>
                </a:solidFill>
                <a:latin typeface="Century Gothic"/>
                <a:ea typeface="Century Gothic"/>
                <a:cs typeface="Century Gothic"/>
                <a:sym typeface="Century Gothic"/>
              </a:rPr>
              <a:t>Energy approach on Energy Net</a:t>
            </a:r>
            <a:r>
              <a:rPr b="1" lang="it-IT" sz="2700">
                <a:solidFill>
                  <a:schemeClr val="accent3"/>
                </a:solidFill>
                <a:latin typeface="Century Gothic"/>
                <a:ea typeface="Century Gothic"/>
                <a:cs typeface="Century Gothic"/>
                <a:sym typeface="Century Gothic"/>
              </a:rPr>
              <a:t>work</a:t>
            </a:r>
            <a:endParaRPr b="0" i="0" sz="2700" u="none" cap="none" strike="noStrike">
              <a:solidFill>
                <a:srgbClr val="000000"/>
              </a:solidFill>
              <a:latin typeface="Arial"/>
              <a:ea typeface="Arial"/>
              <a:cs typeface="Arial"/>
              <a:sym typeface="Arial"/>
            </a:endParaRPr>
          </a:p>
        </p:txBody>
      </p:sp>
      <p:sp>
        <p:nvSpPr>
          <p:cNvPr id="176" name="Google Shape;176;p15"/>
          <p:cNvSpPr txBox="1"/>
          <p:nvPr>
            <p:ph idx="1" type="body"/>
          </p:nvPr>
        </p:nvSpPr>
        <p:spPr>
          <a:xfrm>
            <a:off x="290875" y="1614900"/>
            <a:ext cx="5360100" cy="1600200"/>
          </a:xfrm>
          <a:prstGeom prst="rect">
            <a:avLst/>
          </a:prstGeom>
          <a:noFill/>
          <a:ln>
            <a:noFill/>
          </a:ln>
        </p:spPr>
        <p:txBody>
          <a:bodyPr anchorCtr="0" anchor="t" bIns="46800" lIns="91425" spcFirstLastPara="1" rIns="91425" wrap="square" tIns="45700">
            <a:normAutofit lnSpcReduction="10000"/>
          </a:bodyPr>
          <a:lstStyle/>
          <a:p>
            <a:pPr indent="0" lvl="0" marL="0" marR="0" rtl="0" algn="l">
              <a:lnSpc>
                <a:spcPct val="100000"/>
              </a:lnSpc>
              <a:spcBef>
                <a:spcPts val="0"/>
              </a:spcBef>
              <a:spcAft>
                <a:spcPts val="0"/>
              </a:spcAft>
              <a:buNone/>
            </a:pPr>
            <a:r>
              <a:rPr lang="it-IT" sz="2000">
                <a:solidFill>
                  <a:schemeClr val="dk1"/>
                </a:solidFill>
              </a:rPr>
              <a:t>on standard networks:</a:t>
            </a:r>
            <a:endParaRPr sz="2000">
              <a:solidFill>
                <a:schemeClr val="dk1"/>
              </a:solidFill>
            </a:endParaRPr>
          </a:p>
          <a:p>
            <a:pPr indent="-266759" lvl="0" marL="266759" marR="0" rtl="0" algn="l">
              <a:lnSpc>
                <a:spcPct val="100000"/>
              </a:lnSpc>
              <a:spcBef>
                <a:spcPts val="0"/>
              </a:spcBef>
              <a:spcAft>
                <a:spcPts val="0"/>
              </a:spcAft>
              <a:buClr>
                <a:srgbClr val="00ACA7"/>
              </a:buClr>
              <a:buSzPts val="2000"/>
              <a:buFont typeface="Arial"/>
              <a:buChar char="•"/>
            </a:pPr>
            <a:r>
              <a:rPr lang="it-IT" sz="2000">
                <a:solidFill>
                  <a:schemeClr val="dk1"/>
                </a:solidFill>
              </a:rPr>
              <a:t>Shift focus on OOD detection [4]</a:t>
            </a:r>
            <a:endParaRPr b="0" i="0" sz="2000" u="none" cap="none" strike="noStrike">
              <a:solidFill>
                <a:srgbClr val="000000"/>
              </a:solidFill>
              <a:latin typeface="Arial"/>
              <a:ea typeface="Arial"/>
              <a:cs typeface="Arial"/>
              <a:sym typeface="Arial"/>
            </a:endParaRPr>
          </a:p>
          <a:p>
            <a:pPr indent="-266760" lvl="0" marL="266760" marR="0" rtl="0" algn="l">
              <a:lnSpc>
                <a:spcPct val="100000"/>
              </a:lnSpc>
              <a:spcBef>
                <a:spcPts val="201"/>
              </a:spcBef>
              <a:spcAft>
                <a:spcPts val="0"/>
              </a:spcAft>
              <a:buClr>
                <a:srgbClr val="00ACA7"/>
              </a:buClr>
              <a:buSzPts val="2000"/>
              <a:buFont typeface="Arial"/>
              <a:buChar char="•"/>
            </a:pPr>
            <a:r>
              <a:rPr b="0" i="0" lang="it-IT" sz="2000" u="none" cap="none" strike="noStrike">
                <a:solidFill>
                  <a:schemeClr val="dk1"/>
                </a:solidFill>
                <a:latin typeface="Arial"/>
                <a:ea typeface="Arial"/>
                <a:cs typeface="Arial"/>
                <a:sym typeface="Arial"/>
              </a:rPr>
              <a:t>Can use previously trained models</a:t>
            </a:r>
            <a:endParaRPr b="0" i="0" sz="2000" u="none" cap="none" strike="noStrike">
              <a:solidFill>
                <a:srgbClr val="000000"/>
              </a:solidFill>
              <a:latin typeface="Arial"/>
              <a:ea typeface="Arial"/>
              <a:cs typeface="Arial"/>
              <a:sym typeface="Arial"/>
            </a:endParaRPr>
          </a:p>
          <a:p>
            <a:pPr indent="-266760" lvl="0" marL="266760" marR="0" rtl="0" algn="l">
              <a:lnSpc>
                <a:spcPct val="100000"/>
              </a:lnSpc>
              <a:spcBef>
                <a:spcPts val="201"/>
              </a:spcBef>
              <a:spcAft>
                <a:spcPts val="0"/>
              </a:spcAft>
              <a:buClr>
                <a:srgbClr val="00ACA7"/>
              </a:buClr>
              <a:buSzPts val="2000"/>
              <a:buFont typeface="Arial"/>
              <a:buChar char="•"/>
            </a:pPr>
            <a:r>
              <a:rPr b="0" i="0" lang="it-IT" sz="2000" u="none" cap="none" strike="noStrike">
                <a:solidFill>
                  <a:schemeClr val="dk1"/>
                </a:solidFill>
                <a:latin typeface="Arial"/>
                <a:ea typeface="Arial"/>
                <a:cs typeface="Arial"/>
                <a:sym typeface="Arial"/>
              </a:rPr>
              <a:t>Checks the difference in logits </a:t>
            </a:r>
            <a:r>
              <a:rPr lang="it-IT" sz="2000">
                <a:solidFill>
                  <a:schemeClr val="dk1"/>
                </a:solidFill>
              </a:rPr>
              <a:t>between</a:t>
            </a:r>
            <a:r>
              <a:rPr b="0" i="0" lang="it-IT" sz="2000" u="none" cap="none" strike="noStrike">
                <a:solidFill>
                  <a:schemeClr val="dk1"/>
                </a:solidFill>
                <a:latin typeface="Arial"/>
                <a:ea typeface="Arial"/>
                <a:cs typeface="Arial"/>
                <a:sym typeface="Arial"/>
              </a:rPr>
              <a:t> in and out of distributions samples</a:t>
            </a:r>
            <a:endParaRPr b="0" i="0" sz="2000" u="none" cap="none" strike="noStrike">
              <a:solidFill>
                <a:srgbClr val="000000"/>
              </a:solidFill>
              <a:latin typeface="Arial"/>
              <a:ea typeface="Arial"/>
              <a:cs typeface="Arial"/>
              <a:sym typeface="Arial"/>
            </a:endParaRPr>
          </a:p>
        </p:txBody>
      </p:sp>
      <p:sp>
        <p:nvSpPr>
          <p:cNvPr id="177" name="Google Shape;177;p15"/>
          <p:cNvSpPr/>
          <p:nvPr/>
        </p:nvSpPr>
        <p:spPr>
          <a:xfrm>
            <a:off x="0" y="5982480"/>
            <a:ext cx="12191040" cy="289440"/>
          </a:xfrm>
          <a:prstGeom prst="rect">
            <a:avLst/>
          </a:prstGeom>
          <a:noFill/>
          <a:ln>
            <a:noFill/>
          </a:ln>
        </p:spPr>
        <p:txBody>
          <a:bodyPr anchorCtr="0" anchor="t" bIns="69100" lIns="90000" spcFirstLastPara="1" rIns="90000" wrap="square" tIns="69100">
            <a:spAutoFit/>
          </a:bodyPr>
          <a:lstStyle/>
          <a:p>
            <a:pPr indent="0" lvl="0" marL="0" marR="0" rtl="0" algn="ctr">
              <a:lnSpc>
                <a:spcPct val="90000"/>
              </a:lnSpc>
              <a:spcBef>
                <a:spcPts val="0"/>
              </a:spcBef>
              <a:spcAft>
                <a:spcPts val="0"/>
              </a:spcAft>
              <a:buNone/>
            </a:pPr>
            <a:r>
              <a:rPr b="0" i="0" lang="it-IT" sz="1000" u="none" cap="none" strike="noStrike">
                <a:solidFill>
                  <a:srgbClr val="7F7F7F"/>
                </a:solidFill>
                <a:highlight>
                  <a:srgbClr val="FFFFFF"/>
                </a:highlight>
                <a:latin typeface="Arial"/>
                <a:ea typeface="Arial"/>
                <a:cs typeface="Arial"/>
                <a:sym typeface="Arial"/>
              </a:rPr>
              <a:t>[</a:t>
            </a:r>
            <a:r>
              <a:rPr lang="it-IT" sz="1000">
                <a:solidFill>
                  <a:srgbClr val="7F7F7F"/>
                </a:solidFill>
                <a:highlight>
                  <a:srgbClr val="FFFFFF"/>
                </a:highlight>
              </a:rPr>
              <a:t>4</a:t>
            </a:r>
            <a:r>
              <a:rPr b="0" i="0" lang="it-IT" sz="1000" u="none" cap="none" strike="noStrike">
                <a:solidFill>
                  <a:srgbClr val="7F7F7F"/>
                </a:solidFill>
                <a:highlight>
                  <a:srgbClr val="FFFFFF"/>
                </a:highlight>
                <a:latin typeface="Arial"/>
                <a:ea typeface="Arial"/>
                <a:cs typeface="Arial"/>
                <a:sym typeface="Arial"/>
              </a:rPr>
              <a:t>]Liu, W., Wang, X., Owens, J. D., &amp; Li, Y. (2021, April 26). Energy-based out-of-distribution detection. ArXiv https://arxiv.org/pdf/2010.03759</a:t>
            </a:r>
            <a:endParaRPr b="0" i="0" sz="1000" u="none" cap="none" strike="noStrike">
              <a:solidFill>
                <a:srgbClr val="000000"/>
              </a:solidFill>
              <a:latin typeface="Arial"/>
              <a:ea typeface="Arial"/>
              <a:cs typeface="Arial"/>
              <a:sym typeface="Arial"/>
            </a:endParaRPr>
          </a:p>
        </p:txBody>
      </p:sp>
      <p:pic>
        <p:nvPicPr>
          <p:cNvPr id="178" name="Google Shape;178;p15"/>
          <p:cNvPicPr preferRelativeResize="0"/>
          <p:nvPr/>
        </p:nvPicPr>
        <p:blipFill rotWithShape="1">
          <a:blip r:embed="rId3">
            <a:alphaModFix/>
          </a:blip>
          <a:srcRect b="0" l="0" r="0" t="0"/>
          <a:stretch/>
        </p:blipFill>
        <p:spPr>
          <a:xfrm>
            <a:off x="339100" y="3404937"/>
            <a:ext cx="5411876" cy="1878225"/>
          </a:xfrm>
          <a:prstGeom prst="rect">
            <a:avLst/>
          </a:prstGeom>
          <a:noFill/>
          <a:ln>
            <a:noFill/>
          </a:ln>
        </p:spPr>
      </p:pic>
      <p:sp>
        <p:nvSpPr>
          <p:cNvPr id="179" name="Google Shape;179;p15"/>
          <p:cNvSpPr txBox="1"/>
          <p:nvPr>
            <p:ph idx="1" type="body"/>
          </p:nvPr>
        </p:nvSpPr>
        <p:spPr>
          <a:xfrm>
            <a:off x="6298675" y="1614900"/>
            <a:ext cx="5360100" cy="1600200"/>
          </a:xfrm>
          <a:prstGeom prst="rect">
            <a:avLst/>
          </a:prstGeom>
          <a:noFill/>
          <a:ln>
            <a:noFill/>
          </a:ln>
        </p:spPr>
        <p:txBody>
          <a:bodyPr anchorCtr="0" anchor="t" bIns="46800" lIns="91425" spcFirstLastPara="1" rIns="91425" wrap="square" tIns="45700">
            <a:normAutofit lnSpcReduction="10000"/>
          </a:bodyPr>
          <a:lstStyle/>
          <a:p>
            <a:pPr indent="0" lvl="0" marL="0" marR="0" rtl="0" algn="l">
              <a:lnSpc>
                <a:spcPct val="100000"/>
              </a:lnSpc>
              <a:spcBef>
                <a:spcPts val="0"/>
              </a:spcBef>
              <a:spcAft>
                <a:spcPts val="0"/>
              </a:spcAft>
              <a:buNone/>
            </a:pPr>
            <a:r>
              <a:rPr lang="it-IT" sz="2000">
                <a:solidFill>
                  <a:schemeClr val="dk1"/>
                </a:solidFill>
              </a:rPr>
              <a:t>on spiking network:</a:t>
            </a:r>
            <a:endParaRPr sz="2000">
              <a:solidFill>
                <a:schemeClr val="dk1"/>
              </a:solidFill>
            </a:endParaRPr>
          </a:p>
          <a:p>
            <a:pPr indent="-266759" lvl="0" marL="266759" marR="0" rtl="0" algn="l">
              <a:lnSpc>
                <a:spcPct val="100000"/>
              </a:lnSpc>
              <a:spcBef>
                <a:spcPts val="0"/>
              </a:spcBef>
              <a:spcAft>
                <a:spcPts val="0"/>
              </a:spcAft>
              <a:buClr>
                <a:srgbClr val="00ACA7"/>
              </a:buClr>
              <a:buSzPts val="2000"/>
              <a:buFont typeface="Arial"/>
              <a:buChar char="•"/>
            </a:pPr>
            <a:r>
              <a:rPr lang="it-IT" sz="2000">
                <a:solidFill>
                  <a:schemeClr val="dk1"/>
                </a:solidFill>
              </a:rPr>
              <a:t>Energy baked into the network and hardware</a:t>
            </a:r>
            <a:endParaRPr b="0" i="0" sz="2000" u="none" cap="none" strike="noStrike">
              <a:solidFill>
                <a:srgbClr val="000000"/>
              </a:solidFill>
              <a:latin typeface="Arial"/>
              <a:ea typeface="Arial"/>
              <a:cs typeface="Arial"/>
              <a:sym typeface="Arial"/>
            </a:endParaRPr>
          </a:p>
          <a:p>
            <a:pPr indent="-266759" lvl="0" marL="266759" marR="0" rtl="0" algn="l">
              <a:lnSpc>
                <a:spcPct val="100000"/>
              </a:lnSpc>
              <a:spcBef>
                <a:spcPts val="201"/>
              </a:spcBef>
              <a:spcAft>
                <a:spcPts val="0"/>
              </a:spcAft>
              <a:buClr>
                <a:srgbClr val="00ACA7"/>
              </a:buClr>
              <a:buSzPts val="2000"/>
              <a:buFont typeface="Arial"/>
              <a:buChar char="•"/>
            </a:pPr>
            <a:r>
              <a:rPr b="0" i="0" lang="it-IT" sz="2000" u="none" cap="none" strike="noStrike">
                <a:solidFill>
                  <a:schemeClr val="dk1"/>
                </a:solidFill>
                <a:latin typeface="Arial"/>
                <a:ea typeface="Arial"/>
                <a:cs typeface="Arial"/>
                <a:sym typeface="Arial"/>
              </a:rPr>
              <a:t>Can use </a:t>
            </a:r>
            <a:r>
              <a:rPr lang="it-IT" sz="2000">
                <a:solidFill>
                  <a:schemeClr val="dk1"/>
                </a:solidFill>
              </a:rPr>
              <a:t>directly the summation of the spikes</a:t>
            </a:r>
            <a:endParaRPr b="0" i="0" sz="2000" u="none" cap="none" strike="noStrike">
              <a:solidFill>
                <a:srgbClr val="000000"/>
              </a:solidFill>
              <a:latin typeface="Arial"/>
              <a:ea typeface="Arial"/>
              <a:cs typeface="Arial"/>
              <a:sym typeface="Arial"/>
            </a:endParaRPr>
          </a:p>
        </p:txBody>
      </p:sp>
      <p:pic>
        <p:nvPicPr>
          <p:cNvPr id="180" name="Google Shape;180;p15"/>
          <p:cNvPicPr preferRelativeResize="0"/>
          <p:nvPr/>
        </p:nvPicPr>
        <p:blipFill rotWithShape="1">
          <a:blip r:embed="rId4">
            <a:alphaModFix/>
          </a:blip>
          <a:srcRect b="16089" l="0" r="0" t="22760"/>
          <a:stretch/>
        </p:blipFill>
        <p:spPr>
          <a:xfrm>
            <a:off x="7050825" y="3327000"/>
            <a:ext cx="3326201" cy="2034101"/>
          </a:xfrm>
          <a:prstGeom prst="rect">
            <a:avLst/>
          </a:prstGeom>
          <a:noFill/>
          <a:ln>
            <a:noFill/>
          </a:ln>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6"/>
          <p:cNvSpPr txBox="1"/>
          <p:nvPr>
            <p:ph type="title"/>
          </p:nvPr>
        </p:nvSpPr>
        <p:spPr>
          <a:xfrm>
            <a:off x="146880" y="160200"/>
            <a:ext cx="11852640" cy="76248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accent1"/>
              </a:buClr>
              <a:buSzPts val="4400"/>
              <a:buFont typeface="Century Gothic"/>
              <a:buNone/>
            </a:pPr>
            <a:r>
              <a:rPr b="1" lang="it-IT" sz="4400" u="none" strike="noStrike">
                <a:solidFill>
                  <a:schemeClr val="accent1"/>
                </a:solidFill>
                <a:latin typeface="Century Gothic"/>
                <a:ea typeface="Century Gothic"/>
                <a:cs typeface="Century Gothic"/>
                <a:sym typeface="Century Gothic"/>
              </a:rPr>
              <a:t>CS brach - Classification</a:t>
            </a:r>
            <a:endParaRPr b="0" sz="4400" u="none" strike="noStrike">
              <a:solidFill>
                <a:srgbClr val="000000"/>
              </a:solidFill>
              <a:latin typeface="Arial"/>
              <a:ea typeface="Arial"/>
              <a:cs typeface="Arial"/>
              <a:sym typeface="Arial"/>
            </a:endParaRPr>
          </a:p>
        </p:txBody>
      </p:sp>
      <p:sp>
        <p:nvSpPr>
          <p:cNvPr id="187" name="Google Shape;187;p6"/>
          <p:cNvSpPr/>
          <p:nvPr/>
        </p:nvSpPr>
        <p:spPr>
          <a:xfrm>
            <a:off x="290880" y="923760"/>
            <a:ext cx="11275920" cy="57924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None/>
            </a:pPr>
            <a:r>
              <a:rPr b="1" i="0" lang="it-IT" sz="2700" u="none" cap="none" strike="noStrike">
                <a:solidFill>
                  <a:schemeClr val="accent3"/>
                </a:solidFill>
                <a:latin typeface="Century Gothic"/>
                <a:ea typeface="Century Gothic"/>
                <a:cs typeface="Century Gothic"/>
                <a:sym typeface="Century Gothic"/>
              </a:rPr>
              <a:t>Results </a:t>
            </a:r>
            <a:r>
              <a:rPr b="1" lang="it-IT" sz="2700">
                <a:solidFill>
                  <a:schemeClr val="accent3"/>
                </a:solidFill>
                <a:latin typeface="Century Gothic"/>
                <a:ea typeface="Century Gothic"/>
                <a:cs typeface="Century Gothic"/>
                <a:sym typeface="Century Gothic"/>
              </a:rPr>
              <a:t>linear models</a:t>
            </a:r>
            <a:r>
              <a:rPr b="1" i="0" lang="it-IT" sz="2700" u="none" cap="none" strike="noStrike">
                <a:solidFill>
                  <a:schemeClr val="accent3"/>
                </a:solidFill>
                <a:latin typeface="Century Gothic"/>
                <a:ea typeface="Century Gothic"/>
                <a:cs typeface="Century Gothic"/>
                <a:sym typeface="Century Gothic"/>
              </a:rPr>
              <a:t> mnist and CIFAR10</a:t>
            </a:r>
            <a:endParaRPr b="0" i="0" sz="2700" u="none" cap="none" strike="noStrike">
              <a:solidFill>
                <a:srgbClr val="000000"/>
              </a:solidFill>
              <a:latin typeface="Arial"/>
              <a:ea typeface="Arial"/>
              <a:cs typeface="Arial"/>
              <a:sym typeface="Arial"/>
            </a:endParaRPr>
          </a:p>
        </p:txBody>
      </p:sp>
      <p:graphicFrame>
        <p:nvGraphicFramePr>
          <p:cNvPr id="188" name="Google Shape;188;p6"/>
          <p:cNvGraphicFramePr/>
          <p:nvPr/>
        </p:nvGraphicFramePr>
        <p:xfrm>
          <a:off x="2031840" y="1711665"/>
          <a:ext cx="3000000" cy="3000000"/>
        </p:xfrm>
        <a:graphic>
          <a:graphicData uri="http://schemas.openxmlformats.org/drawingml/2006/table">
            <a:tbl>
              <a:tblPr>
                <a:noFill/>
                <a:tableStyleId>{E1C77492-6C3E-43B7-82BC-CB507C7431A0}</a:tableStyleId>
              </a:tblPr>
              <a:tblGrid>
                <a:gridCol w="2157700"/>
                <a:gridCol w="3384625"/>
                <a:gridCol w="3153775"/>
              </a:tblGrid>
              <a:tr h="464575">
                <a:tc>
                  <a:txBody>
                    <a:bodyPr/>
                    <a:lstStyle/>
                    <a:p>
                      <a:pPr indent="0" lvl="0" marL="0" marR="0" rtl="0" algn="l">
                        <a:lnSpc>
                          <a:spcPct val="100000"/>
                        </a:lnSpc>
                        <a:spcBef>
                          <a:spcPts val="0"/>
                        </a:spcBef>
                        <a:spcAft>
                          <a:spcPts val="0"/>
                        </a:spcAft>
                        <a:buNone/>
                      </a:pPr>
                      <a:r>
                        <a:rPr b="1" lang="it-IT">
                          <a:solidFill>
                            <a:schemeClr val="dk1"/>
                          </a:solidFill>
                        </a:rPr>
                        <a:t>Cases</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it-IT">
                          <a:solidFill>
                            <a:schemeClr val="dk1"/>
                          </a:solidFill>
                        </a:rPr>
                        <a:t>NN energy</a:t>
                      </a:r>
                      <a:endParaRPr b="1">
                        <a:solidFill>
                          <a:schemeClr val="dk1"/>
                        </a:solidFill>
                      </a:endParaRPr>
                    </a:p>
                    <a:p>
                      <a:pPr indent="0" lvl="0" marL="0" marR="0" rtl="0" algn="l">
                        <a:lnSpc>
                          <a:spcPct val="100000"/>
                        </a:lnSpc>
                        <a:spcBef>
                          <a:spcPts val="0"/>
                        </a:spcBef>
                        <a:spcAft>
                          <a:spcPts val="0"/>
                        </a:spcAft>
                        <a:buNone/>
                      </a:pPr>
                      <a:r>
                        <a:rPr b="1" lang="it-IT">
                          <a:solidFill>
                            <a:schemeClr val="dk1"/>
                          </a:solidFill>
                        </a:rPr>
                        <a:t>−T⋅log(i=∑​exp(logit_i​​/T))</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it-IT">
                          <a:solidFill>
                            <a:schemeClr val="dk1"/>
                          </a:solidFill>
                        </a:rPr>
                        <a:t>SNN Firing rate (HZ)</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tcPr>
                </a:tc>
              </a:tr>
              <a:tr h="406025">
                <a:tc>
                  <a:txBody>
                    <a:bodyPr/>
                    <a:lstStyle/>
                    <a:p>
                      <a:pPr indent="0" lvl="0" marL="0" rtl="0" algn="l">
                        <a:spcBef>
                          <a:spcPts val="0"/>
                        </a:spcBef>
                        <a:spcAft>
                          <a:spcPts val="0"/>
                        </a:spcAft>
                        <a:buClr>
                          <a:schemeClr val="dk1"/>
                        </a:buClr>
                        <a:buFont typeface="Arial"/>
                        <a:buNone/>
                      </a:pPr>
                      <a:r>
                        <a:rPr lang="it-IT">
                          <a:solidFill>
                            <a:schemeClr val="dk1"/>
                          </a:solidFill>
                        </a:rPr>
                        <a:t>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Font typeface="Arial"/>
                        <a:buNone/>
                      </a:pPr>
                      <a:r>
                        <a:rPr lang="it-IT">
                          <a:solidFill>
                            <a:schemeClr val="dk1"/>
                          </a:solidFill>
                        </a:rPr>
                        <a:t>-5.40</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None/>
                      </a:pPr>
                      <a:r>
                        <a:rPr lang="it-IT">
                          <a:solidFill>
                            <a:schemeClr val="dk1"/>
                          </a:solidFill>
                        </a:rPr>
                        <a:t>4.20</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r>
              <a:tr h="370075">
                <a:tc>
                  <a:txBody>
                    <a:bodyPr/>
                    <a:lstStyle/>
                    <a:p>
                      <a:pPr indent="0" lvl="0" marL="0" marR="0" rtl="0" algn="l">
                        <a:lnSpc>
                          <a:spcPct val="100000"/>
                        </a:lnSpc>
                        <a:spcBef>
                          <a:spcPts val="0"/>
                        </a:spcBef>
                        <a:spcAft>
                          <a:spcPts val="0"/>
                        </a:spcAft>
                        <a:buNone/>
                      </a:pPr>
                      <a:r>
                        <a:rPr lang="it-IT">
                          <a:solidFill>
                            <a:schemeClr val="dk1"/>
                          </a:solidFill>
                        </a:rPr>
                        <a:t>1.1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it-IT">
                          <a:solidFill>
                            <a:schemeClr val="dk1"/>
                          </a:solidFill>
                        </a:rPr>
                        <a:t>-3.70</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it-IT">
                          <a:solidFill>
                            <a:schemeClr val="dk1"/>
                          </a:solidFill>
                        </a:rPr>
                        <a:t>5.01</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370075">
                <a:tc>
                  <a:txBody>
                    <a:bodyPr/>
                    <a:lstStyle/>
                    <a:p>
                      <a:pPr indent="0" lvl="0" marL="0" marR="0" rtl="0" algn="l">
                        <a:lnSpc>
                          <a:spcPct val="100000"/>
                        </a:lnSpc>
                        <a:spcBef>
                          <a:spcPts val="0"/>
                        </a:spcBef>
                        <a:spcAft>
                          <a:spcPts val="0"/>
                        </a:spcAft>
                        <a:buClr>
                          <a:schemeClr val="dk1"/>
                        </a:buClr>
                        <a:buFont typeface="Arial"/>
                        <a:buNone/>
                      </a:pPr>
                      <a:r>
                        <a:rPr lang="it-IT">
                          <a:solidFill>
                            <a:schemeClr val="dk1"/>
                          </a:solidFill>
                        </a:rPr>
                        <a:t>1.2</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Font typeface="Arial"/>
                        <a:buNone/>
                      </a:pPr>
                      <a:r>
                        <a:rPr lang="it-IT">
                          <a:solidFill>
                            <a:schemeClr val="dk1"/>
                          </a:solidFill>
                        </a:rPr>
                        <a:t>-3.75</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c>
                  <a:txBody>
                    <a:bodyPr/>
                    <a:lstStyle/>
                    <a:p>
                      <a:pPr indent="0" lvl="0" marL="0" marR="0" rtl="0" algn="l">
                        <a:spcBef>
                          <a:spcPts val="0"/>
                        </a:spcBef>
                        <a:spcAft>
                          <a:spcPts val="0"/>
                        </a:spcAft>
                        <a:buNone/>
                      </a:pPr>
                      <a:r>
                        <a:rPr lang="it-IT">
                          <a:solidFill>
                            <a:schemeClr val="dk1"/>
                          </a:solidFill>
                        </a:rPr>
                        <a:t>4.95</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r>
              <a:tr h="370075">
                <a:tc>
                  <a:txBody>
                    <a:bodyPr/>
                    <a:lstStyle/>
                    <a:p>
                      <a:pPr indent="0" lvl="0" marL="0" marR="0" rtl="0" algn="l">
                        <a:lnSpc>
                          <a:spcPct val="100000"/>
                        </a:lnSpc>
                        <a:spcBef>
                          <a:spcPts val="0"/>
                        </a:spcBef>
                        <a:spcAft>
                          <a:spcPts val="0"/>
                        </a:spcAft>
                        <a:buNone/>
                      </a:pPr>
                      <a:r>
                        <a:rPr lang="it-IT">
                          <a:solidFill>
                            <a:schemeClr val="dk1"/>
                          </a:solidFill>
                        </a:rPr>
                        <a:t>2</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lang="it-IT">
                          <a:solidFill>
                            <a:schemeClr val="dk1"/>
                          </a:solidFill>
                        </a:rPr>
                        <a:t>-3.8</a:t>
                      </a:r>
                      <a:r>
                        <a:rPr lang="it-IT">
                          <a:solidFill>
                            <a:schemeClr val="dk1"/>
                          </a:solidFill>
                        </a:rPr>
                        <a:t>8</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it-IT">
                          <a:solidFill>
                            <a:schemeClr val="dk1"/>
                          </a:solidFill>
                        </a:rPr>
                        <a:t>4.99</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bl>
          </a:graphicData>
        </a:graphic>
      </p:graphicFrame>
      <p:sp>
        <p:nvSpPr>
          <p:cNvPr id="189" name="Google Shape;189;p6"/>
          <p:cNvSpPr txBox="1"/>
          <p:nvPr/>
        </p:nvSpPr>
        <p:spPr>
          <a:xfrm>
            <a:off x="2031838" y="4625525"/>
            <a:ext cx="8696100" cy="144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IT"/>
              <a:t>case 1 ID, so on the same mnist dataset</a:t>
            </a:r>
            <a:endParaRPr/>
          </a:p>
          <a:p>
            <a:pPr indent="0" lvl="0" marL="0" rtl="0" algn="l">
              <a:spcBef>
                <a:spcPts val="0"/>
              </a:spcBef>
              <a:spcAft>
                <a:spcPts val="0"/>
              </a:spcAft>
              <a:buNone/>
            </a:pPr>
            <a:r>
              <a:rPr lang="it-IT"/>
              <a:t>case 1.1 OOD, with gaussian blur</a:t>
            </a:r>
            <a:endParaRPr/>
          </a:p>
          <a:p>
            <a:pPr indent="0" lvl="0" marL="0" rtl="0" algn="l">
              <a:spcBef>
                <a:spcPts val="0"/>
              </a:spcBef>
              <a:spcAft>
                <a:spcPts val="0"/>
              </a:spcAft>
              <a:buNone/>
            </a:pPr>
            <a:r>
              <a:rPr lang="it-IT">
                <a:solidFill>
                  <a:schemeClr val="dk1"/>
                </a:solidFill>
              </a:rPr>
              <a:t>case 1.2 OOD, with a RFI-like noise</a:t>
            </a:r>
            <a:endParaRPr>
              <a:solidFill>
                <a:schemeClr val="dk1"/>
              </a:solidFill>
            </a:endParaRPr>
          </a:p>
          <a:p>
            <a:pPr indent="0" lvl="0" marL="0" rtl="0" algn="l">
              <a:spcBef>
                <a:spcPts val="0"/>
              </a:spcBef>
              <a:spcAft>
                <a:spcPts val="0"/>
              </a:spcAft>
              <a:buNone/>
            </a:pPr>
            <a:r>
              <a:rPr lang="it-IT">
                <a:solidFill>
                  <a:schemeClr val="dk1"/>
                </a:solidFill>
              </a:rPr>
              <a:t>case 2 OOD, with CIFAR10 images in grayscale and 28*28</a:t>
            </a:r>
            <a:endParaRPr>
              <a:solidFill>
                <a:schemeClr val="dk1"/>
              </a:solidFill>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b1faa251c2_1_16"/>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accent1"/>
              </a:buClr>
              <a:buSzPts val="4400"/>
              <a:buFont typeface="Century Gothic"/>
              <a:buNone/>
            </a:pPr>
            <a:r>
              <a:rPr b="1" lang="it-IT" sz="4400">
                <a:solidFill>
                  <a:schemeClr val="accent1"/>
                </a:solidFill>
                <a:latin typeface="Century Gothic"/>
                <a:ea typeface="Century Gothic"/>
                <a:cs typeface="Century Gothic"/>
                <a:sym typeface="Century Gothic"/>
              </a:rPr>
              <a:t>Energy bridge </a:t>
            </a:r>
            <a:r>
              <a:rPr b="1" lang="it-IT" sz="4400">
                <a:solidFill>
                  <a:schemeClr val="accent1"/>
                </a:solidFill>
                <a:latin typeface="Century Gothic"/>
                <a:ea typeface="Century Gothic"/>
                <a:cs typeface="Century Gothic"/>
                <a:sym typeface="Century Gothic"/>
              </a:rPr>
              <a:t>hypothesis</a:t>
            </a:r>
            <a:endParaRPr b="0" sz="4400" u="none" strike="noStrike">
              <a:solidFill>
                <a:srgbClr val="000000"/>
              </a:solidFill>
              <a:latin typeface="Arial"/>
              <a:ea typeface="Arial"/>
              <a:cs typeface="Arial"/>
              <a:sym typeface="Arial"/>
            </a:endParaRPr>
          </a:p>
        </p:txBody>
      </p:sp>
      <p:sp>
        <p:nvSpPr>
          <p:cNvPr id="196" name="Google Shape;196;g3b1faa251c2_1_16"/>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None/>
            </a:pPr>
            <a:r>
              <a:rPr b="1" lang="it-IT" sz="2700">
                <a:solidFill>
                  <a:schemeClr val="accent3"/>
                </a:solidFill>
                <a:latin typeface="Century Gothic"/>
                <a:ea typeface="Century Gothic"/>
                <a:cs typeface="Century Gothic"/>
                <a:sym typeface="Century Gothic"/>
              </a:rPr>
              <a:t>Is NN energy [1] proportional to SNN firing rate? </a:t>
            </a:r>
            <a:endParaRPr b="0" i="0" sz="2700" u="none" cap="none" strike="noStrike">
              <a:solidFill>
                <a:srgbClr val="000000"/>
              </a:solidFill>
              <a:latin typeface="Arial"/>
              <a:ea typeface="Arial"/>
              <a:cs typeface="Arial"/>
              <a:sym typeface="Arial"/>
            </a:endParaRPr>
          </a:p>
        </p:txBody>
      </p:sp>
      <p:sp>
        <p:nvSpPr>
          <p:cNvPr id="197" name="Google Shape;197;g3b1faa251c2_1_16"/>
          <p:cNvSpPr txBox="1"/>
          <p:nvPr>
            <p:ph idx="1" type="body"/>
          </p:nvPr>
        </p:nvSpPr>
        <p:spPr>
          <a:xfrm>
            <a:off x="334800" y="1503725"/>
            <a:ext cx="11565300" cy="4413000"/>
          </a:xfrm>
          <a:prstGeom prst="rect">
            <a:avLst/>
          </a:prstGeom>
          <a:noFill/>
          <a:ln>
            <a:noFill/>
          </a:ln>
        </p:spPr>
        <p:txBody>
          <a:bodyPr anchorCtr="0" anchor="t" bIns="46800" lIns="91425" spcFirstLastPara="1" rIns="91425" wrap="square" tIns="45700">
            <a:normAutofit/>
          </a:bodyPr>
          <a:lstStyle/>
          <a:p>
            <a:pPr indent="-266759" lvl="0" marL="266759" marR="0" rtl="0" algn="l">
              <a:lnSpc>
                <a:spcPct val="115000"/>
              </a:lnSpc>
              <a:spcBef>
                <a:spcPts val="0"/>
              </a:spcBef>
              <a:spcAft>
                <a:spcPts val="0"/>
              </a:spcAft>
              <a:buClr>
                <a:srgbClr val="00ACA7"/>
              </a:buClr>
              <a:buSzPts val="2000"/>
              <a:buFont typeface="Arial"/>
              <a:buChar char="●"/>
            </a:pPr>
            <a:r>
              <a:rPr lang="it-IT" sz="2000">
                <a:solidFill>
                  <a:schemeClr val="dk1"/>
                </a:solidFill>
              </a:rPr>
              <a:t>Hypothesis</a:t>
            </a:r>
            <a:r>
              <a:rPr lang="it-IT" sz="2000">
                <a:solidFill>
                  <a:schemeClr val="dk1"/>
                </a:solidFill>
              </a:rPr>
              <a:t> tested on different networks</a:t>
            </a:r>
            <a:endParaRPr sz="2000">
              <a:solidFill>
                <a:schemeClr val="dk1"/>
              </a:solidFill>
            </a:endParaRPr>
          </a:p>
          <a:p>
            <a:pPr indent="-127000" lvl="1" marL="360000" marR="0" rtl="0" algn="l">
              <a:lnSpc>
                <a:spcPct val="115000"/>
              </a:lnSpc>
              <a:spcBef>
                <a:spcPts val="0"/>
              </a:spcBef>
              <a:spcAft>
                <a:spcPts val="0"/>
              </a:spcAft>
              <a:buClr>
                <a:srgbClr val="00ACA7"/>
              </a:buClr>
              <a:buSzPts val="2000"/>
              <a:buFont typeface="Arial"/>
              <a:buChar char="○"/>
            </a:pPr>
            <a:r>
              <a:rPr lang="it-IT" sz="2000">
                <a:solidFill>
                  <a:schemeClr val="dk1"/>
                </a:solidFill>
              </a:rPr>
              <a:t> FeedForward NN: 1 linear layer</a:t>
            </a:r>
            <a:endParaRPr sz="2000">
              <a:solidFill>
                <a:schemeClr val="dk1"/>
              </a:solidFill>
            </a:endParaRPr>
          </a:p>
          <a:p>
            <a:pPr indent="-127000" lvl="1" marL="360000" marR="0" rtl="0" algn="l">
              <a:lnSpc>
                <a:spcPct val="115000"/>
              </a:lnSpc>
              <a:spcBef>
                <a:spcPts val="0"/>
              </a:spcBef>
              <a:spcAft>
                <a:spcPts val="0"/>
              </a:spcAft>
              <a:buClr>
                <a:srgbClr val="00ACA7"/>
              </a:buClr>
              <a:buSzPts val="2000"/>
              <a:buFont typeface="Arial"/>
              <a:buChar char="○"/>
            </a:pPr>
            <a:r>
              <a:rPr lang="it-IT" sz="2000">
                <a:solidFill>
                  <a:schemeClr val="dk1"/>
                </a:solidFill>
              </a:rPr>
              <a:t> Convolutional NN: 1 convolutional layer + 1 linear layer</a:t>
            </a:r>
            <a:endParaRPr sz="2000">
              <a:solidFill>
                <a:schemeClr val="dk1"/>
              </a:solidFill>
            </a:endParaRPr>
          </a:p>
          <a:p>
            <a:pPr indent="-127000" lvl="1" marL="360000" marR="0" rtl="0" algn="l">
              <a:lnSpc>
                <a:spcPct val="115000"/>
              </a:lnSpc>
              <a:spcBef>
                <a:spcPts val="0"/>
              </a:spcBef>
              <a:spcAft>
                <a:spcPts val="0"/>
              </a:spcAft>
              <a:buClr>
                <a:srgbClr val="00ACA7"/>
              </a:buClr>
              <a:buSzPts val="2000"/>
              <a:buFont typeface="Arial"/>
              <a:buChar char="○"/>
            </a:pPr>
            <a:r>
              <a:rPr lang="it-IT" sz="2000">
                <a:solidFill>
                  <a:schemeClr val="dk1"/>
                </a:solidFill>
              </a:rPr>
              <a:t> Spike NN: 1 linear layer</a:t>
            </a:r>
            <a:endParaRPr sz="2000">
              <a:solidFill>
                <a:schemeClr val="dk1"/>
              </a:solidFill>
            </a:endParaRPr>
          </a:p>
          <a:p>
            <a:pPr indent="-127000" lvl="1" marL="360000" marR="0" rtl="0" algn="l">
              <a:lnSpc>
                <a:spcPct val="115000"/>
              </a:lnSpc>
              <a:spcBef>
                <a:spcPts val="0"/>
              </a:spcBef>
              <a:spcAft>
                <a:spcPts val="0"/>
              </a:spcAft>
              <a:buClr>
                <a:srgbClr val="00ACA7"/>
              </a:buClr>
              <a:buSzPts val="2000"/>
              <a:buFont typeface="Arial"/>
              <a:buChar char="○"/>
            </a:pPr>
            <a:r>
              <a:rPr lang="it-IT" sz="2000">
                <a:solidFill>
                  <a:schemeClr val="dk1"/>
                </a:solidFill>
              </a:rPr>
              <a:t> Convolutional </a:t>
            </a:r>
            <a:r>
              <a:rPr lang="it-IT" sz="2000">
                <a:solidFill>
                  <a:schemeClr val="dk1"/>
                </a:solidFill>
              </a:rPr>
              <a:t>Spike NN: 1 convolutional layer + 1 linear layer</a:t>
            </a:r>
            <a:br>
              <a:rPr lang="it-IT" sz="2000">
                <a:solidFill>
                  <a:schemeClr val="dk1"/>
                </a:solidFill>
              </a:rPr>
            </a:br>
            <a:endParaRPr sz="2000">
              <a:solidFill>
                <a:schemeClr val="dk1"/>
              </a:solidFill>
            </a:endParaRPr>
          </a:p>
          <a:p>
            <a:pPr indent="-266759" lvl="0" marL="266759" marR="0" rtl="0" algn="l">
              <a:lnSpc>
                <a:spcPct val="115000"/>
              </a:lnSpc>
              <a:spcBef>
                <a:spcPts val="201"/>
              </a:spcBef>
              <a:spcAft>
                <a:spcPts val="0"/>
              </a:spcAft>
              <a:buClr>
                <a:srgbClr val="00ACA7"/>
              </a:buClr>
              <a:buSzPts val="2000"/>
              <a:buFont typeface="Arial"/>
              <a:buChar char="●"/>
            </a:pPr>
            <a:r>
              <a:rPr b="1" lang="it-IT" sz="2000">
                <a:solidFill>
                  <a:schemeClr val="dk1"/>
                </a:solidFill>
              </a:rPr>
              <a:t>In-distribution (ID) case:</a:t>
            </a:r>
            <a:r>
              <a:rPr lang="it-IT" sz="2000">
                <a:solidFill>
                  <a:schemeClr val="dk1"/>
                </a:solidFill>
              </a:rPr>
              <a:t> networks trained on MNIST dataset</a:t>
            </a:r>
            <a:endParaRPr sz="2000">
              <a:solidFill>
                <a:schemeClr val="dk1"/>
              </a:solidFill>
            </a:endParaRPr>
          </a:p>
          <a:p>
            <a:pPr indent="0" lvl="0" marL="0" marR="0" rtl="0" algn="l">
              <a:lnSpc>
                <a:spcPct val="115000"/>
              </a:lnSpc>
              <a:spcBef>
                <a:spcPts val="201"/>
              </a:spcBef>
              <a:spcAft>
                <a:spcPts val="0"/>
              </a:spcAft>
              <a:buNone/>
            </a:pPr>
            <a:r>
              <a:t/>
            </a:r>
            <a:endParaRPr sz="2000">
              <a:solidFill>
                <a:schemeClr val="dk1"/>
              </a:solidFill>
            </a:endParaRPr>
          </a:p>
          <a:p>
            <a:pPr indent="-266759" lvl="0" marL="266759" marR="0" rtl="0" algn="l">
              <a:lnSpc>
                <a:spcPct val="115000"/>
              </a:lnSpc>
              <a:spcBef>
                <a:spcPts val="201"/>
              </a:spcBef>
              <a:spcAft>
                <a:spcPts val="0"/>
              </a:spcAft>
              <a:buClr>
                <a:srgbClr val="00ACA7"/>
              </a:buClr>
              <a:buSzPts val="2000"/>
              <a:buFont typeface="Arial"/>
              <a:buChar char="●"/>
            </a:pPr>
            <a:r>
              <a:rPr b="1" lang="it-IT" sz="2000">
                <a:solidFill>
                  <a:schemeClr val="dk1"/>
                </a:solidFill>
              </a:rPr>
              <a:t>Out-Of-Distribution (OOD) cases:</a:t>
            </a:r>
            <a:endParaRPr sz="2000">
              <a:solidFill>
                <a:schemeClr val="dk1"/>
              </a:solidFill>
            </a:endParaRPr>
          </a:p>
          <a:p>
            <a:pPr indent="-127000" lvl="1" marL="269999" marR="0" rtl="0" algn="l">
              <a:lnSpc>
                <a:spcPct val="115000"/>
              </a:lnSpc>
              <a:spcBef>
                <a:spcPts val="201"/>
              </a:spcBef>
              <a:spcAft>
                <a:spcPts val="0"/>
              </a:spcAft>
              <a:buClr>
                <a:srgbClr val="00ACA7"/>
              </a:buClr>
              <a:buSzPts val="2000"/>
              <a:buFont typeface="Arial"/>
              <a:buChar char="○"/>
            </a:pPr>
            <a:r>
              <a:rPr lang="it-IT" sz="2000">
                <a:solidFill>
                  <a:schemeClr val="dk1"/>
                </a:solidFill>
              </a:rPr>
              <a:t> MNIST test samples with gaussian blur</a:t>
            </a:r>
            <a:endParaRPr sz="2000">
              <a:solidFill>
                <a:schemeClr val="dk1"/>
              </a:solidFill>
            </a:endParaRPr>
          </a:p>
          <a:p>
            <a:pPr indent="-127000" lvl="1" marL="269999" marR="0" rtl="0" algn="l">
              <a:lnSpc>
                <a:spcPct val="115000"/>
              </a:lnSpc>
              <a:spcBef>
                <a:spcPts val="201"/>
              </a:spcBef>
              <a:spcAft>
                <a:spcPts val="0"/>
              </a:spcAft>
              <a:buClr>
                <a:srgbClr val="00ACA7"/>
              </a:buClr>
              <a:buSzPts val="2000"/>
              <a:buFont typeface="Arial"/>
              <a:buChar char="○"/>
            </a:pPr>
            <a:r>
              <a:rPr lang="it-IT" sz="2000">
                <a:solidFill>
                  <a:schemeClr val="dk1"/>
                </a:solidFill>
              </a:rPr>
              <a:t> MNIST test samples with RFI-like noise</a:t>
            </a:r>
            <a:endParaRPr sz="2000">
              <a:solidFill>
                <a:schemeClr val="dk1"/>
              </a:solidFill>
            </a:endParaRPr>
          </a:p>
          <a:p>
            <a:pPr indent="-127000" lvl="1" marL="269999" marR="0" rtl="0" algn="l">
              <a:lnSpc>
                <a:spcPct val="115000"/>
              </a:lnSpc>
              <a:spcBef>
                <a:spcPts val="201"/>
              </a:spcBef>
              <a:spcAft>
                <a:spcPts val="0"/>
              </a:spcAft>
              <a:buClr>
                <a:srgbClr val="00ACA7"/>
              </a:buClr>
              <a:buSzPts val="2000"/>
              <a:buFont typeface="Arial"/>
              <a:buChar char="○"/>
            </a:pPr>
            <a:r>
              <a:rPr lang="it-IT" sz="2000">
                <a:solidFill>
                  <a:schemeClr val="dk1"/>
                </a:solidFill>
              </a:rPr>
              <a:t> Grayscale CIFAR10 test samples</a:t>
            </a:r>
            <a:endParaRPr sz="2000">
              <a:solidFill>
                <a:schemeClr val="dk1"/>
              </a:solidFill>
            </a:endParaRPr>
          </a:p>
        </p:txBody>
      </p:sp>
      <p:sp>
        <p:nvSpPr>
          <p:cNvPr id="198" name="Google Shape;198;g3b1faa251c2_1_16"/>
          <p:cNvSpPr/>
          <p:nvPr/>
        </p:nvSpPr>
        <p:spPr>
          <a:xfrm>
            <a:off x="-22325" y="6042762"/>
            <a:ext cx="12191100" cy="289500"/>
          </a:xfrm>
          <a:prstGeom prst="rect">
            <a:avLst/>
          </a:prstGeom>
          <a:noFill/>
          <a:ln>
            <a:noFill/>
          </a:ln>
        </p:spPr>
        <p:txBody>
          <a:bodyPr anchorCtr="0" anchor="t" bIns="69100" lIns="90000" spcFirstLastPara="1" rIns="90000" wrap="square" tIns="69100">
            <a:noAutofit/>
          </a:bodyPr>
          <a:lstStyle/>
          <a:p>
            <a:pPr indent="0" lvl="0" marL="0" marR="0" rtl="0" algn="l">
              <a:lnSpc>
                <a:spcPct val="90000"/>
              </a:lnSpc>
              <a:spcBef>
                <a:spcPts val="0"/>
              </a:spcBef>
              <a:spcAft>
                <a:spcPts val="0"/>
              </a:spcAft>
              <a:buNone/>
            </a:pPr>
            <a:r>
              <a:rPr b="0" i="0" lang="it-IT" sz="1000" u="none" cap="none" strike="noStrike">
                <a:solidFill>
                  <a:srgbClr val="7F7F7F"/>
                </a:solidFill>
                <a:highlight>
                  <a:srgbClr val="FFFFFF"/>
                </a:highlight>
                <a:latin typeface="Arial"/>
                <a:ea typeface="Arial"/>
                <a:cs typeface="Arial"/>
                <a:sym typeface="Arial"/>
              </a:rPr>
              <a:t>[</a:t>
            </a:r>
            <a:r>
              <a:rPr lang="it-IT" sz="1000">
                <a:solidFill>
                  <a:srgbClr val="7F7F7F"/>
                </a:solidFill>
                <a:highlight>
                  <a:srgbClr val="FFFFFF"/>
                </a:highlight>
              </a:rPr>
              <a:t>1</a:t>
            </a:r>
            <a:r>
              <a:rPr b="0" i="0" lang="it-IT" sz="1000" u="none" cap="none" strike="noStrike">
                <a:solidFill>
                  <a:srgbClr val="7F7F7F"/>
                </a:solidFill>
                <a:highlight>
                  <a:srgbClr val="FFFFFF"/>
                </a:highlight>
                <a:latin typeface="Arial"/>
                <a:ea typeface="Arial"/>
                <a:cs typeface="Arial"/>
                <a:sym typeface="Arial"/>
              </a:rPr>
              <a:t>] Liu, W., Wang, X., Owens, J. D., &amp; Li, Y. (2021, April 26). Energy-based out-of-distribution detection. ArXiv https://arxiv.org/pdf/2010.03759</a:t>
            </a:r>
            <a:endParaRPr b="0" i="0" sz="10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b1faa251c2_1_26"/>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1" sz="4400">
              <a:solidFill>
                <a:schemeClr val="accent1"/>
              </a:solidFill>
              <a:latin typeface="Century Gothic"/>
              <a:ea typeface="Century Gothic"/>
              <a:cs typeface="Century Gothic"/>
              <a:sym typeface="Century Gothic"/>
            </a:endParaRPr>
          </a:p>
        </p:txBody>
      </p:sp>
      <p:sp>
        <p:nvSpPr>
          <p:cNvPr id="205" name="Google Shape;205;g3b1faa251c2_1_26"/>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None/>
            </a:pPr>
            <a:r>
              <a:rPr b="1" lang="it-IT" sz="2700">
                <a:solidFill>
                  <a:schemeClr val="accent3"/>
                </a:solidFill>
                <a:latin typeface="Century Gothic"/>
                <a:ea typeface="Century Gothic"/>
                <a:cs typeface="Century Gothic"/>
                <a:sym typeface="Century Gothic"/>
              </a:rPr>
              <a:t>Linear model results</a:t>
            </a:r>
            <a:endParaRPr b="0" i="0" sz="2700" u="none" cap="none" strike="noStrike">
              <a:solidFill>
                <a:srgbClr val="000000"/>
              </a:solidFill>
              <a:latin typeface="Arial"/>
              <a:ea typeface="Arial"/>
              <a:cs typeface="Arial"/>
              <a:sym typeface="Arial"/>
            </a:endParaRPr>
          </a:p>
        </p:txBody>
      </p:sp>
      <p:graphicFrame>
        <p:nvGraphicFramePr>
          <p:cNvPr id="206" name="Google Shape;206;g3b1faa251c2_1_26"/>
          <p:cNvGraphicFramePr/>
          <p:nvPr/>
        </p:nvGraphicFramePr>
        <p:xfrm>
          <a:off x="2031840" y="1711665"/>
          <a:ext cx="3000000" cy="3000000"/>
        </p:xfrm>
        <a:graphic>
          <a:graphicData uri="http://schemas.openxmlformats.org/drawingml/2006/table">
            <a:tbl>
              <a:tblPr>
                <a:noFill/>
                <a:tableStyleId>{E1C77492-6C3E-43B7-82BC-CB507C7431A0}</a:tableStyleId>
              </a:tblPr>
              <a:tblGrid>
                <a:gridCol w="2157700"/>
                <a:gridCol w="3384625"/>
                <a:gridCol w="3153775"/>
              </a:tblGrid>
              <a:tr h="464575">
                <a:tc>
                  <a:txBody>
                    <a:bodyPr/>
                    <a:lstStyle/>
                    <a:p>
                      <a:pPr indent="0" lvl="0" marL="0" marR="0" rtl="0" algn="l">
                        <a:lnSpc>
                          <a:spcPct val="100000"/>
                        </a:lnSpc>
                        <a:spcBef>
                          <a:spcPts val="0"/>
                        </a:spcBef>
                        <a:spcAft>
                          <a:spcPts val="0"/>
                        </a:spcAft>
                        <a:buNone/>
                      </a:pPr>
                      <a:r>
                        <a:rPr b="1" lang="it-IT">
                          <a:solidFill>
                            <a:schemeClr val="dk1"/>
                          </a:solidFill>
                        </a:rPr>
                        <a:t>Case</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it-IT">
                          <a:solidFill>
                            <a:schemeClr val="dk1"/>
                          </a:solidFill>
                        </a:rPr>
                        <a:t>NN energy [1]</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it-IT">
                          <a:solidFill>
                            <a:schemeClr val="dk1"/>
                          </a:solidFill>
                        </a:rPr>
                        <a:t>SNN Firing rate (HZ)</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tcPr>
                </a:tc>
              </a:tr>
              <a:tr h="406025">
                <a:tc>
                  <a:txBody>
                    <a:bodyPr/>
                    <a:lstStyle/>
                    <a:p>
                      <a:pPr indent="0" lvl="0" marL="0" rtl="0" algn="l">
                        <a:spcBef>
                          <a:spcPts val="0"/>
                        </a:spcBef>
                        <a:spcAft>
                          <a:spcPts val="0"/>
                        </a:spcAft>
                        <a:buClr>
                          <a:schemeClr val="dk1"/>
                        </a:buClr>
                        <a:buFont typeface="Arial"/>
                        <a:buNone/>
                      </a:pPr>
                      <a:r>
                        <a:rPr lang="it-IT">
                          <a:solidFill>
                            <a:schemeClr val="dk1"/>
                          </a:solidFill>
                        </a:rPr>
                        <a:t>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Font typeface="Arial"/>
                        <a:buNone/>
                      </a:pPr>
                      <a:r>
                        <a:rPr lang="it-IT">
                          <a:solidFill>
                            <a:schemeClr val="dk1"/>
                          </a:solidFill>
                        </a:rPr>
                        <a:t>-5.40</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None/>
                      </a:pPr>
                      <a:r>
                        <a:rPr lang="it-IT">
                          <a:solidFill>
                            <a:schemeClr val="dk1"/>
                          </a:solidFill>
                        </a:rPr>
                        <a:t>4.20</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r>
              <a:tr h="370075">
                <a:tc>
                  <a:txBody>
                    <a:bodyPr/>
                    <a:lstStyle/>
                    <a:p>
                      <a:pPr indent="0" lvl="0" marL="0" marR="0" rtl="0" algn="l">
                        <a:lnSpc>
                          <a:spcPct val="100000"/>
                        </a:lnSpc>
                        <a:spcBef>
                          <a:spcPts val="0"/>
                        </a:spcBef>
                        <a:spcAft>
                          <a:spcPts val="0"/>
                        </a:spcAft>
                        <a:buNone/>
                      </a:pPr>
                      <a:r>
                        <a:rPr lang="it-IT">
                          <a:solidFill>
                            <a:schemeClr val="dk1"/>
                          </a:solidFill>
                        </a:rPr>
                        <a:t>1.1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it-IT">
                          <a:solidFill>
                            <a:schemeClr val="dk1"/>
                          </a:solidFill>
                        </a:rPr>
                        <a:t>-3.70</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it-IT">
                          <a:solidFill>
                            <a:schemeClr val="dk1"/>
                          </a:solidFill>
                        </a:rPr>
                        <a:t>5.01</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370075">
                <a:tc>
                  <a:txBody>
                    <a:bodyPr/>
                    <a:lstStyle/>
                    <a:p>
                      <a:pPr indent="0" lvl="0" marL="0" marR="0" rtl="0" algn="l">
                        <a:lnSpc>
                          <a:spcPct val="100000"/>
                        </a:lnSpc>
                        <a:spcBef>
                          <a:spcPts val="0"/>
                        </a:spcBef>
                        <a:spcAft>
                          <a:spcPts val="0"/>
                        </a:spcAft>
                        <a:buClr>
                          <a:schemeClr val="dk1"/>
                        </a:buClr>
                        <a:buFont typeface="Arial"/>
                        <a:buNone/>
                      </a:pPr>
                      <a:r>
                        <a:rPr lang="it-IT">
                          <a:solidFill>
                            <a:schemeClr val="dk1"/>
                          </a:solidFill>
                        </a:rPr>
                        <a:t>1.2</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Font typeface="Arial"/>
                        <a:buNone/>
                      </a:pPr>
                      <a:r>
                        <a:rPr lang="it-IT">
                          <a:solidFill>
                            <a:schemeClr val="dk1"/>
                          </a:solidFill>
                        </a:rPr>
                        <a:t>-3.75</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c>
                  <a:txBody>
                    <a:bodyPr/>
                    <a:lstStyle/>
                    <a:p>
                      <a:pPr indent="0" lvl="0" marL="0" marR="0" rtl="0" algn="l">
                        <a:spcBef>
                          <a:spcPts val="0"/>
                        </a:spcBef>
                        <a:spcAft>
                          <a:spcPts val="0"/>
                        </a:spcAft>
                        <a:buNone/>
                      </a:pPr>
                      <a:r>
                        <a:rPr lang="it-IT">
                          <a:solidFill>
                            <a:schemeClr val="dk1"/>
                          </a:solidFill>
                        </a:rPr>
                        <a:t>4.95</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r>
              <a:tr h="370075">
                <a:tc>
                  <a:txBody>
                    <a:bodyPr/>
                    <a:lstStyle/>
                    <a:p>
                      <a:pPr indent="0" lvl="0" marL="0" marR="0" rtl="0" algn="l">
                        <a:lnSpc>
                          <a:spcPct val="100000"/>
                        </a:lnSpc>
                        <a:spcBef>
                          <a:spcPts val="0"/>
                        </a:spcBef>
                        <a:spcAft>
                          <a:spcPts val="0"/>
                        </a:spcAft>
                        <a:buNone/>
                      </a:pPr>
                      <a:r>
                        <a:rPr lang="it-IT">
                          <a:solidFill>
                            <a:schemeClr val="dk1"/>
                          </a:solidFill>
                        </a:rPr>
                        <a:t>2</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lang="it-IT">
                          <a:solidFill>
                            <a:schemeClr val="dk1"/>
                          </a:solidFill>
                        </a:rPr>
                        <a:t>-3.88</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it-IT">
                          <a:solidFill>
                            <a:schemeClr val="dk1"/>
                          </a:solidFill>
                        </a:rPr>
                        <a:t>4.99</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bl>
          </a:graphicData>
        </a:graphic>
      </p:graphicFrame>
      <p:sp>
        <p:nvSpPr>
          <p:cNvPr id="207" name="Google Shape;207;g3b1faa251c2_1_26"/>
          <p:cNvSpPr txBox="1"/>
          <p:nvPr>
            <p:ph idx="1" type="body"/>
          </p:nvPr>
        </p:nvSpPr>
        <p:spPr>
          <a:xfrm>
            <a:off x="165175" y="4057475"/>
            <a:ext cx="11892000" cy="2186400"/>
          </a:xfrm>
          <a:prstGeom prst="rect">
            <a:avLst/>
          </a:prstGeom>
          <a:noFill/>
          <a:ln>
            <a:noFill/>
          </a:ln>
        </p:spPr>
        <p:txBody>
          <a:bodyPr anchorCtr="0" anchor="t" bIns="46800" lIns="91425" spcFirstLastPara="1" rIns="91425" wrap="square" tIns="45700">
            <a:normAutofit/>
          </a:bodyPr>
          <a:lstStyle/>
          <a:p>
            <a:pPr indent="-266759" lvl="0" marL="266759" marR="0" rtl="0" algn="l">
              <a:lnSpc>
                <a:spcPct val="100000"/>
              </a:lnSpc>
              <a:spcBef>
                <a:spcPts val="201"/>
              </a:spcBef>
              <a:spcAft>
                <a:spcPts val="0"/>
              </a:spcAft>
              <a:buClr>
                <a:srgbClr val="00ACA7"/>
              </a:buClr>
              <a:buSzPts val="2000"/>
              <a:buFont typeface="Arial"/>
              <a:buChar char="●"/>
            </a:pPr>
            <a:r>
              <a:rPr b="1" lang="it-IT" sz="2000">
                <a:solidFill>
                  <a:schemeClr val="dk1"/>
                </a:solidFill>
              </a:rPr>
              <a:t>Case 1 - ID:</a:t>
            </a:r>
            <a:r>
              <a:rPr lang="it-IT" sz="2000">
                <a:solidFill>
                  <a:schemeClr val="dk1"/>
                </a:solidFill>
              </a:rPr>
              <a:t> MNIST test sample</a:t>
            </a:r>
            <a:endParaRPr sz="2000">
              <a:solidFill>
                <a:schemeClr val="dk1"/>
              </a:solidFill>
            </a:endParaRPr>
          </a:p>
          <a:p>
            <a:pPr indent="-266759" lvl="0" marL="266759" marR="0" rtl="0" algn="l">
              <a:lnSpc>
                <a:spcPct val="100000"/>
              </a:lnSpc>
              <a:spcBef>
                <a:spcPts val="201"/>
              </a:spcBef>
              <a:spcAft>
                <a:spcPts val="0"/>
              </a:spcAft>
              <a:buClr>
                <a:srgbClr val="00ACA7"/>
              </a:buClr>
              <a:buSzPts val="2000"/>
              <a:buFont typeface="Arial"/>
              <a:buChar char="●"/>
            </a:pPr>
            <a:r>
              <a:rPr b="1" lang="it-IT" sz="2000">
                <a:solidFill>
                  <a:schemeClr val="dk1"/>
                </a:solidFill>
              </a:rPr>
              <a:t>Case 1.1 - OOD:</a:t>
            </a:r>
            <a:r>
              <a:rPr lang="it-IT" sz="2000">
                <a:solidFill>
                  <a:schemeClr val="dk1"/>
                </a:solidFill>
              </a:rPr>
              <a:t> MNIST test samples with gaussian blur</a:t>
            </a:r>
            <a:endParaRPr sz="2000">
              <a:solidFill>
                <a:schemeClr val="dk1"/>
              </a:solidFill>
            </a:endParaRPr>
          </a:p>
          <a:p>
            <a:pPr indent="-266759" lvl="0" marL="266759" marR="0" rtl="0" algn="l">
              <a:lnSpc>
                <a:spcPct val="100000"/>
              </a:lnSpc>
              <a:spcBef>
                <a:spcPts val="201"/>
              </a:spcBef>
              <a:spcAft>
                <a:spcPts val="0"/>
              </a:spcAft>
              <a:buClr>
                <a:srgbClr val="00ACA7"/>
              </a:buClr>
              <a:buSzPts val="2000"/>
              <a:buFont typeface="Arial"/>
              <a:buChar char="●"/>
            </a:pPr>
            <a:r>
              <a:rPr b="1" lang="it-IT" sz="2000">
                <a:solidFill>
                  <a:schemeClr val="dk1"/>
                </a:solidFill>
              </a:rPr>
              <a:t>Case 1.2 - OOD:</a:t>
            </a:r>
            <a:r>
              <a:rPr lang="it-IT" sz="2000">
                <a:solidFill>
                  <a:schemeClr val="dk1"/>
                </a:solidFill>
              </a:rPr>
              <a:t> </a:t>
            </a:r>
            <a:r>
              <a:rPr lang="it-IT" sz="2000">
                <a:solidFill>
                  <a:schemeClr val="dk1"/>
                </a:solidFill>
              </a:rPr>
              <a:t>MNIST test samples with RFI-like noise</a:t>
            </a:r>
            <a:endParaRPr sz="2000">
              <a:solidFill>
                <a:schemeClr val="dk1"/>
              </a:solidFill>
            </a:endParaRPr>
          </a:p>
          <a:p>
            <a:pPr indent="-266759" lvl="0" marL="266759" marR="0" rtl="0" algn="l">
              <a:lnSpc>
                <a:spcPct val="100000"/>
              </a:lnSpc>
              <a:spcBef>
                <a:spcPts val="201"/>
              </a:spcBef>
              <a:spcAft>
                <a:spcPts val="0"/>
              </a:spcAft>
              <a:buClr>
                <a:srgbClr val="00ACA7"/>
              </a:buClr>
              <a:buSzPts val="2000"/>
              <a:buFont typeface="Arial"/>
              <a:buChar char="●"/>
            </a:pPr>
            <a:r>
              <a:rPr b="1" lang="it-IT" sz="2000">
                <a:solidFill>
                  <a:schemeClr val="dk1"/>
                </a:solidFill>
              </a:rPr>
              <a:t>Case 2 - OOD:</a:t>
            </a:r>
            <a:r>
              <a:rPr lang="it-IT" sz="2000">
                <a:solidFill>
                  <a:schemeClr val="dk1"/>
                </a:solidFill>
              </a:rPr>
              <a:t> Grayscale CIFAR10 test samples</a:t>
            </a:r>
            <a:endParaRPr sz="2000">
              <a:solidFill>
                <a:schemeClr val="dk1"/>
              </a:solidFill>
            </a:endParaRPr>
          </a:p>
          <a:p>
            <a:pPr indent="-127000" lvl="6" marL="0" rtl="0" algn="l">
              <a:lnSpc>
                <a:spcPct val="115000"/>
              </a:lnSpc>
              <a:spcBef>
                <a:spcPts val="0"/>
              </a:spcBef>
              <a:spcAft>
                <a:spcPts val="0"/>
              </a:spcAft>
              <a:buClr>
                <a:schemeClr val="accent3"/>
              </a:buClr>
              <a:buSzPts val="2000"/>
              <a:buChar char="●"/>
            </a:pPr>
            <a:r>
              <a:rPr lang="it-IT" sz="2000">
                <a:solidFill>
                  <a:schemeClr val="dk1"/>
                </a:solidFill>
              </a:rPr>
              <a:t>    </a:t>
            </a:r>
            <a:r>
              <a:rPr lang="it-IT" sz="2000">
                <a:solidFill>
                  <a:schemeClr val="dk1"/>
                </a:solidFill>
              </a:rPr>
              <a:t>Experimental results show an almost clear positive correlation between the NN energy and the firing rate of SNN</a:t>
            </a:r>
            <a:endParaRPr sz="2000">
              <a:solidFill>
                <a:schemeClr val="dk1"/>
              </a:solidFill>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b1faa251c2_1_0"/>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1" sz="4400">
              <a:solidFill>
                <a:schemeClr val="accent1"/>
              </a:solidFill>
              <a:latin typeface="Century Gothic"/>
              <a:ea typeface="Century Gothic"/>
              <a:cs typeface="Century Gothic"/>
              <a:sym typeface="Century Gothic"/>
            </a:endParaRPr>
          </a:p>
        </p:txBody>
      </p:sp>
      <p:sp>
        <p:nvSpPr>
          <p:cNvPr id="214" name="Google Shape;214;g3b1faa251c2_1_0"/>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None/>
            </a:pPr>
            <a:r>
              <a:rPr b="1" lang="it-IT" sz="2700">
                <a:solidFill>
                  <a:schemeClr val="accent3"/>
                </a:solidFill>
                <a:latin typeface="Century Gothic"/>
                <a:ea typeface="Century Gothic"/>
                <a:cs typeface="Century Gothic"/>
                <a:sym typeface="Century Gothic"/>
              </a:rPr>
              <a:t>C</a:t>
            </a:r>
            <a:r>
              <a:rPr b="1" lang="it-IT" sz="2700">
                <a:solidFill>
                  <a:schemeClr val="accent3"/>
                </a:solidFill>
                <a:latin typeface="Century Gothic"/>
                <a:ea typeface="Century Gothic"/>
                <a:cs typeface="Century Gothic"/>
                <a:sym typeface="Century Gothic"/>
              </a:rPr>
              <a:t>onvolutional models</a:t>
            </a:r>
            <a:r>
              <a:rPr b="1" i="0" lang="it-IT" sz="2700" u="none" cap="none" strike="noStrike">
                <a:solidFill>
                  <a:schemeClr val="accent3"/>
                </a:solidFill>
                <a:latin typeface="Century Gothic"/>
                <a:ea typeface="Century Gothic"/>
                <a:cs typeface="Century Gothic"/>
                <a:sym typeface="Century Gothic"/>
              </a:rPr>
              <a:t> </a:t>
            </a:r>
            <a:r>
              <a:rPr b="1" lang="it-IT" sz="2700">
                <a:solidFill>
                  <a:schemeClr val="accent3"/>
                </a:solidFill>
                <a:latin typeface="Century Gothic"/>
                <a:ea typeface="Century Gothic"/>
                <a:cs typeface="Century Gothic"/>
                <a:sym typeface="Century Gothic"/>
              </a:rPr>
              <a:t>results</a:t>
            </a:r>
            <a:endParaRPr b="0" i="0" sz="2700" u="none" cap="none" strike="noStrike">
              <a:solidFill>
                <a:srgbClr val="000000"/>
              </a:solidFill>
              <a:latin typeface="Arial"/>
              <a:ea typeface="Arial"/>
              <a:cs typeface="Arial"/>
              <a:sym typeface="Arial"/>
            </a:endParaRPr>
          </a:p>
        </p:txBody>
      </p:sp>
      <p:graphicFrame>
        <p:nvGraphicFramePr>
          <p:cNvPr id="215" name="Google Shape;215;g3b1faa251c2_1_0"/>
          <p:cNvGraphicFramePr/>
          <p:nvPr/>
        </p:nvGraphicFramePr>
        <p:xfrm>
          <a:off x="2031840" y="1711665"/>
          <a:ext cx="3000000" cy="3000000"/>
        </p:xfrm>
        <a:graphic>
          <a:graphicData uri="http://schemas.openxmlformats.org/drawingml/2006/table">
            <a:tbl>
              <a:tblPr>
                <a:noFill/>
                <a:tableStyleId>{E1C77492-6C3E-43B7-82BC-CB507C7431A0}</a:tableStyleId>
              </a:tblPr>
              <a:tblGrid>
                <a:gridCol w="2157700"/>
                <a:gridCol w="3384625"/>
                <a:gridCol w="3153775"/>
              </a:tblGrid>
              <a:tr h="464575">
                <a:tc>
                  <a:txBody>
                    <a:bodyPr/>
                    <a:lstStyle/>
                    <a:p>
                      <a:pPr indent="0" lvl="0" marL="0" marR="0" rtl="0" algn="l">
                        <a:lnSpc>
                          <a:spcPct val="100000"/>
                        </a:lnSpc>
                        <a:spcBef>
                          <a:spcPts val="0"/>
                        </a:spcBef>
                        <a:spcAft>
                          <a:spcPts val="0"/>
                        </a:spcAft>
                        <a:buNone/>
                      </a:pPr>
                      <a:r>
                        <a:rPr b="1" lang="it-IT">
                          <a:solidFill>
                            <a:schemeClr val="dk1"/>
                          </a:solidFill>
                        </a:rPr>
                        <a:t>Cases</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it-IT">
                          <a:solidFill>
                            <a:schemeClr val="dk1"/>
                          </a:solidFill>
                        </a:rPr>
                        <a:t>NN energy [1]</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it-IT">
                          <a:solidFill>
                            <a:schemeClr val="dk1"/>
                          </a:solidFill>
                        </a:rPr>
                        <a:t>SNN Firing rate (HZ)</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tcPr>
                </a:tc>
              </a:tr>
              <a:tr h="406025">
                <a:tc>
                  <a:txBody>
                    <a:bodyPr/>
                    <a:lstStyle/>
                    <a:p>
                      <a:pPr indent="0" lvl="0" marL="0" rtl="0" algn="l">
                        <a:spcBef>
                          <a:spcPts val="0"/>
                        </a:spcBef>
                        <a:spcAft>
                          <a:spcPts val="0"/>
                        </a:spcAft>
                        <a:buClr>
                          <a:schemeClr val="dk1"/>
                        </a:buClr>
                        <a:buFont typeface="Arial"/>
                        <a:buNone/>
                      </a:pPr>
                      <a:r>
                        <a:rPr lang="it-IT">
                          <a:solidFill>
                            <a:schemeClr val="dk1"/>
                          </a:solidFill>
                        </a:rPr>
                        <a:t>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Font typeface="Arial"/>
                        <a:buNone/>
                      </a:pPr>
                      <a:r>
                        <a:rPr lang="it-IT">
                          <a:solidFill>
                            <a:schemeClr val="dk1"/>
                          </a:solidFill>
                        </a:rPr>
                        <a:t>-0.54</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None/>
                      </a:pPr>
                      <a:r>
                        <a:rPr lang="it-IT">
                          <a:solidFill>
                            <a:schemeClr val="dk1"/>
                          </a:solidFill>
                        </a:rPr>
                        <a:t>3.23</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r>
              <a:tr h="370075">
                <a:tc>
                  <a:txBody>
                    <a:bodyPr/>
                    <a:lstStyle/>
                    <a:p>
                      <a:pPr indent="0" lvl="0" marL="0" marR="0" rtl="0" algn="l">
                        <a:lnSpc>
                          <a:spcPct val="100000"/>
                        </a:lnSpc>
                        <a:spcBef>
                          <a:spcPts val="0"/>
                        </a:spcBef>
                        <a:spcAft>
                          <a:spcPts val="0"/>
                        </a:spcAft>
                        <a:buNone/>
                      </a:pPr>
                      <a:r>
                        <a:rPr lang="it-IT">
                          <a:solidFill>
                            <a:schemeClr val="dk1"/>
                          </a:solidFill>
                        </a:rPr>
                        <a:t>1.1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it-IT">
                          <a:solidFill>
                            <a:schemeClr val="dk1"/>
                          </a:solidFill>
                        </a:rPr>
                        <a:t>1.76</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it-IT">
                          <a:solidFill>
                            <a:schemeClr val="dk1"/>
                          </a:solidFill>
                        </a:rPr>
                        <a:t>6.58</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370075">
                <a:tc>
                  <a:txBody>
                    <a:bodyPr/>
                    <a:lstStyle/>
                    <a:p>
                      <a:pPr indent="0" lvl="0" marL="0" marR="0" rtl="0" algn="l">
                        <a:lnSpc>
                          <a:spcPct val="100000"/>
                        </a:lnSpc>
                        <a:spcBef>
                          <a:spcPts val="0"/>
                        </a:spcBef>
                        <a:spcAft>
                          <a:spcPts val="0"/>
                        </a:spcAft>
                        <a:buClr>
                          <a:schemeClr val="dk1"/>
                        </a:buClr>
                        <a:buFont typeface="Arial"/>
                        <a:buNone/>
                      </a:pPr>
                      <a:r>
                        <a:rPr lang="it-IT">
                          <a:solidFill>
                            <a:schemeClr val="dk1"/>
                          </a:solidFill>
                        </a:rPr>
                        <a:t>1.2</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Font typeface="Arial"/>
                        <a:buNone/>
                      </a:pPr>
                      <a:r>
                        <a:rPr lang="it-IT">
                          <a:solidFill>
                            <a:schemeClr val="dk1"/>
                          </a:solidFill>
                        </a:rPr>
                        <a:t>0.86</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c>
                  <a:txBody>
                    <a:bodyPr/>
                    <a:lstStyle/>
                    <a:p>
                      <a:pPr indent="0" lvl="0" marL="0" marR="0" rtl="0" algn="l">
                        <a:spcBef>
                          <a:spcPts val="0"/>
                        </a:spcBef>
                        <a:spcAft>
                          <a:spcPts val="0"/>
                        </a:spcAft>
                        <a:buNone/>
                      </a:pPr>
                      <a:r>
                        <a:rPr lang="it-IT">
                          <a:solidFill>
                            <a:schemeClr val="dk1"/>
                          </a:solidFill>
                        </a:rPr>
                        <a:t>6.22</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r>
              <a:tr h="370075">
                <a:tc>
                  <a:txBody>
                    <a:bodyPr/>
                    <a:lstStyle/>
                    <a:p>
                      <a:pPr indent="0" lvl="0" marL="0" marR="0" rtl="0" algn="l">
                        <a:lnSpc>
                          <a:spcPct val="100000"/>
                        </a:lnSpc>
                        <a:spcBef>
                          <a:spcPts val="0"/>
                        </a:spcBef>
                        <a:spcAft>
                          <a:spcPts val="0"/>
                        </a:spcAft>
                        <a:buNone/>
                      </a:pPr>
                      <a:r>
                        <a:rPr lang="it-IT">
                          <a:solidFill>
                            <a:schemeClr val="dk1"/>
                          </a:solidFill>
                        </a:rPr>
                        <a:t>2</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None/>
                      </a:pPr>
                      <a:r>
                        <a:rPr lang="it-IT">
                          <a:solidFill>
                            <a:schemeClr val="dk1"/>
                          </a:solidFill>
                        </a:rPr>
                        <a:t>1.35</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rPr lang="it-IT">
                          <a:solidFill>
                            <a:schemeClr val="dk1"/>
                          </a:solidFill>
                        </a:rPr>
                        <a:t>6.81</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bl>
          </a:graphicData>
        </a:graphic>
      </p:graphicFrame>
      <p:sp>
        <p:nvSpPr>
          <p:cNvPr id="216" name="Google Shape;216;g3b1faa251c2_1_0"/>
          <p:cNvSpPr txBox="1"/>
          <p:nvPr>
            <p:ph idx="1" type="body"/>
          </p:nvPr>
        </p:nvSpPr>
        <p:spPr>
          <a:xfrm>
            <a:off x="313350" y="4057475"/>
            <a:ext cx="11565300" cy="1910100"/>
          </a:xfrm>
          <a:prstGeom prst="rect">
            <a:avLst/>
          </a:prstGeom>
          <a:noFill/>
          <a:ln>
            <a:noFill/>
          </a:ln>
        </p:spPr>
        <p:txBody>
          <a:bodyPr anchorCtr="0" anchor="t" bIns="46800" lIns="91425" spcFirstLastPara="1" rIns="91425" wrap="square" tIns="45700">
            <a:normAutofit lnSpcReduction="10000"/>
          </a:bodyPr>
          <a:lstStyle/>
          <a:p>
            <a:pPr indent="-266759" lvl="0" marL="266759" marR="0" rtl="0" algn="l">
              <a:lnSpc>
                <a:spcPct val="100000"/>
              </a:lnSpc>
              <a:spcBef>
                <a:spcPts val="201"/>
              </a:spcBef>
              <a:spcAft>
                <a:spcPts val="0"/>
              </a:spcAft>
              <a:buClr>
                <a:srgbClr val="00ACA7"/>
              </a:buClr>
              <a:buSzPts val="2000"/>
              <a:buFont typeface="Arial"/>
              <a:buChar char="●"/>
            </a:pPr>
            <a:r>
              <a:rPr b="1" lang="it-IT" sz="2000">
                <a:solidFill>
                  <a:schemeClr val="dk1"/>
                </a:solidFill>
              </a:rPr>
              <a:t>Case 1 - ID:</a:t>
            </a:r>
            <a:r>
              <a:rPr lang="it-IT" sz="2000">
                <a:solidFill>
                  <a:schemeClr val="dk1"/>
                </a:solidFill>
              </a:rPr>
              <a:t> MNIST test sample</a:t>
            </a:r>
            <a:endParaRPr sz="2000">
              <a:solidFill>
                <a:schemeClr val="dk1"/>
              </a:solidFill>
            </a:endParaRPr>
          </a:p>
          <a:p>
            <a:pPr indent="-266759" lvl="0" marL="266759" marR="0" rtl="0" algn="l">
              <a:lnSpc>
                <a:spcPct val="100000"/>
              </a:lnSpc>
              <a:spcBef>
                <a:spcPts val="201"/>
              </a:spcBef>
              <a:spcAft>
                <a:spcPts val="0"/>
              </a:spcAft>
              <a:buClr>
                <a:srgbClr val="00ACA7"/>
              </a:buClr>
              <a:buSzPts val="2000"/>
              <a:buFont typeface="Arial"/>
              <a:buChar char="●"/>
            </a:pPr>
            <a:r>
              <a:rPr b="1" lang="it-IT" sz="2000">
                <a:solidFill>
                  <a:schemeClr val="dk1"/>
                </a:solidFill>
              </a:rPr>
              <a:t>Case 1.1 - OOD:</a:t>
            </a:r>
            <a:r>
              <a:rPr lang="it-IT" sz="2000">
                <a:solidFill>
                  <a:schemeClr val="dk1"/>
                </a:solidFill>
              </a:rPr>
              <a:t> MNIST test samples with gaussian blur</a:t>
            </a:r>
            <a:endParaRPr sz="2000">
              <a:solidFill>
                <a:schemeClr val="dk1"/>
              </a:solidFill>
            </a:endParaRPr>
          </a:p>
          <a:p>
            <a:pPr indent="-266759" lvl="0" marL="266759" marR="0" rtl="0" algn="l">
              <a:lnSpc>
                <a:spcPct val="100000"/>
              </a:lnSpc>
              <a:spcBef>
                <a:spcPts val="201"/>
              </a:spcBef>
              <a:spcAft>
                <a:spcPts val="0"/>
              </a:spcAft>
              <a:buClr>
                <a:srgbClr val="00ACA7"/>
              </a:buClr>
              <a:buSzPts val="2000"/>
              <a:buFont typeface="Arial"/>
              <a:buChar char="●"/>
            </a:pPr>
            <a:r>
              <a:rPr b="1" lang="it-IT" sz="2000">
                <a:solidFill>
                  <a:schemeClr val="dk1"/>
                </a:solidFill>
              </a:rPr>
              <a:t>Case 1.2 - OOD:</a:t>
            </a:r>
            <a:r>
              <a:rPr lang="it-IT" sz="2000">
                <a:solidFill>
                  <a:schemeClr val="dk1"/>
                </a:solidFill>
              </a:rPr>
              <a:t> MNIST test samples with RFI-like noise</a:t>
            </a:r>
            <a:endParaRPr sz="2000">
              <a:solidFill>
                <a:schemeClr val="dk1"/>
              </a:solidFill>
            </a:endParaRPr>
          </a:p>
          <a:p>
            <a:pPr indent="-266759" lvl="0" marL="266759" marR="0" rtl="0" algn="l">
              <a:lnSpc>
                <a:spcPct val="100000"/>
              </a:lnSpc>
              <a:spcBef>
                <a:spcPts val="201"/>
              </a:spcBef>
              <a:spcAft>
                <a:spcPts val="0"/>
              </a:spcAft>
              <a:buClr>
                <a:srgbClr val="00ACA7"/>
              </a:buClr>
              <a:buSzPts val="2000"/>
              <a:buFont typeface="Arial"/>
              <a:buChar char="●"/>
            </a:pPr>
            <a:r>
              <a:rPr b="1" lang="it-IT" sz="2000">
                <a:solidFill>
                  <a:schemeClr val="dk1"/>
                </a:solidFill>
              </a:rPr>
              <a:t>Case 2 - OOD:</a:t>
            </a:r>
            <a:r>
              <a:rPr lang="it-IT" sz="2000">
                <a:solidFill>
                  <a:schemeClr val="dk1"/>
                </a:solidFill>
              </a:rPr>
              <a:t> Grayscale CIFAR10 test samples	</a:t>
            </a:r>
            <a:endParaRPr sz="2000">
              <a:solidFill>
                <a:schemeClr val="dk1"/>
              </a:solidFill>
            </a:endParaRPr>
          </a:p>
          <a:p>
            <a:pPr indent="-266759" lvl="0" marL="266759" marR="0" rtl="0" algn="l">
              <a:lnSpc>
                <a:spcPct val="100000"/>
              </a:lnSpc>
              <a:spcBef>
                <a:spcPts val="201"/>
              </a:spcBef>
              <a:spcAft>
                <a:spcPts val="0"/>
              </a:spcAft>
              <a:buClr>
                <a:schemeClr val="accent3"/>
              </a:buClr>
              <a:buSzPts val="2000"/>
              <a:buChar char="●"/>
            </a:pPr>
            <a:r>
              <a:rPr lang="it-IT" sz="2000">
                <a:solidFill>
                  <a:schemeClr val="dk1"/>
                </a:solidFill>
              </a:rPr>
              <a:t>Convolutional architectures seem to have a more clear correlation compared to fully-connected (linear) architectures in distinguishing ID data from OOD data</a:t>
            </a:r>
            <a:endParaRPr sz="2000">
              <a:solidFill>
                <a:schemeClr val="dk1"/>
              </a:solidFil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b0ee8aa525_0_0"/>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223" name="Google Shape;223;g3b0ee8aa525_0_0"/>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None/>
            </a:pPr>
            <a:r>
              <a:rPr b="1" i="0" lang="it-IT" sz="2700" u="none" cap="none" strike="noStrike">
                <a:solidFill>
                  <a:schemeClr val="accent3"/>
                </a:solidFill>
                <a:latin typeface="Century Gothic"/>
                <a:ea typeface="Century Gothic"/>
                <a:cs typeface="Century Gothic"/>
                <a:sym typeface="Century Gothic"/>
              </a:rPr>
              <a:t>Results </a:t>
            </a:r>
            <a:r>
              <a:rPr b="1" lang="it-IT" sz="2700">
                <a:solidFill>
                  <a:schemeClr val="accent3"/>
                </a:solidFill>
                <a:latin typeface="Century Gothic"/>
                <a:ea typeface="Century Gothic"/>
                <a:cs typeface="Century Gothic"/>
                <a:sym typeface="Century Gothic"/>
              </a:rPr>
              <a:t>linear models EuroSAT</a:t>
            </a:r>
            <a:endParaRPr b="0" i="0" sz="2700" u="none" cap="none" strike="noStrike">
              <a:solidFill>
                <a:srgbClr val="000000"/>
              </a:solidFill>
              <a:latin typeface="Arial"/>
              <a:ea typeface="Arial"/>
              <a:cs typeface="Arial"/>
              <a:sym typeface="Arial"/>
            </a:endParaRPr>
          </a:p>
        </p:txBody>
      </p:sp>
      <p:graphicFrame>
        <p:nvGraphicFramePr>
          <p:cNvPr id="224" name="Google Shape;224;g3b0ee8aa525_0_0"/>
          <p:cNvGraphicFramePr/>
          <p:nvPr/>
        </p:nvGraphicFramePr>
        <p:xfrm>
          <a:off x="1637198" y="1711665"/>
          <a:ext cx="3000000" cy="3000000"/>
        </p:xfrm>
        <a:graphic>
          <a:graphicData uri="http://schemas.openxmlformats.org/drawingml/2006/table">
            <a:tbl>
              <a:tblPr>
                <a:noFill/>
                <a:tableStyleId>{E1C77492-6C3E-43B7-82BC-CB507C7431A0}</a:tableStyleId>
              </a:tblPr>
              <a:tblGrid>
                <a:gridCol w="2157700"/>
                <a:gridCol w="3384650"/>
                <a:gridCol w="3153750"/>
              </a:tblGrid>
              <a:tr h="464575">
                <a:tc>
                  <a:txBody>
                    <a:bodyPr/>
                    <a:lstStyle/>
                    <a:p>
                      <a:pPr indent="0" lvl="0" marL="0" marR="0" rtl="0" algn="l">
                        <a:lnSpc>
                          <a:spcPct val="100000"/>
                        </a:lnSpc>
                        <a:spcBef>
                          <a:spcPts val="0"/>
                        </a:spcBef>
                        <a:spcAft>
                          <a:spcPts val="0"/>
                        </a:spcAft>
                        <a:buNone/>
                      </a:pPr>
                      <a:r>
                        <a:rPr b="1" lang="it-IT">
                          <a:solidFill>
                            <a:schemeClr val="dk1"/>
                          </a:solidFill>
                        </a:rPr>
                        <a:t>Cases</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it-IT">
                          <a:solidFill>
                            <a:schemeClr val="dk1"/>
                          </a:solidFill>
                        </a:rPr>
                        <a:t>NN energy</a:t>
                      </a:r>
                      <a:endParaRPr b="1">
                        <a:solidFill>
                          <a:schemeClr val="dk1"/>
                        </a:solidFill>
                      </a:endParaRPr>
                    </a:p>
                    <a:p>
                      <a:pPr indent="0" lvl="0" marL="0" marR="0" rtl="0" algn="l">
                        <a:lnSpc>
                          <a:spcPct val="100000"/>
                        </a:lnSpc>
                        <a:spcBef>
                          <a:spcPts val="0"/>
                        </a:spcBef>
                        <a:spcAft>
                          <a:spcPts val="0"/>
                        </a:spcAft>
                        <a:buNone/>
                      </a:pPr>
                      <a:r>
                        <a:rPr b="1" lang="it-IT">
                          <a:solidFill>
                            <a:schemeClr val="dk1"/>
                          </a:solidFill>
                        </a:rPr>
                        <a:t>−T⋅log(i=∑​exp(logit_i​​/T))</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it-IT">
                          <a:solidFill>
                            <a:schemeClr val="dk1"/>
                          </a:solidFill>
                        </a:rPr>
                        <a:t>SNN Firing rate (HZ)</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tcPr>
                </a:tc>
              </a:tr>
              <a:tr h="406025">
                <a:tc>
                  <a:txBody>
                    <a:bodyPr/>
                    <a:lstStyle/>
                    <a:p>
                      <a:pPr indent="0" lvl="0" marL="0" rtl="0" algn="l">
                        <a:spcBef>
                          <a:spcPts val="0"/>
                        </a:spcBef>
                        <a:spcAft>
                          <a:spcPts val="0"/>
                        </a:spcAft>
                        <a:buClr>
                          <a:schemeClr val="dk1"/>
                        </a:buClr>
                        <a:buFont typeface="Arial"/>
                        <a:buNone/>
                      </a:pPr>
                      <a:r>
                        <a:rPr lang="it-IT">
                          <a:solidFill>
                            <a:schemeClr val="dk1"/>
                          </a:solidFill>
                        </a:rPr>
                        <a:t>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Font typeface="Arial"/>
                        <a:buNone/>
                      </a:pPr>
                      <a:r>
                        <a:rPr lang="it-IT">
                          <a:solidFill>
                            <a:schemeClr val="dk1"/>
                          </a:solidFill>
                        </a:rPr>
                        <a:t>-3.36</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None/>
                      </a:pPr>
                      <a:r>
                        <a:rPr lang="it-IT">
                          <a:solidFill>
                            <a:schemeClr val="dk1"/>
                          </a:solidFill>
                        </a:rPr>
                        <a:t>1.69</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r>
              <a:tr h="370075">
                <a:tc>
                  <a:txBody>
                    <a:bodyPr/>
                    <a:lstStyle/>
                    <a:p>
                      <a:pPr indent="0" lvl="0" marL="0" marR="0" rtl="0" algn="l">
                        <a:lnSpc>
                          <a:spcPct val="100000"/>
                        </a:lnSpc>
                        <a:spcBef>
                          <a:spcPts val="0"/>
                        </a:spcBef>
                        <a:spcAft>
                          <a:spcPts val="0"/>
                        </a:spcAft>
                        <a:buNone/>
                      </a:pPr>
                      <a:r>
                        <a:rPr lang="it-IT">
                          <a:solidFill>
                            <a:schemeClr val="dk1"/>
                          </a:solidFill>
                        </a:rPr>
                        <a:t>1.1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it-IT">
                          <a:solidFill>
                            <a:schemeClr val="dk1"/>
                          </a:solidFill>
                        </a:rPr>
                        <a:t>-3.76</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it-IT">
                          <a:solidFill>
                            <a:schemeClr val="dk1"/>
                          </a:solidFill>
                        </a:rPr>
                        <a:t>1.55</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370075">
                <a:tc>
                  <a:txBody>
                    <a:bodyPr/>
                    <a:lstStyle/>
                    <a:p>
                      <a:pPr indent="0" lvl="0" marL="0" marR="0" rtl="0" algn="l">
                        <a:lnSpc>
                          <a:spcPct val="100000"/>
                        </a:lnSpc>
                        <a:spcBef>
                          <a:spcPts val="0"/>
                        </a:spcBef>
                        <a:spcAft>
                          <a:spcPts val="0"/>
                        </a:spcAft>
                        <a:buClr>
                          <a:schemeClr val="dk1"/>
                        </a:buClr>
                        <a:buFont typeface="Arial"/>
                        <a:buNone/>
                      </a:pPr>
                      <a:r>
                        <a:rPr lang="it-IT">
                          <a:solidFill>
                            <a:schemeClr val="dk1"/>
                          </a:solidFill>
                        </a:rPr>
                        <a:t>1.2</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Font typeface="Arial"/>
                        <a:buNone/>
                      </a:pPr>
                      <a:r>
                        <a:rPr lang="it-IT">
                          <a:solidFill>
                            <a:schemeClr val="dk1"/>
                          </a:solidFill>
                        </a:rPr>
                        <a:t>-3.37</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c>
                  <a:txBody>
                    <a:bodyPr/>
                    <a:lstStyle/>
                    <a:p>
                      <a:pPr indent="0" lvl="0" marL="0" marR="0" rtl="0" algn="l">
                        <a:spcBef>
                          <a:spcPts val="0"/>
                        </a:spcBef>
                        <a:spcAft>
                          <a:spcPts val="0"/>
                        </a:spcAft>
                        <a:buNone/>
                      </a:pPr>
                      <a:r>
                        <a:rPr lang="it-IT">
                          <a:solidFill>
                            <a:schemeClr val="dk1"/>
                          </a:solidFill>
                        </a:rPr>
                        <a:t>1.58</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r>
            </a:tbl>
          </a:graphicData>
        </a:graphic>
      </p:graphicFrame>
      <p:sp>
        <p:nvSpPr>
          <p:cNvPr id="225" name="Google Shape;225;g3b0ee8aa525_0_0"/>
          <p:cNvSpPr txBox="1"/>
          <p:nvPr>
            <p:ph idx="1" type="body"/>
          </p:nvPr>
        </p:nvSpPr>
        <p:spPr>
          <a:xfrm>
            <a:off x="313350" y="4057475"/>
            <a:ext cx="11565300" cy="1910100"/>
          </a:xfrm>
          <a:prstGeom prst="rect">
            <a:avLst/>
          </a:prstGeom>
          <a:noFill/>
          <a:ln>
            <a:noFill/>
          </a:ln>
        </p:spPr>
        <p:txBody>
          <a:bodyPr anchorCtr="0" anchor="t" bIns="46800" lIns="91425" spcFirstLastPara="1" rIns="91425" wrap="square" tIns="45700">
            <a:normAutofit/>
          </a:bodyPr>
          <a:lstStyle/>
          <a:p>
            <a:pPr indent="-266759" lvl="0" marL="266759" marR="0" rtl="0" algn="l">
              <a:lnSpc>
                <a:spcPct val="100000"/>
              </a:lnSpc>
              <a:spcBef>
                <a:spcPts val="201"/>
              </a:spcBef>
              <a:spcAft>
                <a:spcPts val="0"/>
              </a:spcAft>
              <a:buClr>
                <a:srgbClr val="00ACA7"/>
              </a:buClr>
              <a:buSzPts val="2000"/>
              <a:buFont typeface="Arial"/>
              <a:buChar char="●"/>
            </a:pPr>
            <a:r>
              <a:rPr b="1" lang="it-IT" sz="2000">
                <a:solidFill>
                  <a:schemeClr val="dk1"/>
                </a:solidFill>
              </a:rPr>
              <a:t>Case 1 - ID:</a:t>
            </a:r>
            <a:r>
              <a:rPr lang="it-IT" sz="2000">
                <a:solidFill>
                  <a:schemeClr val="dk1"/>
                </a:solidFill>
              </a:rPr>
              <a:t> EuroSAT test sample</a:t>
            </a:r>
            <a:endParaRPr sz="2000">
              <a:solidFill>
                <a:schemeClr val="dk1"/>
              </a:solidFill>
            </a:endParaRPr>
          </a:p>
          <a:p>
            <a:pPr indent="-266759" lvl="0" marL="266759" marR="0" rtl="0" algn="l">
              <a:lnSpc>
                <a:spcPct val="100000"/>
              </a:lnSpc>
              <a:spcBef>
                <a:spcPts val="201"/>
              </a:spcBef>
              <a:spcAft>
                <a:spcPts val="0"/>
              </a:spcAft>
              <a:buClr>
                <a:srgbClr val="00ACA7"/>
              </a:buClr>
              <a:buSzPts val="2000"/>
              <a:buFont typeface="Arial"/>
              <a:buChar char="●"/>
            </a:pPr>
            <a:r>
              <a:rPr b="1" lang="it-IT" sz="2000">
                <a:solidFill>
                  <a:schemeClr val="dk1"/>
                </a:solidFill>
              </a:rPr>
              <a:t>Case 1.1 - OOD:</a:t>
            </a:r>
            <a:r>
              <a:rPr lang="it-IT" sz="2000">
                <a:solidFill>
                  <a:schemeClr val="dk1"/>
                </a:solidFill>
              </a:rPr>
              <a:t> </a:t>
            </a:r>
            <a:r>
              <a:rPr lang="it-IT" sz="2000">
                <a:solidFill>
                  <a:schemeClr val="dk1"/>
                </a:solidFill>
              </a:rPr>
              <a:t>EuroSAT</a:t>
            </a:r>
            <a:r>
              <a:rPr lang="it-IT" sz="2000">
                <a:solidFill>
                  <a:schemeClr val="dk1"/>
                </a:solidFill>
              </a:rPr>
              <a:t> test samples with gaussian blur</a:t>
            </a:r>
            <a:endParaRPr sz="2000">
              <a:solidFill>
                <a:schemeClr val="dk1"/>
              </a:solidFill>
            </a:endParaRPr>
          </a:p>
          <a:p>
            <a:pPr indent="-266759" lvl="0" marL="266759" marR="0" rtl="0" algn="l">
              <a:lnSpc>
                <a:spcPct val="100000"/>
              </a:lnSpc>
              <a:spcBef>
                <a:spcPts val="201"/>
              </a:spcBef>
              <a:spcAft>
                <a:spcPts val="0"/>
              </a:spcAft>
              <a:buClr>
                <a:srgbClr val="00ACA7"/>
              </a:buClr>
              <a:buSzPts val="2000"/>
              <a:buFont typeface="Arial"/>
              <a:buChar char="●"/>
            </a:pPr>
            <a:r>
              <a:rPr b="1" lang="it-IT" sz="2000">
                <a:solidFill>
                  <a:schemeClr val="dk1"/>
                </a:solidFill>
              </a:rPr>
              <a:t>Case 1.2 - OOD:</a:t>
            </a:r>
            <a:r>
              <a:rPr lang="it-IT" sz="2000">
                <a:solidFill>
                  <a:schemeClr val="dk1"/>
                </a:solidFill>
              </a:rPr>
              <a:t> </a:t>
            </a:r>
            <a:r>
              <a:rPr lang="it-IT" sz="2000">
                <a:solidFill>
                  <a:schemeClr val="dk1"/>
                </a:solidFill>
              </a:rPr>
              <a:t>EuroSAT</a:t>
            </a:r>
            <a:r>
              <a:rPr lang="it-IT" sz="2000">
                <a:solidFill>
                  <a:schemeClr val="dk1"/>
                </a:solidFill>
              </a:rPr>
              <a:t> test samples with RFI-like noise</a:t>
            </a:r>
            <a:endParaRPr sz="2000">
              <a:solidFill>
                <a:schemeClr val="dk1"/>
              </a:solidFill>
            </a:endParaRPr>
          </a:p>
          <a:p>
            <a:pPr indent="-266759" lvl="0" marL="266759" marR="0" rtl="0" algn="l">
              <a:lnSpc>
                <a:spcPct val="100000"/>
              </a:lnSpc>
              <a:spcBef>
                <a:spcPts val="201"/>
              </a:spcBef>
              <a:spcAft>
                <a:spcPts val="0"/>
              </a:spcAft>
              <a:buClr>
                <a:schemeClr val="accent3"/>
              </a:buClr>
              <a:buSzPts val="2000"/>
              <a:buChar char="●"/>
            </a:pPr>
            <a:r>
              <a:rPr lang="it-IT" sz="2000">
                <a:solidFill>
                  <a:schemeClr val="dk1"/>
                </a:solidFill>
              </a:rPr>
              <a:t>linear models don’t have enough performance on the base task to distinguish between ID and OOD on EuroSAT </a:t>
            </a:r>
            <a:endParaRPr sz="2000">
              <a:solidFill>
                <a:schemeClr val="dk1"/>
              </a:solidFill>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g3b0ee8aa525_0_8"/>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232" name="Google Shape;232;g3b0ee8aa525_0_8"/>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rtl="0" algn="l">
              <a:lnSpc>
                <a:spcPct val="90000"/>
              </a:lnSpc>
              <a:spcBef>
                <a:spcPts val="0"/>
              </a:spcBef>
              <a:spcAft>
                <a:spcPts val="0"/>
              </a:spcAft>
              <a:buClr>
                <a:schemeClr val="dk1"/>
              </a:buClr>
              <a:buFont typeface="Arial"/>
              <a:buNone/>
            </a:pPr>
            <a:r>
              <a:rPr b="1" lang="it-IT" sz="2700">
                <a:solidFill>
                  <a:schemeClr val="accent3"/>
                </a:solidFill>
                <a:latin typeface="Century Gothic"/>
                <a:ea typeface="Century Gothic"/>
                <a:cs typeface="Century Gothic"/>
                <a:sym typeface="Century Gothic"/>
              </a:rPr>
              <a:t>Results convolutional models EuroSAT</a:t>
            </a:r>
            <a:endParaRPr b="0" i="0" sz="2700" u="none" cap="none" strike="noStrike">
              <a:solidFill>
                <a:srgbClr val="000000"/>
              </a:solidFill>
              <a:latin typeface="Arial"/>
              <a:ea typeface="Arial"/>
              <a:cs typeface="Arial"/>
              <a:sym typeface="Arial"/>
            </a:endParaRPr>
          </a:p>
        </p:txBody>
      </p:sp>
      <p:graphicFrame>
        <p:nvGraphicFramePr>
          <p:cNvPr id="233" name="Google Shape;233;g3b0ee8aa525_0_8"/>
          <p:cNvGraphicFramePr/>
          <p:nvPr/>
        </p:nvGraphicFramePr>
        <p:xfrm>
          <a:off x="1638000" y="1710000"/>
          <a:ext cx="3000000" cy="3000000"/>
        </p:xfrm>
        <a:graphic>
          <a:graphicData uri="http://schemas.openxmlformats.org/drawingml/2006/table">
            <a:tbl>
              <a:tblPr>
                <a:noFill/>
                <a:tableStyleId>{E1C77492-6C3E-43B7-82BC-CB507C7431A0}</a:tableStyleId>
              </a:tblPr>
              <a:tblGrid>
                <a:gridCol w="2157700"/>
                <a:gridCol w="3384625"/>
                <a:gridCol w="3153775"/>
              </a:tblGrid>
              <a:tr h="464575">
                <a:tc>
                  <a:txBody>
                    <a:bodyPr/>
                    <a:lstStyle/>
                    <a:p>
                      <a:pPr indent="0" lvl="0" marL="0" marR="0" rtl="0" algn="l">
                        <a:lnSpc>
                          <a:spcPct val="100000"/>
                        </a:lnSpc>
                        <a:spcBef>
                          <a:spcPts val="0"/>
                        </a:spcBef>
                        <a:spcAft>
                          <a:spcPts val="0"/>
                        </a:spcAft>
                        <a:buNone/>
                      </a:pPr>
                      <a:r>
                        <a:rPr b="1" lang="it-IT">
                          <a:solidFill>
                            <a:schemeClr val="dk1"/>
                          </a:solidFill>
                        </a:rPr>
                        <a:t>Cases</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it-IT">
                          <a:solidFill>
                            <a:schemeClr val="dk1"/>
                          </a:solidFill>
                        </a:rPr>
                        <a:t>NN energy</a:t>
                      </a:r>
                      <a:endParaRPr b="1">
                        <a:solidFill>
                          <a:schemeClr val="dk1"/>
                        </a:solidFill>
                      </a:endParaRPr>
                    </a:p>
                    <a:p>
                      <a:pPr indent="0" lvl="0" marL="0" marR="0" rtl="0" algn="l">
                        <a:lnSpc>
                          <a:spcPct val="100000"/>
                        </a:lnSpc>
                        <a:spcBef>
                          <a:spcPts val="0"/>
                        </a:spcBef>
                        <a:spcAft>
                          <a:spcPts val="0"/>
                        </a:spcAft>
                        <a:buNone/>
                      </a:pPr>
                      <a:r>
                        <a:rPr b="1" lang="it-IT">
                          <a:solidFill>
                            <a:schemeClr val="dk1"/>
                          </a:solidFill>
                        </a:rPr>
                        <a:t>−T⋅log(i=∑​exp(logit_i​​/T))</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it-IT">
                          <a:solidFill>
                            <a:schemeClr val="dk1"/>
                          </a:solidFill>
                        </a:rPr>
                        <a:t>SNN Firing rate (HZ)</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tcPr>
                </a:tc>
              </a:tr>
              <a:tr h="406025">
                <a:tc>
                  <a:txBody>
                    <a:bodyPr/>
                    <a:lstStyle/>
                    <a:p>
                      <a:pPr indent="0" lvl="0" marL="0" rtl="0" algn="l">
                        <a:spcBef>
                          <a:spcPts val="0"/>
                        </a:spcBef>
                        <a:spcAft>
                          <a:spcPts val="0"/>
                        </a:spcAft>
                        <a:buClr>
                          <a:schemeClr val="dk1"/>
                        </a:buClr>
                        <a:buFont typeface="Arial"/>
                        <a:buNone/>
                      </a:pPr>
                      <a:r>
                        <a:rPr lang="it-IT">
                          <a:solidFill>
                            <a:schemeClr val="dk1"/>
                          </a:solidFill>
                        </a:rPr>
                        <a:t>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Font typeface="Arial"/>
                        <a:buNone/>
                      </a:pPr>
                      <a:r>
                        <a:rPr lang="it-IT">
                          <a:solidFill>
                            <a:schemeClr val="dk1"/>
                          </a:solidFill>
                        </a:rPr>
                        <a:t>-2.40</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None/>
                      </a:pPr>
                      <a:r>
                        <a:rPr lang="it-IT">
                          <a:solidFill>
                            <a:schemeClr val="dk1"/>
                          </a:solidFill>
                        </a:rPr>
                        <a:t>2.25</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r>
              <a:tr h="370075">
                <a:tc>
                  <a:txBody>
                    <a:bodyPr/>
                    <a:lstStyle/>
                    <a:p>
                      <a:pPr indent="0" lvl="0" marL="0" marR="0" rtl="0" algn="l">
                        <a:lnSpc>
                          <a:spcPct val="100000"/>
                        </a:lnSpc>
                        <a:spcBef>
                          <a:spcPts val="0"/>
                        </a:spcBef>
                        <a:spcAft>
                          <a:spcPts val="0"/>
                        </a:spcAft>
                        <a:buNone/>
                      </a:pPr>
                      <a:r>
                        <a:rPr lang="it-IT">
                          <a:solidFill>
                            <a:schemeClr val="dk1"/>
                          </a:solidFill>
                        </a:rPr>
                        <a:t>1.1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it-IT">
                          <a:solidFill>
                            <a:schemeClr val="dk1"/>
                          </a:solidFill>
                        </a:rPr>
                        <a:t>-2.37</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it-IT">
                          <a:solidFill>
                            <a:schemeClr val="dk1"/>
                          </a:solidFill>
                        </a:rPr>
                        <a:t>3.29</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370075">
                <a:tc>
                  <a:txBody>
                    <a:bodyPr/>
                    <a:lstStyle/>
                    <a:p>
                      <a:pPr indent="0" lvl="0" marL="0" marR="0" rtl="0" algn="l">
                        <a:lnSpc>
                          <a:spcPct val="100000"/>
                        </a:lnSpc>
                        <a:spcBef>
                          <a:spcPts val="0"/>
                        </a:spcBef>
                        <a:spcAft>
                          <a:spcPts val="0"/>
                        </a:spcAft>
                        <a:buClr>
                          <a:schemeClr val="dk1"/>
                        </a:buClr>
                        <a:buFont typeface="Arial"/>
                        <a:buNone/>
                      </a:pPr>
                      <a:r>
                        <a:rPr lang="it-IT">
                          <a:solidFill>
                            <a:schemeClr val="dk1"/>
                          </a:solidFill>
                        </a:rPr>
                        <a:t>1.2</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Font typeface="Arial"/>
                        <a:buNone/>
                      </a:pPr>
                      <a:r>
                        <a:rPr lang="it-IT">
                          <a:solidFill>
                            <a:schemeClr val="dk1"/>
                          </a:solidFill>
                        </a:rPr>
                        <a:t>-2.41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c>
                  <a:txBody>
                    <a:bodyPr/>
                    <a:lstStyle/>
                    <a:p>
                      <a:pPr indent="0" lvl="0" marL="0" marR="0" rtl="0" algn="l">
                        <a:spcBef>
                          <a:spcPts val="0"/>
                        </a:spcBef>
                        <a:spcAft>
                          <a:spcPts val="0"/>
                        </a:spcAft>
                        <a:buNone/>
                      </a:pPr>
                      <a:r>
                        <a:rPr lang="it-IT">
                          <a:solidFill>
                            <a:schemeClr val="dk1"/>
                          </a:solidFill>
                        </a:rPr>
                        <a:t>3.34</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r>
            </a:tbl>
          </a:graphicData>
        </a:graphic>
      </p:graphicFrame>
      <p:sp>
        <p:nvSpPr>
          <p:cNvPr id="234" name="Google Shape;234;g3b0ee8aa525_0_8"/>
          <p:cNvSpPr txBox="1"/>
          <p:nvPr>
            <p:ph idx="1" type="body"/>
          </p:nvPr>
        </p:nvSpPr>
        <p:spPr>
          <a:xfrm>
            <a:off x="313350" y="4057475"/>
            <a:ext cx="11565300" cy="1910100"/>
          </a:xfrm>
          <a:prstGeom prst="rect">
            <a:avLst/>
          </a:prstGeom>
          <a:noFill/>
          <a:ln>
            <a:noFill/>
          </a:ln>
        </p:spPr>
        <p:txBody>
          <a:bodyPr anchorCtr="0" anchor="t" bIns="46800" lIns="91425" spcFirstLastPara="1" rIns="91425" wrap="square" tIns="45700">
            <a:normAutofit/>
          </a:bodyPr>
          <a:lstStyle/>
          <a:p>
            <a:pPr indent="-266759" lvl="0" marL="266759" marR="0" rtl="0" algn="l">
              <a:lnSpc>
                <a:spcPct val="100000"/>
              </a:lnSpc>
              <a:spcBef>
                <a:spcPts val="201"/>
              </a:spcBef>
              <a:spcAft>
                <a:spcPts val="0"/>
              </a:spcAft>
              <a:buClr>
                <a:srgbClr val="00ACA7"/>
              </a:buClr>
              <a:buSzPts val="2000"/>
              <a:buFont typeface="Arial"/>
              <a:buChar char="●"/>
            </a:pPr>
            <a:r>
              <a:rPr b="1" lang="it-IT" sz="2000">
                <a:solidFill>
                  <a:schemeClr val="dk1"/>
                </a:solidFill>
              </a:rPr>
              <a:t>Case 1 - ID:</a:t>
            </a:r>
            <a:r>
              <a:rPr lang="it-IT" sz="2000">
                <a:solidFill>
                  <a:schemeClr val="dk1"/>
                </a:solidFill>
              </a:rPr>
              <a:t> EuroSAT test sample</a:t>
            </a:r>
            <a:endParaRPr sz="2000">
              <a:solidFill>
                <a:schemeClr val="dk1"/>
              </a:solidFill>
            </a:endParaRPr>
          </a:p>
          <a:p>
            <a:pPr indent="-266759" lvl="0" marL="266759" marR="0" rtl="0" algn="l">
              <a:lnSpc>
                <a:spcPct val="100000"/>
              </a:lnSpc>
              <a:spcBef>
                <a:spcPts val="201"/>
              </a:spcBef>
              <a:spcAft>
                <a:spcPts val="0"/>
              </a:spcAft>
              <a:buClr>
                <a:srgbClr val="00ACA7"/>
              </a:buClr>
              <a:buSzPts val="2000"/>
              <a:buFont typeface="Arial"/>
              <a:buChar char="●"/>
            </a:pPr>
            <a:r>
              <a:rPr b="1" lang="it-IT" sz="2000">
                <a:solidFill>
                  <a:schemeClr val="dk1"/>
                </a:solidFill>
              </a:rPr>
              <a:t>Case 1.1 - OOD:</a:t>
            </a:r>
            <a:r>
              <a:rPr lang="it-IT" sz="2000">
                <a:solidFill>
                  <a:schemeClr val="dk1"/>
                </a:solidFill>
              </a:rPr>
              <a:t> EuroSAT test samples with gaussian blur</a:t>
            </a:r>
            <a:endParaRPr sz="2000">
              <a:solidFill>
                <a:schemeClr val="dk1"/>
              </a:solidFill>
            </a:endParaRPr>
          </a:p>
          <a:p>
            <a:pPr indent="-266759" lvl="0" marL="266759" marR="0" rtl="0" algn="l">
              <a:lnSpc>
                <a:spcPct val="100000"/>
              </a:lnSpc>
              <a:spcBef>
                <a:spcPts val="201"/>
              </a:spcBef>
              <a:spcAft>
                <a:spcPts val="0"/>
              </a:spcAft>
              <a:buClr>
                <a:srgbClr val="00ACA7"/>
              </a:buClr>
              <a:buSzPts val="2000"/>
              <a:buFont typeface="Arial"/>
              <a:buChar char="●"/>
            </a:pPr>
            <a:r>
              <a:rPr b="1" lang="it-IT" sz="2000">
                <a:solidFill>
                  <a:schemeClr val="dk1"/>
                </a:solidFill>
              </a:rPr>
              <a:t>Case 1.2 - OOD:</a:t>
            </a:r>
            <a:r>
              <a:rPr lang="it-IT" sz="2000">
                <a:solidFill>
                  <a:schemeClr val="dk1"/>
                </a:solidFill>
              </a:rPr>
              <a:t> EuroSAT test samples with RFI-like noise</a:t>
            </a:r>
            <a:endParaRPr sz="2000">
              <a:solidFill>
                <a:schemeClr val="dk1"/>
              </a:solidFill>
            </a:endParaRPr>
          </a:p>
          <a:p>
            <a:pPr indent="-266759" lvl="0" marL="266759" marR="0" rtl="0" algn="l">
              <a:lnSpc>
                <a:spcPct val="100000"/>
              </a:lnSpc>
              <a:spcBef>
                <a:spcPts val="201"/>
              </a:spcBef>
              <a:spcAft>
                <a:spcPts val="0"/>
              </a:spcAft>
              <a:buClr>
                <a:schemeClr val="accent3"/>
              </a:buClr>
              <a:buSzPts val="2000"/>
              <a:buChar char="●"/>
            </a:pPr>
            <a:r>
              <a:rPr lang="it-IT" sz="2000">
                <a:solidFill>
                  <a:schemeClr val="dk1"/>
                </a:solidFill>
              </a:rPr>
              <a:t>this </a:t>
            </a:r>
            <a:r>
              <a:rPr lang="it-IT" sz="2000">
                <a:solidFill>
                  <a:schemeClr val="dk1"/>
                </a:solidFill>
              </a:rPr>
              <a:t>simple</a:t>
            </a:r>
            <a:r>
              <a:rPr lang="it-IT" sz="2000">
                <a:solidFill>
                  <a:schemeClr val="dk1"/>
                </a:solidFill>
              </a:rPr>
              <a:t> convolutional models manage to show a small difference even on EuroSAT, especially the SNN case, so the firing rate look like a better indicator in this case </a:t>
            </a:r>
            <a:endParaRPr sz="2000">
              <a:solidFill>
                <a:schemeClr val="dk1"/>
              </a:solidFill>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3bfccae9961_0_311"/>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241" name="Google Shape;241;g3bfccae9961_0_311"/>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Clr>
                <a:schemeClr val="dk1"/>
              </a:buClr>
              <a:buSzPts val="2700"/>
              <a:buFont typeface="Arial"/>
              <a:buNone/>
            </a:pPr>
            <a:r>
              <a:rPr b="1" i="0" lang="it-IT" sz="2700" u="none" cap="none" strike="noStrike">
                <a:solidFill>
                  <a:schemeClr val="accent3"/>
                </a:solidFill>
                <a:latin typeface="Century Gothic"/>
                <a:ea typeface="Century Gothic"/>
                <a:cs typeface="Century Gothic"/>
                <a:sym typeface="Century Gothic"/>
              </a:rPr>
              <a:t>Results linear models </a:t>
            </a:r>
            <a:endParaRPr b="0" i="0" sz="2700" u="none" cap="none" strike="noStrike">
              <a:solidFill>
                <a:srgbClr val="000000"/>
              </a:solidFill>
              <a:latin typeface="Arial"/>
              <a:ea typeface="Arial"/>
              <a:cs typeface="Arial"/>
              <a:sym typeface="Arial"/>
            </a:endParaRPr>
          </a:p>
        </p:txBody>
      </p:sp>
      <p:pic>
        <p:nvPicPr>
          <p:cNvPr id="242" name="Google Shape;242;g3bfccae9961_0_311" title="RFI_energy_EuroSAT_plot.png"/>
          <p:cNvPicPr preferRelativeResize="0"/>
          <p:nvPr/>
        </p:nvPicPr>
        <p:blipFill rotWithShape="1">
          <a:blip r:embed="rId3">
            <a:alphaModFix/>
          </a:blip>
          <a:srcRect b="5560" l="3910" r="10" t="6187"/>
          <a:stretch/>
        </p:blipFill>
        <p:spPr>
          <a:xfrm>
            <a:off x="7472288" y="4076812"/>
            <a:ext cx="3090374" cy="1895576"/>
          </a:xfrm>
          <a:prstGeom prst="rect">
            <a:avLst/>
          </a:prstGeom>
          <a:noFill/>
          <a:ln>
            <a:noFill/>
          </a:ln>
        </p:spPr>
      </p:pic>
      <p:pic>
        <p:nvPicPr>
          <p:cNvPr id="243" name="Google Shape;243;g3bfccae9961_0_311" title="gaussian_noise_energy_mnist_plot.png"/>
          <p:cNvPicPr preferRelativeResize="0"/>
          <p:nvPr/>
        </p:nvPicPr>
        <p:blipFill rotWithShape="1">
          <a:blip r:embed="rId4">
            <a:alphaModFix/>
          </a:blip>
          <a:srcRect b="5940" l="4571" r="0" t="6063"/>
          <a:stretch/>
        </p:blipFill>
        <p:spPr>
          <a:xfrm>
            <a:off x="1790000" y="1880274"/>
            <a:ext cx="3068899" cy="1867476"/>
          </a:xfrm>
          <a:prstGeom prst="rect">
            <a:avLst/>
          </a:prstGeom>
          <a:noFill/>
          <a:ln>
            <a:noFill/>
          </a:ln>
        </p:spPr>
      </p:pic>
      <p:pic>
        <p:nvPicPr>
          <p:cNvPr id="244" name="Google Shape;244;g3bfccae9961_0_311" title="gaussian_noise_energy_EuroSAT_plot.png"/>
          <p:cNvPicPr preferRelativeResize="0"/>
          <p:nvPr/>
        </p:nvPicPr>
        <p:blipFill rotWithShape="1">
          <a:blip r:embed="rId5">
            <a:alphaModFix/>
          </a:blip>
          <a:srcRect b="5686" l="4571" r="0" t="5889"/>
          <a:stretch/>
        </p:blipFill>
        <p:spPr>
          <a:xfrm>
            <a:off x="7545863" y="1845789"/>
            <a:ext cx="3068899" cy="1936450"/>
          </a:xfrm>
          <a:prstGeom prst="rect">
            <a:avLst/>
          </a:prstGeom>
          <a:noFill/>
          <a:ln>
            <a:noFill/>
          </a:ln>
        </p:spPr>
      </p:pic>
      <p:pic>
        <p:nvPicPr>
          <p:cNvPr id="245" name="Google Shape;245;g3bfccae9961_0_311" title="RFI_energy_mnist_plot.png"/>
          <p:cNvPicPr preferRelativeResize="0"/>
          <p:nvPr/>
        </p:nvPicPr>
        <p:blipFill rotWithShape="1">
          <a:blip r:embed="rId6">
            <a:alphaModFix/>
          </a:blip>
          <a:srcRect b="5381" l="3698" r="0" t="6107"/>
          <a:stretch/>
        </p:blipFill>
        <p:spPr>
          <a:xfrm>
            <a:off x="1719525" y="4067769"/>
            <a:ext cx="3327949" cy="2018174"/>
          </a:xfrm>
          <a:prstGeom prst="rect">
            <a:avLst/>
          </a:prstGeom>
          <a:noFill/>
          <a:ln>
            <a:noFill/>
          </a:ln>
        </p:spPr>
      </p:pic>
      <p:sp>
        <p:nvSpPr>
          <p:cNvPr id="246" name="Google Shape;246;g3bfccae9961_0_311"/>
          <p:cNvSpPr/>
          <p:nvPr/>
        </p:nvSpPr>
        <p:spPr>
          <a:xfrm>
            <a:off x="1591750" y="150305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mnist</a:t>
            </a:r>
            <a:endParaRPr b="0" i="0" sz="1900" u="none" cap="none" strike="noStrike">
              <a:solidFill>
                <a:srgbClr val="000000"/>
              </a:solidFill>
              <a:latin typeface="Arial"/>
              <a:ea typeface="Arial"/>
              <a:cs typeface="Arial"/>
              <a:sym typeface="Arial"/>
            </a:endParaRPr>
          </a:p>
        </p:txBody>
      </p:sp>
      <p:sp>
        <p:nvSpPr>
          <p:cNvPr id="247" name="Google Shape;247;g3bfccae9961_0_311"/>
          <p:cNvSpPr/>
          <p:nvPr/>
        </p:nvSpPr>
        <p:spPr>
          <a:xfrm>
            <a:off x="7328325" y="141150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EuroSAT</a:t>
            </a:r>
            <a:endParaRPr b="0" i="0" sz="1900" u="none" cap="none" strike="noStrike">
              <a:solidFill>
                <a:srgbClr val="000000"/>
              </a:solidFill>
              <a:latin typeface="Arial"/>
              <a:ea typeface="Arial"/>
              <a:cs typeface="Arial"/>
              <a:sym typeface="Arial"/>
            </a:endParaRPr>
          </a:p>
        </p:txBody>
      </p:sp>
      <p:pic>
        <p:nvPicPr>
          <p:cNvPr id="248" name="Google Shape;248;g3bfccae9961_0_311" title="gaussian_noise_energy_mnist_plot.png"/>
          <p:cNvPicPr preferRelativeResize="0"/>
          <p:nvPr/>
        </p:nvPicPr>
        <p:blipFill rotWithShape="1">
          <a:blip r:embed="rId4">
            <a:alphaModFix/>
          </a:blip>
          <a:srcRect b="43314" l="868" r="96270" t="38984"/>
          <a:stretch/>
        </p:blipFill>
        <p:spPr>
          <a:xfrm>
            <a:off x="1550075" y="2428812"/>
            <a:ext cx="194951" cy="795549"/>
          </a:xfrm>
          <a:prstGeom prst="rect">
            <a:avLst/>
          </a:prstGeom>
          <a:noFill/>
          <a:ln>
            <a:noFill/>
          </a:ln>
        </p:spPr>
      </p:pic>
      <p:sp>
        <p:nvSpPr>
          <p:cNvPr id="249" name="Google Shape;249;g3bfccae9961_0_311"/>
          <p:cNvSpPr txBox="1"/>
          <p:nvPr/>
        </p:nvSpPr>
        <p:spPr>
          <a:xfrm>
            <a:off x="2008750" y="3650300"/>
            <a:ext cx="2850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IT" sz="1000"/>
              <a:t>Noise intensity(Gaussian)</a:t>
            </a:r>
            <a:endParaRPr sz="1000"/>
          </a:p>
        </p:txBody>
      </p:sp>
      <p:pic>
        <p:nvPicPr>
          <p:cNvPr id="250" name="Google Shape;250;g3bfccae9961_0_311" title="gaussian_noise_energy_mnist_plot.png"/>
          <p:cNvPicPr preferRelativeResize="0"/>
          <p:nvPr/>
        </p:nvPicPr>
        <p:blipFill rotWithShape="1">
          <a:blip r:embed="rId4">
            <a:alphaModFix/>
          </a:blip>
          <a:srcRect b="43314" l="868" r="96270" t="38984"/>
          <a:stretch/>
        </p:blipFill>
        <p:spPr>
          <a:xfrm>
            <a:off x="1507575" y="4639394"/>
            <a:ext cx="194951" cy="795549"/>
          </a:xfrm>
          <a:prstGeom prst="rect">
            <a:avLst/>
          </a:prstGeom>
          <a:noFill/>
          <a:ln>
            <a:noFill/>
          </a:ln>
        </p:spPr>
      </p:pic>
      <p:sp>
        <p:nvSpPr>
          <p:cNvPr id="251" name="Google Shape;251;g3bfccae9961_0_311"/>
          <p:cNvSpPr txBox="1"/>
          <p:nvPr/>
        </p:nvSpPr>
        <p:spPr>
          <a:xfrm>
            <a:off x="1971602" y="6022055"/>
            <a:ext cx="2850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IT" sz="1000"/>
              <a:t>Noise intensity(RFI)</a:t>
            </a:r>
            <a:endParaRPr sz="1000"/>
          </a:p>
        </p:txBody>
      </p:sp>
      <p:pic>
        <p:nvPicPr>
          <p:cNvPr id="252" name="Google Shape;252;g3bfccae9961_0_311" title="gaussian_noise_energy_mnist_plot.png"/>
          <p:cNvPicPr preferRelativeResize="0"/>
          <p:nvPr/>
        </p:nvPicPr>
        <p:blipFill rotWithShape="1">
          <a:blip r:embed="rId4">
            <a:alphaModFix/>
          </a:blip>
          <a:srcRect b="43314" l="868" r="96270" t="38984"/>
          <a:stretch/>
        </p:blipFill>
        <p:spPr>
          <a:xfrm>
            <a:off x="7296375" y="2428837"/>
            <a:ext cx="194951" cy="795549"/>
          </a:xfrm>
          <a:prstGeom prst="rect">
            <a:avLst/>
          </a:prstGeom>
          <a:noFill/>
          <a:ln>
            <a:noFill/>
          </a:ln>
        </p:spPr>
      </p:pic>
      <p:sp>
        <p:nvSpPr>
          <p:cNvPr id="253" name="Google Shape;253;g3bfccae9961_0_311"/>
          <p:cNvSpPr txBox="1"/>
          <p:nvPr/>
        </p:nvSpPr>
        <p:spPr>
          <a:xfrm>
            <a:off x="7764450" y="3662873"/>
            <a:ext cx="2850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IT" sz="1000"/>
              <a:t>Noise intensity(Gaussian)</a:t>
            </a:r>
            <a:endParaRPr sz="1000"/>
          </a:p>
        </p:txBody>
      </p:sp>
      <p:pic>
        <p:nvPicPr>
          <p:cNvPr id="254" name="Google Shape;254;g3bfccae9961_0_311" title="gaussian_noise_energy_mnist_plot.png"/>
          <p:cNvPicPr preferRelativeResize="0"/>
          <p:nvPr/>
        </p:nvPicPr>
        <p:blipFill rotWithShape="1">
          <a:blip r:embed="rId4">
            <a:alphaModFix/>
          </a:blip>
          <a:srcRect b="43314" l="868" r="96270" t="38984"/>
          <a:stretch/>
        </p:blipFill>
        <p:spPr>
          <a:xfrm>
            <a:off x="7296375" y="4639394"/>
            <a:ext cx="194951" cy="795549"/>
          </a:xfrm>
          <a:prstGeom prst="rect">
            <a:avLst/>
          </a:prstGeom>
          <a:noFill/>
          <a:ln>
            <a:noFill/>
          </a:ln>
        </p:spPr>
      </p:pic>
      <p:sp>
        <p:nvSpPr>
          <p:cNvPr id="255" name="Google Shape;255;g3bfccae9961_0_311"/>
          <p:cNvSpPr txBox="1"/>
          <p:nvPr/>
        </p:nvSpPr>
        <p:spPr>
          <a:xfrm>
            <a:off x="7791277" y="5891537"/>
            <a:ext cx="2850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IT" sz="1000"/>
              <a:t>Noise intensity(RFI)</a:t>
            </a:r>
            <a:endParaRPr sz="1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bfccae9961_0_331"/>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262" name="Google Shape;262;g3bfccae9961_0_331"/>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Clr>
                <a:schemeClr val="dk1"/>
              </a:buClr>
              <a:buSzPts val="2700"/>
              <a:buFont typeface="Arial"/>
              <a:buNone/>
            </a:pPr>
            <a:r>
              <a:rPr b="1" i="0" lang="it-IT" sz="2700" u="none" cap="none" strike="noStrike">
                <a:solidFill>
                  <a:schemeClr val="accent3"/>
                </a:solidFill>
                <a:latin typeface="Century Gothic"/>
                <a:ea typeface="Century Gothic"/>
                <a:cs typeface="Century Gothic"/>
                <a:sym typeface="Century Gothic"/>
              </a:rPr>
              <a:t>Results spike linear models </a:t>
            </a:r>
            <a:endParaRPr b="0" i="0" sz="2700" u="none" cap="none" strike="noStrike">
              <a:solidFill>
                <a:srgbClr val="000000"/>
              </a:solidFill>
              <a:latin typeface="Arial"/>
              <a:ea typeface="Arial"/>
              <a:cs typeface="Arial"/>
              <a:sym typeface="Arial"/>
            </a:endParaRPr>
          </a:p>
        </p:txBody>
      </p:sp>
      <p:pic>
        <p:nvPicPr>
          <p:cNvPr id="263" name="Google Shape;263;g3bfccae9961_0_331" title="RFI_spikes_EuroSAT_plot.png"/>
          <p:cNvPicPr preferRelativeResize="0"/>
          <p:nvPr/>
        </p:nvPicPr>
        <p:blipFill rotWithShape="1">
          <a:blip r:embed="rId3">
            <a:alphaModFix/>
          </a:blip>
          <a:srcRect b="5749" l="4003" r="0" t="6347"/>
          <a:stretch/>
        </p:blipFill>
        <p:spPr>
          <a:xfrm>
            <a:off x="7538275" y="4130197"/>
            <a:ext cx="3087224" cy="1896024"/>
          </a:xfrm>
          <a:prstGeom prst="rect">
            <a:avLst/>
          </a:prstGeom>
          <a:noFill/>
          <a:ln>
            <a:noFill/>
          </a:ln>
        </p:spPr>
      </p:pic>
      <p:pic>
        <p:nvPicPr>
          <p:cNvPr id="264" name="Google Shape;264;g3bfccae9961_0_331" title="gaussian_noise_spikes_mnist_plot.png"/>
          <p:cNvPicPr preferRelativeResize="0"/>
          <p:nvPr/>
        </p:nvPicPr>
        <p:blipFill rotWithShape="1">
          <a:blip r:embed="rId4">
            <a:alphaModFix/>
          </a:blip>
          <a:srcRect b="6075" l="3874" r="0" t="5633"/>
          <a:stretch/>
        </p:blipFill>
        <p:spPr>
          <a:xfrm>
            <a:off x="1785975" y="1953693"/>
            <a:ext cx="3087226" cy="1862589"/>
          </a:xfrm>
          <a:prstGeom prst="rect">
            <a:avLst/>
          </a:prstGeom>
          <a:noFill/>
          <a:ln>
            <a:noFill/>
          </a:ln>
        </p:spPr>
      </p:pic>
      <p:pic>
        <p:nvPicPr>
          <p:cNvPr id="265" name="Google Shape;265;g3bfccae9961_0_331" title="gaussian_noise_spikes_EuroSAT_plot.png"/>
          <p:cNvPicPr preferRelativeResize="0"/>
          <p:nvPr/>
        </p:nvPicPr>
        <p:blipFill rotWithShape="1">
          <a:blip r:embed="rId5">
            <a:alphaModFix/>
          </a:blip>
          <a:srcRect b="6030" l="3614" r="0" t="5686"/>
          <a:stretch/>
        </p:blipFill>
        <p:spPr>
          <a:xfrm>
            <a:off x="7531988" y="1852466"/>
            <a:ext cx="3099798" cy="1929225"/>
          </a:xfrm>
          <a:prstGeom prst="rect">
            <a:avLst/>
          </a:prstGeom>
          <a:noFill/>
          <a:ln>
            <a:noFill/>
          </a:ln>
        </p:spPr>
      </p:pic>
      <p:pic>
        <p:nvPicPr>
          <p:cNvPr id="266" name="Google Shape;266;g3bfccae9961_0_331" title="RFI_spikes_mnist_plot.png"/>
          <p:cNvPicPr preferRelativeResize="0"/>
          <p:nvPr/>
        </p:nvPicPr>
        <p:blipFill rotWithShape="1">
          <a:blip r:embed="rId6">
            <a:alphaModFix/>
          </a:blip>
          <a:srcRect b="5929" l="3878" r="829" t="5973"/>
          <a:stretch/>
        </p:blipFill>
        <p:spPr>
          <a:xfrm>
            <a:off x="1791775" y="4200525"/>
            <a:ext cx="3099774" cy="1947031"/>
          </a:xfrm>
          <a:prstGeom prst="rect">
            <a:avLst/>
          </a:prstGeom>
          <a:noFill/>
          <a:ln>
            <a:noFill/>
          </a:ln>
        </p:spPr>
      </p:pic>
      <p:sp>
        <p:nvSpPr>
          <p:cNvPr id="267" name="Google Shape;267;g3bfccae9961_0_331"/>
          <p:cNvSpPr/>
          <p:nvPr/>
        </p:nvSpPr>
        <p:spPr>
          <a:xfrm>
            <a:off x="1591750" y="150305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mnist</a:t>
            </a:r>
            <a:endParaRPr b="0" i="0" sz="1900" u="none" cap="none" strike="noStrike">
              <a:solidFill>
                <a:srgbClr val="000000"/>
              </a:solidFill>
              <a:latin typeface="Arial"/>
              <a:ea typeface="Arial"/>
              <a:cs typeface="Arial"/>
              <a:sym typeface="Arial"/>
            </a:endParaRPr>
          </a:p>
        </p:txBody>
      </p:sp>
      <p:sp>
        <p:nvSpPr>
          <p:cNvPr id="268" name="Google Shape;268;g3bfccae9961_0_331"/>
          <p:cNvSpPr/>
          <p:nvPr/>
        </p:nvSpPr>
        <p:spPr>
          <a:xfrm>
            <a:off x="7328325" y="141150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EuroSAT</a:t>
            </a:r>
            <a:endParaRPr b="0" i="0" sz="1900" u="none" cap="none" strike="noStrike">
              <a:solidFill>
                <a:srgbClr val="000000"/>
              </a:solidFill>
              <a:latin typeface="Arial"/>
              <a:ea typeface="Arial"/>
              <a:cs typeface="Arial"/>
              <a:sym typeface="Arial"/>
            </a:endParaRPr>
          </a:p>
        </p:txBody>
      </p:sp>
      <p:sp>
        <p:nvSpPr>
          <p:cNvPr id="269" name="Google Shape;269;g3bfccae9961_0_331"/>
          <p:cNvSpPr txBox="1"/>
          <p:nvPr/>
        </p:nvSpPr>
        <p:spPr>
          <a:xfrm>
            <a:off x="2008750" y="3741463"/>
            <a:ext cx="2850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IT" sz="1000"/>
              <a:t>Noise intensity(Gaussian)</a:t>
            </a:r>
            <a:endParaRPr sz="1000"/>
          </a:p>
        </p:txBody>
      </p:sp>
      <p:sp>
        <p:nvSpPr>
          <p:cNvPr id="270" name="Google Shape;270;g3bfccae9961_0_331"/>
          <p:cNvSpPr txBox="1"/>
          <p:nvPr/>
        </p:nvSpPr>
        <p:spPr>
          <a:xfrm>
            <a:off x="1971602" y="6022055"/>
            <a:ext cx="2850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IT" sz="1000"/>
              <a:t>Noise intensity(RFI)</a:t>
            </a:r>
            <a:endParaRPr sz="1000"/>
          </a:p>
        </p:txBody>
      </p:sp>
      <p:sp>
        <p:nvSpPr>
          <p:cNvPr id="271" name="Google Shape;271;g3bfccae9961_0_331"/>
          <p:cNvSpPr txBox="1"/>
          <p:nvPr/>
        </p:nvSpPr>
        <p:spPr>
          <a:xfrm>
            <a:off x="7764450" y="3662873"/>
            <a:ext cx="2850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IT" sz="1000"/>
              <a:t>Noise intensity(Gaussian)</a:t>
            </a:r>
            <a:endParaRPr sz="1000"/>
          </a:p>
        </p:txBody>
      </p:sp>
      <p:sp>
        <p:nvSpPr>
          <p:cNvPr id="272" name="Google Shape;272;g3bfccae9961_0_331"/>
          <p:cNvSpPr txBox="1"/>
          <p:nvPr/>
        </p:nvSpPr>
        <p:spPr>
          <a:xfrm>
            <a:off x="7791277" y="5891537"/>
            <a:ext cx="2850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IT" sz="1000"/>
              <a:t>Noise intensity(RFI)</a:t>
            </a:r>
            <a:endParaRPr sz="1000"/>
          </a:p>
        </p:txBody>
      </p:sp>
      <p:pic>
        <p:nvPicPr>
          <p:cNvPr id="273" name="Google Shape;273;g3bfccae9961_0_331" title="RFI_spikes_mnist_plot.png"/>
          <p:cNvPicPr preferRelativeResize="0"/>
          <p:nvPr/>
        </p:nvPicPr>
        <p:blipFill rotWithShape="1">
          <a:blip r:embed="rId6">
            <a:alphaModFix/>
          </a:blip>
          <a:srcRect b="46258" l="1030" r="96264" t="42647"/>
          <a:stretch/>
        </p:blipFill>
        <p:spPr>
          <a:xfrm>
            <a:off x="1640925" y="4876198"/>
            <a:ext cx="145051" cy="404047"/>
          </a:xfrm>
          <a:prstGeom prst="rect">
            <a:avLst/>
          </a:prstGeom>
          <a:noFill/>
          <a:ln>
            <a:noFill/>
          </a:ln>
        </p:spPr>
      </p:pic>
      <p:pic>
        <p:nvPicPr>
          <p:cNvPr id="274" name="Google Shape;274;g3bfccae9961_0_331" title="RFI_spikes_mnist_plot.png"/>
          <p:cNvPicPr preferRelativeResize="0"/>
          <p:nvPr/>
        </p:nvPicPr>
        <p:blipFill rotWithShape="1">
          <a:blip r:embed="rId6">
            <a:alphaModFix/>
          </a:blip>
          <a:srcRect b="46258" l="1030" r="96264" t="42647"/>
          <a:stretch/>
        </p:blipFill>
        <p:spPr>
          <a:xfrm>
            <a:off x="1640925" y="2615060"/>
            <a:ext cx="145051" cy="404047"/>
          </a:xfrm>
          <a:prstGeom prst="rect">
            <a:avLst/>
          </a:prstGeom>
          <a:noFill/>
          <a:ln>
            <a:noFill/>
          </a:ln>
        </p:spPr>
      </p:pic>
      <p:pic>
        <p:nvPicPr>
          <p:cNvPr id="275" name="Google Shape;275;g3bfccae9961_0_331" title="RFI_spikes_mnist_plot.png"/>
          <p:cNvPicPr preferRelativeResize="0"/>
          <p:nvPr/>
        </p:nvPicPr>
        <p:blipFill rotWithShape="1">
          <a:blip r:embed="rId6">
            <a:alphaModFix/>
          </a:blip>
          <a:srcRect b="46258" l="1030" r="96264" t="42647"/>
          <a:stretch/>
        </p:blipFill>
        <p:spPr>
          <a:xfrm>
            <a:off x="7328325" y="4876186"/>
            <a:ext cx="145051" cy="404047"/>
          </a:xfrm>
          <a:prstGeom prst="rect">
            <a:avLst/>
          </a:prstGeom>
          <a:noFill/>
          <a:ln>
            <a:noFill/>
          </a:ln>
        </p:spPr>
      </p:pic>
      <p:pic>
        <p:nvPicPr>
          <p:cNvPr id="276" name="Google Shape;276;g3bfccae9961_0_331" title="RFI_spikes_mnist_plot.png"/>
          <p:cNvPicPr preferRelativeResize="0"/>
          <p:nvPr/>
        </p:nvPicPr>
        <p:blipFill rotWithShape="1">
          <a:blip r:embed="rId6">
            <a:alphaModFix/>
          </a:blip>
          <a:srcRect b="46258" l="1030" r="96264" t="42647"/>
          <a:stretch/>
        </p:blipFill>
        <p:spPr>
          <a:xfrm>
            <a:off x="7386950" y="2615060"/>
            <a:ext cx="145051" cy="40404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3bfccae9961_0_351"/>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283" name="Google Shape;283;g3bfccae9961_0_351"/>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Clr>
                <a:schemeClr val="dk1"/>
              </a:buClr>
              <a:buSzPts val="2700"/>
              <a:buFont typeface="Arial"/>
              <a:buNone/>
            </a:pPr>
            <a:r>
              <a:rPr b="1" i="0" lang="it-IT" sz="2700" u="none" cap="none" strike="noStrike">
                <a:solidFill>
                  <a:schemeClr val="accent3"/>
                </a:solidFill>
                <a:latin typeface="Century Gothic"/>
                <a:ea typeface="Century Gothic"/>
                <a:cs typeface="Century Gothic"/>
                <a:sym typeface="Century Gothic"/>
              </a:rPr>
              <a:t>Results standard convolutional models </a:t>
            </a:r>
            <a:endParaRPr b="0" i="0" sz="2700" u="none" cap="none" strike="noStrike">
              <a:solidFill>
                <a:srgbClr val="000000"/>
              </a:solidFill>
              <a:latin typeface="Arial"/>
              <a:ea typeface="Arial"/>
              <a:cs typeface="Arial"/>
              <a:sym typeface="Arial"/>
            </a:endParaRPr>
          </a:p>
        </p:txBody>
      </p:sp>
      <p:pic>
        <p:nvPicPr>
          <p:cNvPr id="284" name="Google Shape;284;g3bfccae9961_0_351" title="gaussian_noise_energy_EuroSAT_plot.png"/>
          <p:cNvPicPr preferRelativeResize="0"/>
          <p:nvPr/>
        </p:nvPicPr>
        <p:blipFill rotWithShape="1">
          <a:blip r:embed="rId3">
            <a:alphaModFix/>
          </a:blip>
          <a:srcRect b="5882" l="4343" r="0" t="5935"/>
          <a:stretch/>
        </p:blipFill>
        <p:spPr>
          <a:xfrm>
            <a:off x="7549000" y="4250100"/>
            <a:ext cx="3076501" cy="1763550"/>
          </a:xfrm>
          <a:prstGeom prst="rect">
            <a:avLst/>
          </a:prstGeom>
          <a:noFill/>
          <a:ln>
            <a:noFill/>
          </a:ln>
        </p:spPr>
      </p:pic>
      <p:pic>
        <p:nvPicPr>
          <p:cNvPr id="285" name="Google Shape;285;g3bfccae9961_0_351" title="gaussian_noise_energy_mnist_plot.png"/>
          <p:cNvPicPr preferRelativeResize="0"/>
          <p:nvPr/>
        </p:nvPicPr>
        <p:blipFill rotWithShape="1">
          <a:blip r:embed="rId4">
            <a:alphaModFix/>
          </a:blip>
          <a:srcRect b="5624" l="4343" r="0" t="5943"/>
          <a:stretch/>
        </p:blipFill>
        <p:spPr>
          <a:xfrm>
            <a:off x="1763550" y="2109325"/>
            <a:ext cx="3076500" cy="1763550"/>
          </a:xfrm>
          <a:prstGeom prst="rect">
            <a:avLst/>
          </a:prstGeom>
          <a:noFill/>
          <a:ln>
            <a:noFill/>
          </a:ln>
        </p:spPr>
      </p:pic>
      <p:pic>
        <p:nvPicPr>
          <p:cNvPr id="286" name="Google Shape;286;g3bfccae9961_0_351" title="RFI_energy_EuroSAT_plot.png"/>
          <p:cNvPicPr preferRelativeResize="0"/>
          <p:nvPr/>
        </p:nvPicPr>
        <p:blipFill rotWithShape="1">
          <a:blip r:embed="rId5">
            <a:alphaModFix/>
          </a:blip>
          <a:srcRect b="5250" l="3809" r="0" t="5925"/>
          <a:stretch/>
        </p:blipFill>
        <p:spPr>
          <a:xfrm>
            <a:off x="7531975" y="2021305"/>
            <a:ext cx="3093524" cy="1776126"/>
          </a:xfrm>
          <a:prstGeom prst="rect">
            <a:avLst/>
          </a:prstGeom>
          <a:noFill/>
          <a:ln>
            <a:noFill/>
          </a:ln>
        </p:spPr>
      </p:pic>
      <p:pic>
        <p:nvPicPr>
          <p:cNvPr id="287" name="Google Shape;287;g3bfccae9961_0_351" title="RFI_energy_mnist_plot.png"/>
          <p:cNvPicPr preferRelativeResize="0"/>
          <p:nvPr/>
        </p:nvPicPr>
        <p:blipFill rotWithShape="1">
          <a:blip r:embed="rId6">
            <a:alphaModFix/>
          </a:blip>
          <a:srcRect b="5736" l="4224" r="0" t="6018"/>
          <a:stretch/>
        </p:blipFill>
        <p:spPr>
          <a:xfrm>
            <a:off x="1728950" y="4131500"/>
            <a:ext cx="3111098" cy="2023599"/>
          </a:xfrm>
          <a:prstGeom prst="rect">
            <a:avLst/>
          </a:prstGeom>
          <a:noFill/>
          <a:ln>
            <a:noFill/>
          </a:ln>
        </p:spPr>
      </p:pic>
      <p:sp>
        <p:nvSpPr>
          <p:cNvPr id="288" name="Google Shape;288;g3bfccae9961_0_351"/>
          <p:cNvSpPr/>
          <p:nvPr/>
        </p:nvSpPr>
        <p:spPr>
          <a:xfrm>
            <a:off x="1591750" y="150305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mnist</a:t>
            </a:r>
            <a:endParaRPr b="0" i="0" sz="1900" u="none" cap="none" strike="noStrike">
              <a:solidFill>
                <a:srgbClr val="000000"/>
              </a:solidFill>
              <a:latin typeface="Arial"/>
              <a:ea typeface="Arial"/>
              <a:cs typeface="Arial"/>
              <a:sym typeface="Arial"/>
            </a:endParaRPr>
          </a:p>
        </p:txBody>
      </p:sp>
      <p:sp>
        <p:nvSpPr>
          <p:cNvPr id="289" name="Google Shape;289;g3bfccae9961_0_351"/>
          <p:cNvSpPr/>
          <p:nvPr/>
        </p:nvSpPr>
        <p:spPr>
          <a:xfrm>
            <a:off x="7328325" y="141150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EuroSAT</a:t>
            </a:r>
            <a:endParaRPr b="0" i="0" sz="1900" u="none" cap="none" strike="noStrike">
              <a:solidFill>
                <a:srgbClr val="000000"/>
              </a:solidFill>
              <a:latin typeface="Arial"/>
              <a:ea typeface="Arial"/>
              <a:cs typeface="Arial"/>
              <a:sym typeface="Arial"/>
            </a:endParaRPr>
          </a:p>
        </p:txBody>
      </p:sp>
      <p:pic>
        <p:nvPicPr>
          <p:cNvPr id="290" name="Google Shape;290;g3bfccae9961_0_351" title="gaussian_noise_energy_mnist_plot.png"/>
          <p:cNvPicPr preferRelativeResize="0"/>
          <p:nvPr/>
        </p:nvPicPr>
        <p:blipFill rotWithShape="1">
          <a:blip r:embed="rId7">
            <a:alphaModFix/>
          </a:blip>
          <a:srcRect b="43314" l="868" r="96270" t="38984"/>
          <a:stretch/>
        </p:blipFill>
        <p:spPr>
          <a:xfrm>
            <a:off x="1550075" y="2428812"/>
            <a:ext cx="194951" cy="795549"/>
          </a:xfrm>
          <a:prstGeom prst="rect">
            <a:avLst/>
          </a:prstGeom>
          <a:noFill/>
          <a:ln>
            <a:noFill/>
          </a:ln>
        </p:spPr>
      </p:pic>
      <p:sp>
        <p:nvSpPr>
          <p:cNvPr id="291" name="Google Shape;291;g3bfccae9961_0_351"/>
          <p:cNvSpPr txBox="1"/>
          <p:nvPr/>
        </p:nvSpPr>
        <p:spPr>
          <a:xfrm>
            <a:off x="2008750" y="3741463"/>
            <a:ext cx="2850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IT" sz="1000"/>
              <a:t>Noise intensity(Gaussian)</a:t>
            </a:r>
            <a:endParaRPr sz="1000"/>
          </a:p>
        </p:txBody>
      </p:sp>
      <p:pic>
        <p:nvPicPr>
          <p:cNvPr id="292" name="Google Shape;292;g3bfccae9961_0_351" title="gaussian_noise_energy_mnist_plot.png"/>
          <p:cNvPicPr preferRelativeResize="0"/>
          <p:nvPr/>
        </p:nvPicPr>
        <p:blipFill rotWithShape="1">
          <a:blip r:embed="rId7">
            <a:alphaModFix/>
          </a:blip>
          <a:srcRect b="43314" l="868" r="96270" t="38984"/>
          <a:stretch/>
        </p:blipFill>
        <p:spPr>
          <a:xfrm>
            <a:off x="1507575" y="4639394"/>
            <a:ext cx="194951" cy="795549"/>
          </a:xfrm>
          <a:prstGeom prst="rect">
            <a:avLst/>
          </a:prstGeom>
          <a:noFill/>
          <a:ln>
            <a:noFill/>
          </a:ln>
        </p:spPr>
      </p:pic>
      <p:sp>
        <p:nvSpPr>
          <p:cNvPr id="293" name="Google Shape;293;g3bfccae9961_0_351"/>
          <p:cNvSpPr txBox="1"/>
          <p:nvPr/>
        </p:nvSpPr>
        <p:spPr>
          <a:xfrm>
            <a:off x="1971602" y="6022055"/>
            <a:ext cx="2850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IT" sz="1000"/>
              <a:t>Noise intensity(RFI)</a:t>
            </a:r>
            <a:endParaRPr sz="1000"/>
          </a:p>
        </p:txBody>
      </p:sp>
      <p:pic>
        <p:nvPicPr>
          <p:cNvPr id="294" name="Google Shape;294;g3bfccae9961_0_351" title="gaussian_noise_energy_mnist_plot.png"/>
          <p:cNvPicPr preferRelativeResize="0"/>
          <p:nvPr/>
        </p:nvPicPr>
        <p:blipFill rotWithShape="1">
          <a:blip r:embed="rId7">
            <a:alphaModFix/>
          </a:blip>
          <a:srcRect b="43314" l="868" r="96270" t="38984"/>
          <a:stretch/>
        </p:blipFill>
        <p:spPr>
          <a:xfrm>
            <a:off x="7296375" y="2428837"/>
            <a:ext cx="194951" cy="795549"/>
          </a:xfrm>
          <a:prstGeom prst="rect">
            <a:avLst/>
          </a:prstGeom>
          <a:noFill/>
          <a:ln>
            <a:noFill/>
          </a:ln>
        </p:spPr>
      </p:pic>
      <p:sp>
        <p:nvSpPr>
          <p:cNvPr id="295" name="Google Shape;295;g3bfccae9961_0_351"/>
          <p:cNvSpPr txBox="1"/>
          <p:nvPr/>
        </p:nvSpPr>
        <p:spPr>
          <a:xfrm>
            <a:off x="7764450" y="3662873"/>
            <a:ext cx="2850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IT" sz="1000"/>
              <a:t>Noise intensity(Gaussian)</a:t>
            </a:r>
            <a:endParaRPr sz="1000"/>
          </a:p>
        </p:txBody>
      </p:sp>
      <p:pic>
        <p:nvPicPr>
          <p:cNvPr id="296" name="Google Shape;296;g3bfccae9961_0_351" title="gaussian_noise_energy_mnist_plot.png"/>
          <p:cNvPicPr preferRelativeResize="0"/>
          <p:nvPr/>
        </p:nvPicPr>
        <p:blipFill rotWithShape="1">
          <a:blip r:embed="rId7">
            <a:alphaModFix/>
          </a:blip>
          <a:srcRect b="43314" l="868" r="96270" t="38984"/>
          <a:stretch/>
        </p:blipFill>
        <p:spPr>
          <a:xfrm>
            <a:off x="7296375" y="4639394"/>
            <a:ext cx="194951" cy="795549"/>
          </a:xfrm>
          <a:prstGeom prst="rect">
            <a:avLst/>
          </a:prstGeom>
          <a:noFill/>
          <a:ln>
            <a:noFill/>
          </a:ln>
        </p:spPr>
      </p:pic>
      <p:sp>
        <p:nvSpPr>
          <p:cNvPr id="297" name="Google Shape;297;g3bfccae9961_0_351"/>
          <p:cNvSpPr txBox="1"/>
          <p:nvPr/>
        </p:nvSpPr>
        <p:spPr>
          <a:xfrm>
            <a:off x="7791277" y="5891537"/>
            <a:ext cx="2850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IT" sz="1000"/>
              <a:t>Noise intensity(RFI)</a:t>
            </a:r>
            <a:endParaRPr sz="1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3bfccae9961_0_371"/>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304" name="Google Shape;304;g3bfccae9961_0_371"/>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Clr>
                <a:schemeClr val="dk1"/>
              </a:buClr>
              <a:buSzPts val="2700"/>
              <a:buFont typeface="Arial"/>
              <a:buNone/>
            </a:pPr>
            <a:r>
              <a:rPr b="1" i="0" lang="it-IT" sz="2700" u="none" cap="none" strike="noStrike">
                <a:solidFill>
                  <a:schemeClr val="accent3"/>
                </a:solidFill>
                <a:latin typeface="Century Gothic"/>
                <a:ea typeface="Century Gothic"/>
                <a:cs typeface="Century Gothic"/>
                <a:sym typeface="Century Gothic"/>
              </a:rPr>
              <a:t>Results spike convolutional models </a:t>
            </a:r>
            <a:endParaRPr b="0" i="0" sz="2700" u="none" cap="none" strike="noStrike">
              <a:solidFill>
                <a:srgbClr val="000000"/>
              </a:solidFill>
              <a:latin typeface="Arial"/>
              <a:ea typeface="Arial"/>
              <a:cs typeface="Arial"/>
              <a:sym typeface="Arial"/>
            </a:endParaRPr>
          </a:p>
        </p:txBody>
      </p:sp>
      <p:pic>
        <p:nvPicPr>
          <p:cNvPr id="305" name="Google Shape;305;g3bfccae9961_0_371" title="RFI_spikes_EuroSAT_plot.png"/>
          <p:cNvPicPr preferRelativeResize="0"/>
          <p:nvPr/>
        </p:nvPicPr>
        <p:blipFill rotWithShape="1">
          <a:blip r:embed="rId3">
            <a:alphaModFix/>
          </a:blip>
          <a:srcRect b="5395" l="3948" r="0" t="6305"/>
          <a:stretch/>
        </p:blipFill>
        <p:spPr>
          <a:xfrm>
            <a:off x="7536425" y="4264925"/>
            <a:ext cx="3089074" cy="1842149"/>
          </a:xfrm>
          <a:prstGeom prst="rect">
            <a:avLst/>
          </a:prstGeom>
          <a:noFill/>
          <a:ln>
            <a:noFill/>
          </a:ln>
        </p:spPr>
      </p:pic>
      <p:pic>
        <p:nvPicPr>
          <p:cNvPr id="306" name="Google Shape;306;g3bfccae9961_0_371" title="gaussian_noise_spikes_mnist_plot.png"/>
          <p:cNvPicPr preferRelativeResize="0"/>
          <p:nvPr/>
        </p:nvPicPr>
        <p:blipFill rotWithShape="1">
          <a:blip r:embed="rId4">
            <a:alphaModFix/>
          </a:blip>
          <a:srcRect b="5669" l="3948" r="0" t="6031"/>
          <a:stretch/>
        </p:blipFill>
        <p:spPr>
          <a:xfrm>
            <a:off x="1750975" y="2021300"/>
            <a:ext cx="3089074" cy="1842149"/>
          </a:xfrm>
          <a:prstGeom prst="rect">
            <a:avLst/>
          </a:prstGeom>
          <a:noFill/>
          <a:ln>
            <a:noFill/>
          </a:ln>
        </p:spPr>
      </p:pic>
      <p:pic>
        <p:nvPicPr>
          <p:cNvPr id="307" name="Google Shape;307;g3bfccae9961_0_371" title="gaussian_noise_spikes_EuroSAT_plot.png"/>
          <p:cNvPicPr preferRelativeResize="0"/>
          <p:nvPr/>
        </p:nvPicPr>
        <p:blipFill rotWithShape="1">
          <a:blip r:embed="rId5">
            <a:alphaModFix/>
          </a:blip>
          <a:srcRect b="6019" l="3948" r="0" t="6369"/>
          <a:stretch/>
        </p:blipFill>
        <p:spPr>
          <a:xfrm>
            <a:off x="7536425" y="2037025"/>
            <a:ext cx="3089074" cy="1914426"/>
          </a:xfrm>
          <a:prstGeom prst="rect">
            <a:avLst/>
          </a:prstGeom>
          <a:noFill/>
          <a:ln>
            <a:noFill/>
          </a:ln>
        </p:spPr>
      </p:pic>
      <p:pic>
        <p:nvPicPr>
          <p:cNvPr id="308" name="Google Shape;308;g3bfccae9961_0_371" title="RFI_spikes_mnist_plot.png"/>
          <p:cNvPicPr preferRelativeResize="0"/>
          <p:nvPr/>
        </p:nvPicPr>
        <p:blipFill rotWithShape="1">
          <a:blip r:embed="rId6">
            <a:alphaModFix/>
          </a:blip>
          <a:srcRect b="5956" l="4021" r="0" t="5938"/>
          <a:stretch/>
        </p:blipFill>
        <p:spPr>
          <a:xfrm>
            <a:off x="1763550" y="4118075"/>
            <a:ext cx="3076500" cy="1971001"/>
          </a:xfrm>
          <a:prstGeom prst="rect">
            <a:avLst/>
          </a:prstGeom>
          <a:noFill/>
          <a:ln>
            <a:noFill/>
          </a:ln>
        </p:spPr>
      </p:pic>
      <p:sp>
        <p:nvSpPr>
          <p:cNvPr id="309" name="Google Shape;309;g3bfccae9961_0_371"/>
          <p:cNvSpPr/>
          <p:nvPr/>
        </p:nvSpPr>
        <p:spPr>
          <a:xfrm>
            <a:off x="1591750" y="150305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mnist</a:t>
            </a:r>
            <a:endParaRPr b="0" i="0" sz="1900" u="none" cap="none" strike="noStrike">
              <a:solidFill>
                <a:srgbClr val="000000"/>
              </a:solidFill>
              <a:latin typeface="Arial"/>
              <a:ea typeface="Arial"/>
              <a:cs typeface="Arial"/>
              <a:sym typeface="Arial"/>
            </a:endParaRPr>
          </a:p>
        </p:txBody>
      </p:sp>
      <p:sp>
        <p:nvSpPr>
          <p:cNvPr id="310" name="Google Shape;310;g3bfccae9961_0_371"/>
          <p:cNvSpPr/>
          <p:nvPr/>
        </p:nvSpPr>
        <p:spPr>
          <a:xfrm>
            <a:off x="7328325" y="141150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EuroSAT</a:t>
            </a:r>
            <a:endParaRPr b="0" i="0" sz="1900" u="none" cap="none" strike="noStrike">
              <a:solidFill>
                <a:srgbClr val="000000"/>
              </a:solidFill>
              <a:latin typeface="Arial"/>
              <a:ea typeface="Arial"/>
              <a:cs typeface="Arial"/>
              <a:sym typeface="Arial"/>
            </a:endParaRPr>
          </a:p>
        </p:txBody>
      </p:sp>
      <p:sp>
        <p:nvSpPr>
          <p:cNvPr id="311" name="Google Shape;311;g3bfccae9961_0_371"/>
          <p:cNvSpPr txBox="1"/>
          <p:nvPr/>
        </p:nvSpPr>
        <p:spPr>
          <a:xfrm>
            <a:off x="2008750" y="3741463"/>
            <a:ext cx="2850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IT" sz="1000"/>
              <a:t>Noise intensity(Gaussian)</a:t>
            </a:r>
            <a:endParaRPr sz="1000"/>
          </a:p>
        </p:txBody>
      </p:sp>
      <p:sp>
        <p:nvSpPr>
          <p:cNvPr id="312" name="Google Shape;312;g3bfccae9961_0_371"/>
          <p:cNvSpPr txBox="1"/>
          <p:nvPr/>
        </p:nvSpPr>
        <p:spPr>
          <a:xfrm>
            <a:off x="1971602" y="6022055"/>
            <a:ext cx="2850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IT" sz="1000"/>
              <a:t>Noise intensity(RFI)</a:t>
            </a:r>
            <a:endParaRPr sz="1000"/>
          </a:p>
        </p:txBody>
      </p:sp>
      <p:sp>
        <p:nvSpPr>
          <p:cNvPr id="313" name="Google Shape;313;g3bfccae9961_0_371"/>
          <p:cNvSpPr txBox="1"/>
          <p:nvPr/>
        </p:nvSpPr>
        <p:spPr>
          <a:xfrm>
            <a:off x="7764450" y="3662873"/>
            <a:ext cx="2850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IT" sz="1000"/>
              <a:t>Noise intensity(Gaussian)</a:t>
            </a:r>
            <a:endParaRPr sz="1000"/>
          </a:p>
        </p:txBody>
      </p:sp>
      <p:sp>
        <p:nvSpPr>
          <p:cNvPr id="314" name="Google Shape;314;g3bfccae9961_0_371"/>
          <p:cNvSpPr txBox="1"/>
          <p:nvPr/>
        </p:nvSpPr>
        <p:spPr>
          <a:xfrm>
            <a:off x="7791277" y="5891537"/>
            <a:ext cx="28503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IT" sz="1000"/>
              <a:t>Noise intensity(RFI)</a:t>
            </a:r>
            <a:endParaRPr sz="1000"/>
          </a:p>
        </p:txBody>
      </p:sp>
      <p:pic>
        <p:nvPicPr>
          <p:cNvPr id="315" name="Google Shape;315;g3bfccae9961_0_371" title="RFI_spikes_mnist_plot.png"/>
          <p:cNvPicPr preferRelativeResize="0"/>
          <p:nvPr/>
        </p:nvPicPr>
        <p:blipFill rotWithShape="1">
          <a:blip r:embed="rId7">
            <a:alphaModFix/>
          </a:blip>
          <a:srcRect b="46258" l="1030" r="96264" t="42647"/>
          <a:stretch/>
        </p:blipFill>
        <p:spPr>
          <a:xfrm>
            <a:off x="1640925" y="4876198"/>
            <a:ext cx="145051" cy="404047"/>
          </a:xfrm>
          <a:prstGeom prst="rect">
            <a:avLst/>
          </a:prstGeom>
          <a:noFill/>
          <a:ln>
            <a:noFill/>
          </a:ln>
        </p:spPr>
      </p:pic>
      <p:pic>
        <p:nvPicPr>
          <p:cNvPr id="316" name="Google Shape;316;g3bfccae9961_0_371" title="RFI_spikes_mnist_plot.png"/>
          <p:cNvPicPr preferRelativeResize="0"/>
          <p:nvPr/>
        </p:nvPicPr>
        <p:blipFill rotWithShape="1">
          <a:blip r:embed="rId7">
            <a:alphaModFix/>
          </a:blip>
          <a:srcRect b="46258" l="1030" r="96264" t="42647"/>
          <a:stretch/>
        </p:blipFill>
        <p:spPr>
          <a:xfrm>
            <a:off x="1609069" y="2608548"/>
            <a:ext cx="145051" cy="404047"/>
          </a:xfrm>
          <a:prstGeom prst="rect">
            <a:avLst/>
          </a:prstGeom>
          <a:noFill/>
          <a:ln>
            <a:noFill/>
          </a:ln>
        </p:spPr>
      </p:pic>
      <p:pic>
        <p:nvPicPr>
          <p:cNvPr id="317" name="Google Shape;317;g3bfccae9961_0_371" title="RFI_spikes_mnist_plot.png"/>
          <p:cNvPicPr preferRelativeResize="0"/>
          <p:nvPr/>
        </p:nvPicPr>
        <p:blipFill rotWithShape="1">
          <a:blip r:embed="rId7">
            <a:alphaModFix/>
          </a:blip>
          <a:srcRect b="46258" l="1030" r="96264" t="42647"/>
          <a:stretch/>
        </p:blipFill>
        <p:spPr>
          <a:xfrm>
            <a:off x="7328325" y="4876186"/>
            <a:ext cx="145051" cy="404047"/>
          </a:xfrm>
          <a:prstGeom prst="rect">
            <a:avLst/>
          </a:prstGeom>
          <a:noFill/>
          <a:ln>
            <a:noFill/>
          </a:ln>
        </p:spPr>
      </p:pic>
      <p:pic>
        <p:nvPicPr>
          <p:cNvPr id="318" name="Google Shape;318;g3bfccae9961_0_371" title="RFI_spikes_mnist_plot.png"/>
          <p:cNvPicPr preferRelativeResize="0"/>
          <p:nvPr/>
        </p:nvPicPr>
        <p:blipFill rotWithShape="1">
          <a:blip r:embed="rId7">
            <a:alphaModFix/>
          </a:blip>
          <a:srcRect b="46258" l="1030" r="96264" t="42647"/>
          <a:stretch/>
        </p:blipFill>
        <p:spPr>
          <a:xfrm>
            <a:off x="7386950" y="2615060"/>
            <a:ext cx="145051" cy="40404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3bfccae9961_0_504"/>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325" name="Google Shape;325;g3bfccae9961_0_504"/>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Clr>
                <a:schemeClr val="dk1"/>
              </a:buClr>
              <a:buSzPts val="2700"/>
              <a:buFont typeface="Arial"/>
              <a:buNone/>
            </a:pPr>
            <a:r>
              <a:rPr b="1" i="0" lang="it-IT" sz="2700" u="none" cap="none" strike="noStrike">
                <a:solidFill>
                  <a:schemeClr val="accent3"/>
                </a:solidFill>
                <a:latin typeface="Century Gothic"/>
                <a:ea typeface="Century Gothic"/>
                <a:cs typeface="Century Gothic"/>
                <a:sym typeface="Century Gothic"/>
              </a:rPr>
              <a:t>Results linear models </a:t>
            </a:r>
            <a:endParaRPr b="0" i="0" sz="2700" u="none" cap="none" strike="noStrike">
              <a:solidFill>
                <a:srgbClr val="000000"/>
              </a:solidFill>
              <a:latin typeface="Arial"/>
              <a:ea typeface="Arial"/>
              <a:cs typeface="Arial"/>
              <a:sym typeface="Arial"/>
            </a:endParaRPr>
          </a:p>
        </p:txBody>
      </p:sp>
      <p:sp>
        <p:nvSpPr>
          <p:cNvPr id="326" name="Google Shape;326;g3bfccae9961_0_504"/>
          <p:cNvSpPr/>
          <p:nvPr/>
        </p:nvSpPr>
        <p:spPr>
          <a:xfrm>
            <a:off x="1591750" y="150305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mnist</a:t>
            </a:r>
            <a:endParaRPr b="0" i="0" sz="1900" u="none" cap="none" strike="noStrike">
              <a:solidFill>
                <a:srgbClr val="000000"/>
              </a:solidFill>
              <a:latin typeface="Arial"/>
              <a:ea typeface="Arial"/>
              <a:cs typeface="Arial"/>
              <a:sym typeface="Arial"/>
            </a:endParaRPr>
          </a:p>
        </p:txBody>
      </p:sp>
      <p:sp>
        <p:nvSpPr>
          <p:cNvPr id="327" name="Google Shape;327;g3bfccae9961_0_504"/>
          <p:cNvSpPr/>
          <p:nvPr/>
        </p:nvSpPr>
        <p:spPr>
          <a:xfrm>
            <a:off x="7328325" y="141150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EuroSAT</a:t>
            </a:r>
            <a:endParaRPr b="0" i="0" sz="1900" u="none" cap="none" strike="noStrike">
              <a:solidFill>
                <a:srgbClr val="000000"/>
              </a:solidFill>
              <a:latin typeface="Arial"/>
              <a:ea typeface="Arial"/>
              <a:cs typeface="Arial"/>
              <a:sym typeface="Arial"/>
            </a:endParaRPr>
          </a:p>
        </p:txBody>
      </p:sp>
      <p:pic>
        <p:nvPicPr>
          <p:cNvPr id="328" name="Google Shape;328;g3bfccae9961_0_504" title="dist_plot_energy.png"/>
          <p:cNvPicPr preferRelativeResize="0"/>
          <p:nvPr/>
        </p:nvPicPr>
        <p:blipFill>
          <a:blip r:embed="rId3">
            <a:alphaModFix/>
          </a:blip>
          <a:stretch>
            <a:fillRect/>
          </a:stretch>
        </p:blipFill>
        <p:spPr>
          <a:xfrm>
            <a:off x="152400" y="2234750"/>
            <a:ext cx="5849073" cy="2476150"/>
          </a:xfrm>
          <a:prstGeom prst="rect">
            <a:avLst/>
          </a:prstGeom>
          <a:noFill/>
          <a:ln>
            <a:noFill/>
          </a:ln>
        </p:spPr>
      </p:pic>
      <p:pic>
        <p:nvPicPr>
          <p:cNvPr id="329" name="Google Shape;329;g3bfccae9961_0_504" title="dist_plot_energy_EuroSAT.png"/>
          <p:cNvPicPr preferRelativeResize="0"/>
          <p:nvPr/>
        </p:nvPicPr>
        <p:blipFill>
          <a:blip r:embed="rId4">
            <a:alphaModFix/>
          </a:blip>
          <a:stretch>
            <a:fillRect/>
          </a:stretch>
        </p:blipFill>
        <p:spPr>
          <a:xfrm>
            <a:off x="6500900" y="2278338"/>
            <a:ext cx="5436124" cy="23013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g3bfccae9961_0_524"/>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336" name="Google Shape;336;g3bfccae9961_0_524"/>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Clr>
                <a:schemeClr val="dk1"/>
              </a:buClr>
              <a:buSzPts val="2700"/>
              <a:buFont typeface="Arial"/>
              <a:buNone/>
            </a:pPr>
            <a:r>
              <a:rPr b="1" i="0" lang="it-IT" sz="2700" u="none" cap="none" strike="noStrike">
                <a:solidFill>
                  <a:schemeClr val="accent3"/>
                </a:solidFill>
                <a:latin typeface="Century Gothic"/>
                <a:ea typeface="Century Gothic"/>
                <a:cs typeface="Century Gothic"/>
                <a:sym typeface="Century Gothic"/>
              </a:rPr>
              <a:t>Results spike linear models </a:t>
            </a:r>
            <a:endParaRPr b="0" i="0" sz="2700" u="none" cap="none" strike="noStrike">
              <a:solidFill>
                <a:srgbClr val="000000"/>
              </a:solidFill>
              <a:latin typeface="Arial"/>
              <a:ea typeface="Arial"/>
              <a:cs typeface="Arial"/>
              <a:sym typeface="Arial"/>
            </a:endParaRPr>
          </a:p>
        </p:txBody>
      </p:sp>
      <p:sp>
        <p:nvSpPr>
          <p:cNvPr id="337" name="Google Shape;337;g3bfccae9961_0_524"/>
          <p:cNvSpPr/>
          <p:nvPr/>
        </p:nvSpPr>
        <p:spPr>
          <a:xfrm>
            <a:off x="1591750" y="150305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mnist</a:t>
            </a:r>
            <a:endParaRPr b="0" i="0" sz="1900" u="none" cap="none" strike="noStrike">
              <a:solidFill>
                <a:srgbClr val="000000"/>
              </a:solidFill>
              <a:latin typeface="Arial"/>
              <a:ea typeface="Arial"/>
              <a:cs typeface="Arial"/>
              <a:sym typeface="Arial"/>
            </a:endParaRPr>
          </a:p>
        </p:txBody>
      </p:sp>
      <p:sp>
        <p:nvSpPr>
          <p:cNvPr id="338" name="Google Shape;338;g3bfccae9961_0_524"/>
          <p:cNvSpPr/>
          <p:nvPr/>
        </p:nvSpPr>
        <p:spPr>
          <a:xfrm>
            <a:off x="7328325" y="141150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EuroSAT</a:t>
            </a:r>
            <a:endParaRPr b="0" i="0" sz="1900" u="none" cap="none" strike="noStrike">
              <a:solidFill>
                <a:srgbClr val="000000"/>
              </a:solidFill>
              <a:latin typeface="Arial"/>
              <a:ea typeface="Arial"/>
              <a:cs typeface="Arial"/>
              <a:sym typeface="Arial"/>
            </a:endParaRPr>
          </a:p>
        </p:txBody>
      </p:sp>
      <p:pic>
        <p:nvPicPr>
          <p:cNvPr id="339" name="Google Shape;339;g3bfccae9961_0_524" title="dist_plot_spikes.png"/>
          <p:cNvPicPr preferRelativeResize="0"/>
          <p:nvPr/>
        </p:nvPicPr>
        <p:blipFill>
          <a:blip r:embed="rId3">
            <a:alphaModFix/>
          </a:blip>
          <a:stretch>
            <a:fillRect/>
          </a:stretch>
        </p:blipFill>
        <p:spPr>
          <a:xfrm>
            <a:off x="6178362" y="2427750"/>
            <a:ext cx="5950490" cy="2519075"/>
          </a:xfrm>
          <a:prstGeom prst="rect">
            <a:avLst/>
          </a:prstGeom>
          <a:noFill/>
          <a:ln>
            <a:noFill/>
          </a:ln>
        </p:spPr>
      </p:pic>
      <p:pic>
        <p:nvPicPr>
          <p:cNvPr id="340" name="Google Shape;340;g3bfccae9961_0_524" title="dist_plot_spikes.png"/>
          <p:cNvPicPr preferRelativeResize="0"/>
          <p:nvPr/>
        </p:nvPicPr>
        <p:blipFill>
          <a:blip r:embed="rId4">
            <a:alphaModFix/>
          </a:blip>
          <a:stretch>
            <a:fillRect/>
          </a:stretch>
        </p:blipFill>
        <p:spPr>
          <a:xfrm>
            <a:off x="114325" y="2470675"/>
            <a:ext cx="5849073" cy="24761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g3bfccae9961_0_544"/>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347" name="Google Shape;347;g3bfccae9961_0_544"/>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Clr>
                <a:schemeClr val="dk1"/>
              </a:buClr>
              <a:buSzPts val="2700"/>
              <a:buFont typeface="Arial"/>
              <a:buNone/>
            </a:pPr>
            <a:r>
              <a:rPr b="1" i="0" lang="it-IT" sz="2700" u="none" cap="none" strike="noStrike">
                <a:solidFill>
                  <a:schemeClr val="accent3"/>
                </a:solidFill>
                <a:latin typeface="Century Gothic"/>
                <a:ea typeface="Century Gothic"/>
                <a:cs typeface="Century Gothic"/>
                <a:sym typeface="Century Gothic"/>
              </a:rPr>
              <a:t>Results standard convolutional models </a:t>
            </a:r>
            <a:endParaRPr b="0" i="0" sz="2700" u="none" cap="none" strike="noStrike">
              <a:solidFill>
                <a:srgbClr val="000000"/>
              </a:solidFill>
              <a:latin typeface="Arial"/>
              <a:ea typeface="Arial"/>
              <a:cs typeface="Arial"/>
              <a:sym typeface="Arial"/>
            </a:endParaRPr>
          </a:p>
        </p:txBody>
      </p:sp>
      <p:sp>
        <p:nvSpPr>
          <p:cNvPr id="348" name="Google Shape;348;g3bfccae9961_0_544"/>
          <p:cNvSpPr/>
          <p:nvPr/>
        </p:nvSpPr>
        <p:spPr>
          <a:xfrm>
            <a:off x="1591750" y="150305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mnist</a:t>
            </a:r>
            <a:endParaRPr b="0" i="0" sz="1900" u="none" cap="none" strike="noStrike">
              <a:solidFill>
                <a:srgbClr val="000000"/>
              </a:solidFill>
              <a:latin typeface="Arial"/>
              <a:ea typeface="Arial"/>
              <a:cs typeface="Arial"/>
              <a:sym typeface="Arial"/>
            </a:endParaRPr>
          </a:p>
        </p:txBody>
      </p:sp>
      <p:sp>
        <p:nvSpPr>
          <p:cNvPr id="349" name="Google Shape;349;g3bfccae9961_0_544"/>
          <p:cNvSpPr/>
          <p:nvPr/>
        </p:nvSpPr>
        <p:spPr>
          <a:xfrm>
            <a:off x="7328325" y="141150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EuroSAT</a:t>
            </a:r>
            <a:endParaRPr b="0" i="0" sz="1900" u="none" cap="none" strike="noStrike">
              <a:solidFill>
                <a:srgbClr val="000000"/>
              </a:solidFill>
              <a:latin typeface="Arial"/>
              <a:ea typeface="Arial"/>
              <a:cs typeface="Arial"/>
              <a:sym typeface="Arial"/>
            </a:endParaRPr>
          </a:p>
        </p:txBody>
      </p:sp>
      <p:pic>
        <p:nvPicPr>
          <p:cNvPr id="350" name="Google Shape;350;g3bfccae9961_0_544" title="dist_plot_energy.png"/>
          <p:cNvPicPr preferRelativeResize="0"/>
          <p:nvPr/>
        </p:nvPicPr>
        <p:blipFill>
          <a:blip r:embed="rId3">
            <a:alphaModFix/>
          </a:blip>
          <a:stretch>
            <a:fillRect/>
          </a:stretch>
        </p:blipFill>
        <p:spPr>
          <a:xfrm>
            <a:off x="471150" y="2410987"/>
            <a:ext cx="6061926" cy="2566251"/>
          </a:xfrm>
          <a:prstGeom prst="rect">
            <a:avLst/>
          </a:prstGeom>
          <a:noFill/>
          <a:ln>
            <a:noFill/>
          </a:ln>
        </p:spPr>
      </p:pic>
      <p:pic>
        <p:nvPicPr>
          <p:cNvPr id="351" name="Google Shape;351;g3bfccae9961_0_544" title="dist_plot_energy_EuroSAT.png"/>
          <p:cNvPicPr preferRelativeResize="0"/>
          <p:nvPr/>
        </p:nvPicPr>
        <p:blipFill>
          <a:blip r:embed="rId4">
            <a:alphaModFix/>
          </a:blip>
          <a:stretch>
            <a:fillRect/>
          </a:stretch>
        </p:blipFill>
        <p:spPr>
          <a:xfrm>
            <a:off x="6775499" y="2546285"/>
            <a:ext cx="5416499" cy="229567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g3bfccae9961_0_564"/>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358" name="Google Shape;358;g3bfccae9961_0_564"/>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Clr>
                <a:schemeClr val="dk1"/>
              </a:buClr>
              <a:buSzPts val="2700"/>
              <a:buFont typeface="Arial"/>
              <a:buNone/>
            </a:pPr>
            <a:r>
              <a:rPr b="1" i="0" lang="it-IT" sz="2700" u="none" cap="none" strike="noStrike">
                <a:solidFill>
                  <a:schemeClr val="accent3"/>
                </a:solidFill>
                <a:latin typeface="Century Gothic"/>
                <a:ea typeface="Century Gothic"/>
                <a:cs typeface="Century Gothic"/>
                <a:sym typeface="Century Gothic"/>
              </a:rPr>
              <a:t>Results spike convolutional models </a:t>
            </a:r>
            <a:endParaRPr b="0" i="0" sz="2700" u="none" cap="none" strike="noStrike">
              <a:solidFill>
                <a:srgbClr val="000000"/>
              </a:solidFill>
              <a:latin typeface="Arial"/>
              <a:ea typeface="Arial"/>
              <a:cs typeface="Arial"/>
              <a:sym typeface="Arial"/>
            </a:endParaRPr>
          </a:p>
        </p:txBody>
      </p:sp>
      <p:sp>
        <p:nvSpPr>
          <p:cNvPr id="359" name="Google Shape;359;g3bfccae9961_0_564"/>
          <p:cNvSpPr/>
          <p:nvPr/>
        </p:nvSpPr>
        <p:spPr>
          <a:xfrm>
            <a:off x="1591750" y="150305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mnist</a:t>
            </a:r>
            <a:endParaRPr b="0" i="0" sz="1900" u="none" cap="none" strike="noStrike">
              <a:solidFill>
                <a:srgbClr val="000000"/>
              </a:solidFill>
              <a:latin typeface="Arial"/>
              <a:ea typeface="Arial"/>
              <a:cs typeface="Arial"/>
              <a:sym typeface="Arial"/>
            </a:endParaRPr>
          </a:p>
        </p:txBody>
      </p:sp>
      <p:sp>
        <p:nvSpPr>
          <p:cNvPr id="360" name="Google Shape;360;g3bfccae9961_0_564"/>
          <p:cNvSpPr/>
          <p:nvPr/>
        </p:nvSpPr>
        <p:spPr>
          <a:xfrm>
            <a:off x="7328325" y="141150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EuroSAT</a:t>
            </a:r>
            <a:endParaRPr b="0" i="0" sz="1900" u="none" cap="none" strike="noStrike">
              <a:solidFill>
                <a:srgbClr val="000000"/>
              </a:solidFill>
              <a:latin typeface="Arial"/>
              <a:ea typeface="Arial"/>
              <a:cs typeface="Arial"/>
              <a:sym typeface="Arial"/>
            </a:endParaRPr>
          </a:p>
        </p:txBody>
      </p:sp>
      <p:pic>
        <p:nvPicPr>
          <p:cNvPr id="361" name="Google Shape;361;g3bfccae9961_0_564" title="spike_dist_EuroSAT_vs_RFI.png"/>
          <p:cNvPicPr preferRelativeResize="0"/>
          <p:nvPr/>
        </p:nvPicPr>
        <p:blipFill>
          <a:blip r:embed="rId3">
            <a:alphaModFix/>
          </a:blip>
          <a:stretch>
            <a:fillRect/>
          </a:stretch>
        </p:blipFill>
        <p:spPr>
          <a:xfrm>
            <a:off x="9167833" y="2631975"/>
            <a:ext cx="2776618" cy="2064853"/>
          </a:xfrm>
          <a:prstGeom prst="rect">
            <a:avLst/>
          </a:prstGeom>
          <a:noFill/>
          <a:ln>
            <a:noFill/>
          </a:ln>
        </p:spPr>
      </p:pic>
      <p:pic>
        <p:nvPicPr>
          <p:cNvPr id="362" name="Google Shape;362;g3bfccae9961_0_564" title="spike_dist_EuroSAT_vs_gaussian_noise.png"/>
          <p:cNvPicPr preferRelativeResize="0"/>
          <p:nvPr/>
        </p:nvPicPr>
        <p:blipFill>
          <a:blip r:embed="rId4">
            <a:alphaModFix/>
          </a:blip>
          <a:stretch>
            <a:fillRect/>
          </a:stretch>
        </p:blipFill>
        <p:spPr>
          <a:xfrm>
            <a:off x="6276520" y="2632015"/>
            <a:ext cx="2776618" cy="2064825"/>
          </a:xfrm>
          <a:prstGeom prst="rect">
            <a:avLst/>
          </a:prstGeom>
          <a:noFill/>
          <a:ln>
            <a:noFill/>
          </a:ln>
        </p:spPr>
      </p:pic>
      <p:pic>
        <p:nvPicPr>
          <p:cNvPr id="363" name="Google Shape;363;g3bfccae9961_0_564" title="spike_dist_mnist_vs_gaussian_noise.png"/>
          <p:cNvPicPr preferRelativeResize="0"/>
          <p:nvPr/>
        </p:nvPicPr>
        <p:blipFill>
          <a:blip r:embed="rId5">
            <a:alphaModFix/>
          </a:blip>
          <a:stretch>
            <a:fillRect/>
          </a:stretch>
        </p:blipFill>
        <p:spPr>
          <a:xfrm>
            <a:off x="342549" y="2662600"/>
            <a:ext cx="2703399" cy="2010376"/>
          </a:xfrm>
          <a:prstGeom prst="rect">
            <a:avLst/>
          </a:prstGeom>
          <a:noFill/>
          <a:ln>
            <a:noFill/>
          </a:ln>
        </p:spPr>
      </p:pic>
      <p:pic>
        <p:nvPicPr>
          <p:cNvPr id="364" name="Google Shape;364;g3bfccae9961_0_564" title="spike_dist_mnist_vs_RFI.png"/>
          <p:cNvPicPr preferRelativeResize="0"/>
          <p:nvPr/>
        </p:nvPicPr>
        <p:blipFill>
          <a:blip r:embed="rId6">
            <a:alphaModFix/>
          </a:blip>
          <a:stretch>
            <a:fillRect/>
          </a:stretch>
        </p:blipFill>
        <p:spPr>
          <a:xfrm>
            <a:off x="3138025" y="2662601"/>
            <a:ext cx="2738771" cy="203665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3bfccae9961_0_594"/>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371" name="Google Shape;371;g3bfccae9961_0_594"/>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Clr>
                <a:schemeClr val="dk1"/>
              </a:buClr>
              <a:buSzPts val="2700"/>
              <a:buFont typeface="Arial"/>
              <a:buNone/>
            </a:pPr>
            <a:r>
              <a:rPr b="1" i="0" lang="it-IT" sz="2700" u="none" cap="none" strike="noStrike">
                <a:solidFill>
                  <a:schemeClr val="accent3"/>
                </a:solidFill>
                <a:latin typeface="Century Gothic"/>
                <a:ea typeface="Century Gothic"/>
                <a:cs typeface="Century Gothic"/>
                <a:sym typeface="Century Gothic"/>
              </a:rPr>
              <a:t>Results linear models </a:t>
            </a:r>
            <a:endParaRPr b="0" i="0" sz="2700" u="none" cap="none" strike="noStrike">
              <a:solidFill>
                <a:srgbClr val="000000"/>
              </a:solidFill>
              <a:latin typeface="Arial"/>
              <a:ea typeface="Arial"/>
              <a:cs typeface="Arial"/>
              <a:sym typeface="Arial"/>
            </a:endParaRPr>
          </a:p>
        </p:txBody>
      </p:sp>
      <p:sp>
        <p:nvSpPr>
          <p:cNvPr id="372" name="Google Shape;372;g3bfccae9961_0_594"/>
          <p:cNvSpPr/>
          <p:nvPr/>
        </p:nvSpPr>
        <p:spPr>
          <a:xfrm>
            <a:off x="1591750" y="150305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mnist</a:t>
            </a:r>
            <a:endParaRPr b="0" i="0" sz="1900" u="none" cap="none" strike="noStrike">
              <a:solidFill>
                <a:srgbClr val="000000"/>
              </a:solidFill>
              <a:latin typeface="Arial"/>
              <a:ea typeface="Arial"/>
              <a:cs typeface="Arial"/>
              <a:sym typeface="Arial"/>
            </a:endParaRPr>
          </a:p>
        </p:txBody>
      </p:sp>
      <p:sp>
        <p:nvSpPr>
          <p:cNvPr id="373" name="Google Shape;373;g3bfccae9961_0_594"/>
          <p:cNvSpPr/>
          <p:nvPr/>
        </p:nvSpPr>
        <p:spPr>
          <a:xfrm>
            <a:off x="7328325" y="141150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EuroSAT</a:t>
            </a:r>
            <a:endParaRPr b="0" i="0" sz="1900" u="none" cap="none" strike="noStrike">
              <a:solidFill>
                <a:srgbClr val="000000"/>
              </a:solidFill>
              <a:latin typeface="Arial"/>
              <a:ea typeface="Arial"/>
              <a:cs typeface="Arial"/>
              <a:sym typeface="Arial"/>
            </a:endParaRPr>
          </a:p>
        </p:txBody>
      </p:sp>
      <p:pic>
        <p:nvPicPr>
          <p:cNvPr id="374" name="Google Shape;374;g3bfccae9961_0_594" title="energy_dist_EuroSAT_vs_gaussian_noise.png"/>
          <p:cNvPicPr preferRelativeResize="0"/>
          <p:nvPr/>
        </p:nvPicPr>
        <p:blipFill>
          <a:blip r:embed="rId3">
            <a:alphaModFix/>
          </a:blip>
          <a:stretch>
            <a:fillRect/>
          </a:stretch>
        </p:blipFill>
        <p:spPr>
          <a:xfrm>
            <a:off x="550848" y="2442226"/>
            <a:ext cx="2653850" cy="1973538"/>
          </a:xfrm>
          <a:prstGeom prst="rect">
            <a:avLst/>
          </a:prstGeom>
          <a:noFill/>
          <a:ln>
            <a:noFill/>
          </a:ln>
        </p:spPr>
      </p:pic>
      <p:pic>
        <p:nvPicPr>
          <p:cNvPr id="375" name="Google Shape;375;g3bfccae9961_0_594" title="energy_dist_EuroSAT_vs_RFI.png"/>
          <p:cNvPicPr preferRelativeResize="0"/>
          <p:nvPr/>
        </p:nvPicPr>
        <p:blipFill>
          <a:blip r:embed="rId4">
            <a:alphaModFix/>
          </a:blip>
          <a:stretch>
            <a:fillRect/>
          </a:stretch>
        </p:blipFill>
        <p:spPr>
          <a:xfrm>
            <a:off x="3357097" y="2442226"/>
            <a:ext cx="2653850" cy="1973538"/>
          </a:xfrm>
          <a:prstGeom prst="rect">
            <a:avLst/>
          </a:prstGeom>
          <a:noFill/>
          <a:ln>
            <a:noFill/>
          </a:ln>
        </p:spPr>
      </p:pic>
      <p:pic>
        <p:nvPicPr>
          <p:cNvPr id="376" name="Google Shape;376;g3bfccae9961_0_594" title="energy_dist_mnist_vs_gaussian_noise.png"/>
          <p:cNvPicPr preferRelativeResize="0"/>
          <p:nvPr/>
        </p:nvPicPr>
        <p:blipFill>
          <a:blip r:embed="rId5">
            <a:alphaModFix/>
          </a:blip>
          <a:stretch>
            <a:fillRect/>
          </a:stretch>
        </p:blipFill>
        <p:spPr>
          <a:xfrm>
            <a:off x="9454822" y="2479511"/>
            <a:ext cx="2651740" cy="1973540"/>
          </a:xfrm>
          <a:prstGeom prst="rect">
            <a:avLst/>
          </a:prstGeom>
          <a:noFill/>
          <a:ln>
            <a:noFill/>
          </a:ln>
        </p:spPr>
      </p:pic>
      <p:pic>
        <p:nvPicPr>
          <p:cNvPr id="377" name="Google Shape;377;g3bfccae9961_0_594" title="energy_dist_mnist_vs_RFI.png"/>
          <p:cNvPicPr preferRelativeResize="0"/>
          <p:nvPr/>
        </p:nvPicPr>
        <p:blipFill>
          <a:blip r:embed="rId6">
            <a:alphaModFix/>
          </a:blip>
          <a:stretch>
            <a:fillRect/>
          </a:stretch>
        </p:blipFill>
        <p:spPr>
          <a:xfrm>
            <a:off x="6591382" y="2479500"/>
            <a:ext cx="2651756" cy="197354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g3bfccae9961_0_604"/>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384" name="Google Shape;384;g3bfccae9961_0_604"/>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Clr>
                <a:schemeClr val="dk1"/>
              </a:buClr>
              <a:buSzPts val="2700"/>
              <a:buFont typeface="Arial"/>
              <a:buNone/>
            </a:pPr>
            <a:r>
              <a:rPr b="1" i="0" lang="it-IT" sz="2700" u="none" cap="none" strike="noStrike">
                <a:solidFill>
                  <a:schemeClr val="accent3"/>
                </a:solidFill>
                <a:latin typeface="Century Gothic"/>
                <a:ea typeface="Century Gothic"/>
                <a:cs typeface="Century Gothic"/>
                <a:sym typeface="Century Gothic"/>
              </a:rPr>
              <a:t>Results spike linear models </a:t>
            </a:r>
            <a:endParaRPr b="0" i="0" sz="2700" u="none" cap="none" strike="noStrike">
              <a:solidFill>
                <a:srgbClr val="000000"/>
              </a:solidFill>
              <a:latin typeface="Arial"/>
              <a:ea typeface="Arial"/>
              <a:cs typeface="Arial"/>
              <a:sym typeface="Arial"/>
            </a:endParaRPr>
          </a:p>
        </p:txBody>
      </p:sp>
      <p:sp>
        <p:nvSpPr>
          <p:cNvPr id="385" name="Google Shape;385;g3bfccae9961_0_604"/>
          <p:cNvSpPr/>
          <p:nvPr/>
        </p:nvSpPr>
        <p:spPr>
          <a:xfrm>
            <a:off x="1591750" y="150305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mnist</a:t>
            </a:r>
            <a:endParaRPr b="0" i="0" sz="1900" u="none" cap="none" strike="noStrike">
              <a:solidFill>
                <a:srgbClr val="000000"/>
              </a:solidFill>
              <a:latin typeface="Arial"/>
              <a:ea typeface="Arial"/>
              <a:cs typeface="Arial"/>
              <a:sym typeface="Arial"/>
            </a:endParaRPr>
          </a:p>
        </p:txBody>
      </p:sp>
      <p:sp>
        <p:nvSpPr>
          <p:cNvPr id="386" name="Google Shape;386;g3bfccae9961_0_604"/>
          <p:cNvSpPr/>
          <p:nvPr/>
        </p:nvSpPr>
        <p:spPr>
          <a:xfrm>
            <a:off x="7328325" y="141150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EuroSAT</a:t>
            </a:r>
            <a:endParaRPr b="0" i="0" sz="1900" u="none" cap="none" strike="noStrike">
              <a:solidFill>
                <a:srgbClr val="000000"/>
              </a:solidFill>
              <a:latin typeface="Arial"/>
              <a:ea typeface="Arial"/>
              <a:cs typeface="Arial"/>
              <a:sym typeface="Arial"/>
            </a:endParaRPr>
          </a:p>
        </p:txBody>
      </p:sp>
      <p:pic>
        <p:nvPicPr>
          <p:cNvPr id="387" name="Google Shape;387;g3bfccae9961_0_604" title="spike_dist_EuroSAT_vs_gaussian_noise.png"/>
          <p:cNvPicPr preferRelativeResize="0"/>
          <p:nvPr/>
        </p:nvPicPr>
        <p:blipFill>
          <a:blip r:embed="rId3">
            <a:alphaModFix/>
          </a:blip>
          <a:stretch>
            <a:fillRect/>
          </a:stretch>
        </p:blipFill>
        <p:spPr>
          <a:xfrm>
            <a:off x="9001934" y="2385200"/>
            <a:ext cx="2807189" cy="2087589"/>
          </a:xfrm>
          <a:prstGeom prst="rect">
            <a:avLst/>
          </a:prstGeom>
          <a:noFill/>
          <a:ln>
            <a:noFill/>
          </a:ln>
        </p:spPr>
      </p:pic>
      <p:pic>
        <p:nvPicPr>
          <p:cNvPr id="388" name="Google Shape;388;g3bfccae9961_0_604" title="spike_dist_EuroSAT_vs_RFI.png"/>
          <p:cNvPicPr preferRelativeResize="0"/>
          <p:nvPr/>
        </p:nvPicPr>
        <p:blipFill>
          <a:blip r:embed="rId4">
            <a:alphaModFix/>
          </a:blip>
          <a:stretch>
            <a:fillRect/>
          </a:stretch>
        </p:blipFill>
        <p:spPr>
          <a:xfrm>
            <a:off x="6404525" y="2429724"/>
            <a:ext cx="2747339" cy="2043075"/>
          </a:xfrm>
          <a:prstGeom prst="rect">
            <a:avLst/>
          </a:prstGeom>
          <a:noFill/>
          <a:ln>
            <a:noFill/>
          </a:ln>
        </p:spPr>
      </p:pic>
      <p:pic>
        <p:nvPicPr>
          <p:cNvPr id="389" name="Google Shape;389;g3bfccae9961_0_604" title="spike_dist_mnist_vs_gaussian_noise.png"/>
          <p:cNvPicPr preferRelativeResize="0"/>
          <p:nvPr/>
        </p:nvPicPr>
        <p:blipFill>
          <a:blip r:embed="rId5">
            <a:alphaModFix/>
          </a:blip>
          <a:stretch>
            <a:fillRect/>
          </a:stretch>
        </p:blipFill>
        <p:spPr>
          <a:xfrm>
            <a:off x="162625" y="2429725"/>
            <a:ext cx="2747351" cy="2043063"/>
          </a:xfrm>
          <a:prstGeom prst="rect">
            <a:avLst/>
          </a:prstGeom>
          <a:noFill/>
          <a:ln>
            <a:noFill/>
          </a:ln>
        </p:spPr>
      </p:pic>
      <p:pic>
        <p:nvPicPr>
          <p:cNvPr id="390" name="Google Shape;390;g3bfccae9961_0_604" title="spike_dist_mnist_vs_RFI.png"/>
          <p:cNvPicPr preferRelativeResize="0"/>
          <p:nvPr/>
        </p:nvPicPr>
        <p:blipFill>
          <a:blip r:embed="rId6">
            <a:alphaModFix/>
          </a:blip>
          <a:stretch>
            <a:fillRect/>
          </a:stretch>
        </p:blipFill>
        <p:spPr>
          <a:xfrm>
            <a:off x="3249403" y="2468986"/>
            <a:ext cx="2641662" cy="196450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3bfccae9961_0_614"/>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397" name="Google Shape;397;g3bfccae9961_0_614"/>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Clr>
                <a:schemeClr val="dk1"/>
              </a:buClr>
              <a:buSzPts val="2700"/>
              <a:buFont typeface="Arial"/>
              <a:buNone/>
            </a:pPr>
            <a:r>
              <a:rPr b="1" i="0" lang="it-IT" sz="2700" u="none" cap="none" strike="noStrike">
                <a:solidFill>
                  <a:schemeClr val="accent3"/>
                </a:solidFill>
                <a:latin typeface="Century Gothic"/>
                <a:ea typeface="Century Gothic"/>
                <a:cs typeface="Century Gothic"/>
                <a:sym typeface="Century Gothic"/>
              </a:rPr>
              <a:t>Results standard convolutional models </a:t>
            </a:r>
            <a:endParaRPr b="0" i="0" sz="2700" u="none" cap="none" strike="noStrike">
              <a:solidFill>
                <a:srgbClr val="000000"/>
              </a:solidFill>
              <a:latin typeface="Arial"/>
              <a:ea typeface="Arial"/>
              <a:cs typeface="Arial"/>
              <a:sym typeface="Arial"/>
            </a:endParaRPr>
          </a:p>
        </p:txBody>
      </p:sp>
      <p:sp>
        <p:nvSpPr>
          <p:cNvPr id="398" name="Google Shape;398;g3bfccae9961_0_614"/>
          <p:cNvSpPr/>
          <p:nvPr/>
        </p:nvSpPr>
        <p:spPr>
          <a:xfrm>
            <a:off x="1591750" y="150305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mnist</a:t>
            </a:r>
            <a:endParaRPr b="0" i="0" sz="1900" u="none" cap="none" strike="noStrike">
              <a:solidFill>
                <a:srgbClr val="000000"/>
              </a:solidFill>
              <a:latin typeface="Arial"/>
              <a:ea typeface="Arial"/>
              <a:cs typeface="Arial"/>
              <a:sym typeface="Arial"/>
            </a:endParaRPr>
          </a:p>
        </p:txBody>
      </p:sp>
      <p:sp>
        <p:nvSpPr>
          <p:cNvPr id="399" name="Google Shape;399;g3bfccae9961_0_614"/>
          <p:cNvSpPr/>
          <p:nvPr/>
        </p:nvSpPr>
        <p:spPr>
          <a:xfrm>
            <a:off x="7328325" y="141150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EuroSAT</a:t>
            </a:r>
            <a:endParaRPr b="0" i="0" sz="1900" u="none" cap="none" strike="noStrike">
              <a:solidFill>
                <a:srgbClr val="000000"/>
              </a:solidFill>
              <a:latin typeface="Arial"/>
              <a:ea typeface="Arial"/>
              <a:cs typeface="Arial"/>
              <a:sym typeface="Arial"/>
            </a:endParaRPr>
          </a:p>
        </p:txBody>
      </p:sp>
      <p:pic>
        <p:nvPicPr>
          <p:cNvPr id="400" name="Google Shape;400;g3bfccae9961_0_614" title="energy_dist_mnist_vs_gaussian_noise.png"/>
          <p:cNvPicPr preferRelativeResize="0"/>
          <p:nvPr/>
        </p:nvPicPr>
        <p:blipFill>
          <a:blip r:embed="rId3">
            <a:alphaModFix/>
          </a:blip>
          <a:stretch>
            <a:fillRect/>
          </a:stretch>
        </p:blipFill>
        <p:spPr>
          <a:xfrm>
            <a:off x="353675" y="2403423"/>
            <a:ext cx="2758203" cy="2051140"/>
          </a:xfrm>
          <a:prstGeom prst="rect">
            <a:avLst/>
          </a:prstGeom>
          <a:noFill/>
          <a:ln>
            <a:noFill/>
          </a:ln>
        </p:spPr>
      </p:pic>
      <p:pic>
        <p:nvPicPr>
          <p:cNvPr id="401" name="Google Shape;401;g3bfccae9961_0_614" title="energy_dist_mnist_vs_RFI.png"/>
          <p:cNvPicPr preferRelativeResize="0"/>
          <p:nvPr/>
        </p:nvPicPr>
        <p:blipFill>
          <a:blip r:embed="rId4">
            <a:alphaModFix/>
          </a:blip>
          <a:stretch>
            <a:fillRect/>
          </a:stretch>
        </p:blipFill>
        <p:spPr>
          <a:xfrm>
            <a:off x="3294548" y="2403423"/>
            <a:ext cx="2758203" cy="2051140"/>
          </a:xfrm>
          <a:prstGeom prst="rect">
            <a:avLst/>
          </a:prstGeom>
          <a:noFill/>
          <a:ln>
            <a:noFill/>
          </a:ln>
        </p:spPr>
      </p:pic>
      <p:pic>
        <p:nvPicPr>
          <p:cNvPr id="402" name="Google Shape;402;g3bfccae9961_0_614" title="energy_dist_EuroSAT_vs_gaussian_noise.png"/>
          <p:cNvPicPr preferRelativeResize="0"/>
          <p:nvPr/>
        </p:nvPicPr>
        <p:blipFill>
          <a:blip r:embed="rId5">
            <a:alphaModFix/>
          </a:blip>
          <a:stretch>
            <a:fillRect/>
          </a:stretch>
        </p:blipFill>
        <p:spPr>
          <a:xfrm>
            <a:off x="9489175" y="2437788"/>
            <a:ext cx="2665801" cy="1982425"/>
          </a:xfrm>
          <a:prstGeom prst="rect">
            <a:avLst/>
          </a:prstGeom>
          <a:noFill/>
          <a:ln>
            <a:noFill/>
          </a:ln>
        </p:spPr>
      </p:pic>
      <p:pic>
        <p:nvPicPr>
          <p:cNvPr id="403" name="Google Shape;403;g3bfccae9961_0_614" title="energy_dist_EuroSAT_vs_RFI.png"/>
          <p:cNvPicPr preferRelativeResize="0"/>
          <p:nvPr/>
        </p:nvPicPr>
        <p:blipFill>
          <a:blip r:embed="rId6">
            <a:alphaModFix/>
          </a:blip>
          <a:stretch>
            <a:fillRect/>
          </a:stretch>
        </p:blipFill>
        <p:spPr>
          <a:xfrm>
            <a:off x="6556184" y="2479499"/>
            <a:ext cx="2604947" cy="193870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g3bfccae9961_0_624"/>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410" name="Google Shape;410;g3bfccae9961_0_624"/>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Clr>
                <a:schemeClr val="dk1"/>
              </a:buClr>
              <a:buSzPts val="2700"/>
              <a:buFont typeface="Arial"/>
              <a:buNone/>
            </a:pPr>
            <a:r>
              <a:rPr b="1" i="0" lang="it-IT" sz="2700" u="none" cap="none" strike="noStrike">
                <a:solidFill>
                  <a:schemeClr val="accent3"/>
                </a:solidFill>
                <a:latin typeface="Century Gothic"/>
                <a:ea typeface="Century Gothic"/>
                <a:cs typeface="Century Gothic"/>
                <a:sym typeface="Century Gothic"/>
              </a:rPr>
              <a:t>Results spike convolutional models </a:t>
            </a:r>
            <a:endParaRPr b="0" i="0" sz="2700" u="none" cap="none" strike="noStrike">
              <a:solidFill>
                <a:srgbClr val="000000"/>
              </a:solidFill>
              <a:latin typeface="Arial"/>
              <a:ea typeface="Arial"/>
              <a:cs typeface="Arial"/>
              <a:sym typeface="Arial"/>
            </a:endParaRPr>
          </a:p>
        </p:txBody>
      </p:sp>
      <p:sp>
        <p:nvSpPr>
          <p:cNvPr id="411" name="Google Shape;411;g3bfccae9961_0_624"/>
          <p:cNvSpPr/>
          <p:nvPr/>
        </p:nvSpPr>
        <p:spPr>
          <a:xfrm>
            <a:off x="1591750" y="150305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mnist</a:t>
            </a:r>
            <a:endParaRPr b="0" i="0" sz="1900" u="none" cap="none" strike="noStrike">
              <a:solidFill>
                <a:srgbClr val="000000"/>
              </a:solidFill>
              <a:latin typeface="Arial"/>
              <a:ea typeface="Arial"/>
              <a:cs typeface="Arial"/>
              <a:sym typeface="Arial"/>
            </a:endParaRPr>
          </a:p>
        </p:txBody>
      </p:sp>
      <p:sp>
        <p:nvSpPr>
          <p:cNvPr id="412" name="Google Shape;412;g3bfccae9961_0_624"/>
          <p:cNvSpPr/>
          <p:nvPr/>
        </p:nvSpPr>
        <p:spPr>
          <a:xfrm>
            <a:off x="7328325" y="1411500"/>
            <a:ext cx="3378300" cy="579300"/>
          </a:xfrm>
          <a:prstGeom prst="rect">
            <a:avLst/>
          </a:prstGeom>
          <a:noFill/>
          <a:ln>
            <a:noFill/>
          </a:ln>
        </p:spPr>
        <p:txBody>
          <a:bodyPr anchorCtr="0" anchor="t" bIns="91425" lIns="90000" spcFirstLastPara="1" rIns="90000" wrap="square" tIns="91425">
            <a:noAutofit/>
          </a:bodyPr>
          <a:lstStyle/>
          <a:p>
            <a:pPr indent="0" lvl="0" marL="0" marR="0" rtl="0" algn="ctr">
              <a:lnSpc>
                <a:spcPct val="90000"/>
              </a:lnSpc>
              <a:spcBef>
                <a:spcPts val="0"/>
              </a:spcBef>
              <a:spcAft>
                <a:spcPts val="0"/>
              </a:spcAft>
              <a:buClr>
                <a:schemeClr val="dk1"/>
              </a:buClr>
              <a:buSzPts val="1900"/>
              <a:buFont typeface="Arial"/>
              <a:buNone/>
            </a:pPr>
            <a:r>
              <a:rPr b="1" i="0" lang="it-IT" sz="1900" u="none" cap="none" strike="noStrike">
                <a:solidFill>
                  <a:schemeClr val="accent3"/>
                </a:solidFill>
                <a:latin typeface="Century Gothic"/>
                <a:ea typeface="Century Gothic"/>
                <a:cs typeface="Century Gothic"/>
                <a:sym typeface="Century Gothic"/>
              </a:rPr>
              <a:t>EuroSAT</a:t>
            </a:r>
            <a:endParaRPr b="0" i="0" sz="1900" u="none" cap="none" strike="noStrike">
              <a:solidFill>
                <a:srgbClr val="000000"/>
              </a:solidFill>
              <a:latin typeface="Arial"/>
              <a:ea typeface="Arial"/>
              <a:cs typeface="Arial"/>
              <a:sym typeface="Arial"/>
            </a:endParaRPr>
          </a:p>
        </p:txBody>
      </p:sp>
      <p:pic>
        <p:nvPicPr>
          <p:cNvPr id="413" name="Google Shape;413;g3bfccae9961_0_624" title="dist_plot_spikes.png"/>
          <p:cNvPicPr preferRelativeResize="0"/>
          <p:nvPr/>
        </p:nvPicPr>
        <p:blipFill>
          <a:blip r:embed="rId3">
            <a:alphaModFix/>
          </a:blip>
          <a:stretch>
            <a:fillRect/>
          </a:stretch>
        </p:blipFill>
        <p:spPr>
          <a:xfrm>
            <a:off x="6303375" y="2575519"/>
            <a:ext cx="5734252" cy="2427531"/>
          </a:xfrm>
          <a:prstGeom prst="rect">
            <a:avLst/>
          </a:prstGeom>
          <a:noFill/>
          <a:ln>
            <a:noFill/>
          </a:ln>
        </p:spPr>
      </p:pic>
      <p:pic>
        <p:nvPicPr>
          <p:cNvPr id="414" name="Google Shape;414;g3bfccae9961_0_624" title="dist_plot_spikes.png"/>
          <p:cNvPicPr preferRelativeResize="0"/>
          <p:nvPr/>
        </p:nvPicPr>
        <p:blipFill>
          <a:blip r:embed="rId4">
            <a:alphaModFix/>
          </a:blip>
          <a:stretch>
            <a:fillRect/>
          </a:stretch>
        </p:blipFill>
        <p:spPr>
          <a:xfrm>
            <a:off x="146875" y="2458525"/>
            <a:ext cx="6118451" cy="259018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g3bfccae9961_0_263"/>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421" name="Google Shape;421;g3bfccae9961_0_263"/>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rtl="0" algn="l">
              <a:lnSpc>
                <a:spcPct val="90000"/>
              </a:lnSpc>
              <a:spcBef>
                <a:spcPts val="0"/>
              </a:spcBef>
              <a:spcAft>
                <a:spcPts val="0"/>
              </a:spcAft>
              <a:buClr>
                <a:schemeClr val="dk1"/>
              </a:buClr>
              <a:buFont typeface="Arial"/>
              <a:buNone/>
            </a:pPr>
            <a:r>
              <a:rPr b="1" lang="it-IT" sz="2700">
                <a:solidFill>
                  <a:schemeClr val="accent3"/>
                </a:solidFill>
                <a:latin typeface="Century Gothic"/>
                <a:ea typeface="Century Gothic"/>
                <a:cs typeface="Century Gothic"/>
                <a:sym typeface="Century Gothic"/>
              </a:rPr>
              <a:t>Results image vae models </a:t>
            </a:r>
            <a:endParaRPr b="0" i="0" sz="2700" u="none" cap="none" strike="noStrike">
              <a:solidFill>
                <a:srgbClr val="000000"/>
              </a:solidFill>
              <a:latin typeface="Arial"/>
              <a:ea typeface="Arial"/>
              <a:cs typeface="Arial"/>
              <a:sym typeface="Arial"/>
            </a:endParaRPr>
          </a:p>
        </p:txBody>
      </p:sp>
      <p:pic>
        <p:nvPicPr>
          <p:cNvPr id="422" name="Google Shape;422;g3bfccae9961_0_263" title="gaussians.png"/>
          <p:cNvPicPr preferRelativeResize="0"/>
          <p:nvPr/>
        </p:nvPicPr>
        <p:blipFill>
          <a:blip r:embed="rId3">
            <a:alphaModFix/>
          </a:blip>
          <a:stretch>
            <a:fillRect/>
          </a:stretch>
        </p:blipFill>
        <p:spPr>
          <a:xfrm>
            <a:off x="2602799" y="1578575"/>
            <a:ext cx="7521651" cy="47576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g3bfccae9961_0_275"/>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429" name="Google Shape;429;g3bfccae9961_0_275"/>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rtl="0" algn="l">
              <a:lnSpc>
                <a:spcPct val="90000"/>
              </a:lnSpc>
              <a:spcBef>
                <a:spcPts val="0"/>
              </a:spcBef>
              <a:spcAft>
                <a:spcPts val="0"/>
              </a:spcAft>
              <a:buClr>
                <a:schemeClr val="dk1"/>
              </a:buClr>
              <a:buFont typeface="Arial"/>
              <a:buNone/>
            </a:pPr>
            <a:r>
              <a:rPr b="1" lang="it-IT" sz="2700">
                <a:solidFill>
                  <a:schemeClr val="accent3"/>
                </a:solidFill>
                <a:latin typeface="Century Gothic"/>
                <a:ea typeface="Century Gothic"/>
                <a:cs typeface="Century Gothic"/>
                <a:sym typeface="Century Gothic"/>
              </a:rPr>
              <a:t>Results line models </a:t>
            </a:r>
            <a:endParaRPr b="0" i="0" sz="2700" u="none" cap="none" strike="noStrike">
              <a:solidFill>
                <a:srgbClr val="000000"/>
              </a:solidFill>
              <a:latin typeface="Arial"/>
              <a:ea typeface="Arial"/>
              <a:cs typeface="Arial"/>
              <a:sym typeface="Arial"/>
            </a:endParaRPr>
          </a:p>
        </p:txBody>
      </p:sp>
      <p:pic>
        <p:nvPicPr>
          <p:cNvPr id="430" name="Google Shape;430;g3bfccae9961_0_275" title="gaussians.png"/>
          <p:cNvPicPr preferRelativeResize="0"/>
          <p:nvPr/>
        </p:nvPicPr>
        <p:blipFill>
          <a:blip r:embed="rId3">
            <a:alphaModFix/>
          </a:blip>
          <a:stretch>
            <a:fillRect/>
          </a:stretch>
        </p:blipFill>
        <p:spPr>
          <a:xfrm>
            <a:off x="2782123" y="1449800"/>
            <a:ext cx="7419552" cy="48677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g3bfccae9961_0_287"/>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437" name="Google Shape;437;g3bfccae9961_0_287"/>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rtl="0" algn="l">
              <a:lnSpc>
                <a:spcPct val="90000"/>
              </a:lnSpc>
              <a:spcBef>
                <a:spcPts val="0"/>
              </a:spcBef>
              <a:spcAft>
                <a:spcPts val="0"/>
              </a:spcAft>
              <a:buClr>
                <a:schemeClr val="dk1"/>
              </a:buClr>
              <a:buFont typeface="Arial"/>
              <a:buNone/>
            </a:pPr>
            <a:r>
              <a:rPr b="1" lang="it-IT" sz="2700">
                <a:solidFill>
                  <a:schemeClr val="accent3"/>
                </a:solidFill>
                <a:latin typeface="Century Gothic"/>
                <a:ea typeface="Century Gothic"/>
                <a:cs typeface="Century Gothic"/>
                <a:sym typeface="Century Gothic"/>
              </a:rPr>
              <a:t>Results image only magnitude models </a:t>
            </a:r>
            <a:endParaRPr b="0" i="0" sz="2700" u="none" cap="none" strike="noStrike">
              <a:solidFill>
                <a:srgbClr val="000000"/>
              </a:solidFill>
              <a:latin typeface="Arial"/>
              <a:ea typeface="Arial"/>
              <a:cs typeface="Arial"/>
              <a:sym typeface="Arial"/>
            </a:endParaRPr>
          </a:p>
        </p:txBody>
      </p:sp>
      <p:pic>
        <p:nvPicPr>
          <p:cNvPr id="438" name="Google Shape;438;g3bfccae9961_0_287" title="gaussians.png"/>
          <p:cNvPicPr preferRelativeResize="0"/>
          <p:nvPr/>
        </p:nvPicPr>
        <p:blipFill>
          <a:blip r:embed="rId3">
            <a:alphaModFix/>
          </a:blip>
          <a:stretch>
            <a:fillRect/>
          </a:stretch>
        </p:blipFill>
        <p:spPr>
          <a:xfrm>
            <a:off x="2270097" y="1503050"/>
            <a:ext cx="7876053" cy="48829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g3bfccae9961_0_299"/>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445" name="Google Shape;445;g3bfccae9961_0_299"/>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rtl="0" algn="l">
              <a:lnSpc>
                <a:spcPct val="90000"/>
              </a:lnSpc>
              <a:spcBef>
                <a:spcPts val="0"/>
              </a:spcBef>
              <a:spcAft>
                <a:spcPts val="0"/>
              </a:spcAft>
              <a:buClr>
                <a:schemeClr val="dk1"/>
              </a:buClr>
              <a:buFont typeface="Arial"/>
              <a:buNone/>
            </a:pPr>
            <a:r>
              <a:rPr b="1" lang="it-IT" sz="2700">
                <a:solidFill>
                  <a:schemeClr val="accent3"/>
                </a:solidFill>
                <a:latin typeface="Century Gothic"/>
                <a:ea typeface="Century Gothic"/>
                <a:cs typeface="Century Gothic"/>
                <a:sym typeface="Century Gothic"/>
              </a:rPr>
              <a:t>Results image 10 epochs models </a:t>
            </a:r>
            <a:endParaRPr b="0" i="0" sz="2700" u="none" cap="none" strike="noStrike">
              <a:solidFill>
                <a:srgbClr val="000000"/>
              </a:solidFill>
              <a:latin typeface="Arial"/>
              <a:ea typeface="Arial"/>
              <a:cs typeface="Arial"/>
              <a:sym typeface="Arial"/>
            </a:endParaRPr>
          </a:p>
        </p:txBody>
      </p:sp>
      <p:pic>
        <p:nvPicPr>
          <p:cNvPr id="446" name="Google Shape;446;g3bfccae9961_0_299" title="gaussians.png"/>
          <p:cNvPicPr preferRelativeResize="0"/>
          <p:nvPr/>
        </p:nvPicPr>
        <p:blipFill>
          <a:blip r:embed="rId3">
            <a:alphaModFix/>
          </a:blip>
          <a:stretch>
            <a:fillRect/>
          </a:stretch>
        </p:blipFill>
        <p:spPr>
          <a:xfrm>
            <a:off x="2320702" y="1697150"/>
            <a:ext cx="6875577" cy="426262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g3bfccae9961_0_489"/>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453" name="Google Shape;453;g3bfccae9961_0_489"/>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rtl="0" algn="l">
              <a:lnSpc>
                <a:spcPct val="90000"/>
              </a:lnSpc>
              <a:spcBef>
                <a:spcPts val="0"/>
              </a:spcBef>
              <a:spcAft>
                <a:spcPts val="0"/>
              </a:spcAft>
              <a:buClr>
                <a:schemeClr val="dk1"/>
              </a:buClr>
              <a:buFont typeface="Arial"/>
              <a:buNone/>
            </a:pPr>
            <a:r>
              <a:rPr b="1" lang="it-IT" sz="2700">
                <a:solidFill>
                  <a:schemeClr val="accent3"/>
                </a:solidFill>
                <a:latin typeface="Century Gothic"/>
                <a:ea typeface="Century Gothic"/>
                <a:cs typeface="Century Gothic"/>
                <a:sym typeface="Century Gothic"/>
              </a:rPr>
              <a:t>Results image 10 epochs models </a:t>
            </a:r>
            <a:endParaRPr b="0" i="0" sz="2700" u="none" cap="none" strike="noStrike">
              <a:solidFill>
                <a:srgbClr val="000000"/>
              </a:solidFill>
              <a:latin typeface="Arial"/>
              <a:ea typeface="Arial"/>
              <a:cs typeface="Arial"/>
              <a:sym typeface="Arial"/>
            </a:endParaRPr>
          </a:p>
        </p:txBody>
      </p:sp>
      <p:pic>
        <p:nvPicPr>
          <p:cNvPr id="454" name="Google Shape;454;g3bfccae9961_0_489" title="gaussians.png"/>
          <p:cNvPicPr preferRelativeResize="0"/>
          <p:nvPr/>
        </p:nvPicPr>
        <p:blipFill>
          <a:blip r:embed="rId3">
            <a:alphaModFix/>
          </a:blip>
          <a:stretch>
            <a:fillRect/>
          </a:stretch>
        </p:blipFill>
        <p:spPr>
          <a:xfrm>
            <a:off x="2320702" y="1697150"/>
            <a:ext cx="6875577" cy="426262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g3bfccae9961_0_496"/>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461" name="Google Shape;461;g3bfccae9961_0_496"/>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rtl="0" algn="l">
              <a:lnSpc>
                <a:spcPct val="90000"/>
              </a:lnSpc>
              <a:spcBef>
                <a:spcPts val="0"/>
              </a:spcBef>
              <a:spcAft>
                <a:spcPts val="0"/>
              </a:spcAft>
              <a:buClr>
                <a:schemeClr val="dk1"/>
              </a:buClr>
              <a:buFont typeface="Arial"/>
              <a:buNone/>
            </a:pPr>
            <a:r>
              <a:rPr b="1" lang="it-IT" sz="2700">
                <a:solidFill>
                  <a:schemeClr val="accent3"/>
                </a:solidFill>
                <a:latin typeface="Century Gothic"/>
                <a:ea typeface="Century Gothic"/>
                <a:cs typeface="Century Gothic"/>
                <a:sym typeface="Century Gothic"/>
              </a:rPr>
              <a:t>Results image 100 Time steps integration models </a:t>
            </a:r>
            <a:endParaRPr b="0" i="0" sz="2700" u="none" cap="none" strike="noStrike">
              <a:solidFill>
                <a:srgbClr val="000000"/>
              </a:solidFill>
              <a:latin typeface="Arial"/>
              <a:ea typeface="Arial"/>
              <a:cs typeface="Arial"/>
              <a:sym typeface="Arial"/>
            </a:endParaRPr>
          </a:p>
        </p:txBody>
      </p:sp>
      <p:pic>
        <p:nvPicPr>
          <p:cNvPr id="462" name="Google Shape;462;g3bfccae9961_0_496" title="gaussians.png"/>
          <p:cNvPicPr preferRelativeResize="0"/>
          <p:nvPr/>
        </p:nvPicPr>
        <p:blipFill>
          <a:blip r:embed="rId3">
            <a:alphaModFix/>
          </a:blip>
          <a:stretch>
            <a:fillRect/>
          </a:stretch>
        </p:blipFill>
        <p:spPr>
          <a:xfrm>
            <a:off x="2573297" y="1773550"/>
            <a:ext cx="7045398" cy="441042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g3bfccae9961_0_0"/>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1" sz="4400">
              <a:solidFill>
                <a:schemeClr val="accent1"/>
              </a:solidFill>
              <a:latin typeface="Century Gothic"/>
              <a:ea typeface="Century Gothic"/>
              <a:cs typeface="Century Gothic"/>
              <a:sym typeface="Century Gothic"/>
            </a:endParaRPr>
          </a:p>
        </p:txBody>
      </p:sp>
      <p:sp>
        <p:nvSpPr>
          <p:cNvPr id="469" name="Google Shape;469;g3bfccae9961_0_0"/>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Clr>
                <a:srgbClr val="000000"/>
              </a:buClr>
              <a:buSzPts val="2700"/>
              <a:buFont typeface="Arial"/>
              <a:buNone/>
            </a:pPr>
            <a:r>
              <a:rPr b="1" lang="it-IT" sz="2700">
                <a:solidFill>
                  <a:schemeClr val="accent3"/>
                </a:solidFill>
                <a:latin typeface="Century Gothic"/>
                <a:ea typeface="Century Gothic"/>
                <a:cs typeface="Century Gothic"/>
                <a:sym typeface="Century Gothic"/>
              </a:rPr>
              <a:t>Test </a:t>
            </a:r>
            <a:r>
              <a:rPr b="1" i="0" lang="it-IT" sz="2700" u="none" cap="none" strike="noStrike">
                <a:solidFill>
                  <a:schemeClr val="accent3"/>
                </a:solidFill>
                <a:latin typeface="Century Gothic"/>
                <a:ea typeface="Century Gothic"/>
                <a:cs typeface="Century Gothic"/>
                <a:sym typeface="Century Gothic"/>
              </a:rPr>
              <a:t>models results</a:t>
            </a:r>
            <a:endParaRPr b="0" i="0" sz="2700" u="none" cap="none" strike="noStrike">
              <a:solidFill>
                <a:srgbClr val="000000"/>
              </a:solidFill>
              <a:latin typeface="Arial"/>
              <a:ea typeface="Arial"/>
              <a:cs typeface="Arial"/>
              <a:sym typeface="Arial"/>
            </a:endParaRPr>
          </a:p>
        </p:txBody>
      </p:sp>
      <p:sp>
        <p:nvSpPr>
          <p:cNvPr id="470" name="Google Shape;470;g3bfccae9961_0_0"/>
          <p:cNvSpPr txBox="1"/>
          <p:nvPr>
            <p:ph idx="1" type="body"/>
          </p:nvPr>
        </p:nvSpPr>
        <p:spPr>
          <a:xfrm>
            <a:off x="290875" y="1614900"/>
            <a:ext cx="10850700" cy="4182300"/>
          </a:xfrm>
          <a:prstGeom prst="rect">
            <a:avLst/>
          </a:prstGeom>
          <a:noFill/>
          <a:ln>
            <a:noFill/>
          </a:ln>
        </p:spPr>
        <p:txBody>
          <a:bodyPr anchorCtr="0" anchor="t" bIns="46800" lIns="91425" spcFirstLastPara="1" rIns="91425" wrap="square" tIns="45700">
            <a:normAutofit/>
          </a:bodyPr>
          <a:lstStyle/>
          <a:p>
            <a:pPr indent="0" lvl="0" marL="0" marR="0" rtl="0" algn="l">
              <a:lnSpc>
                <a:spcPct val="100000"/>
              </a:lnSpc>
              <a:spcBef>
                <a:spcPts val="0"/>
              </a:spcBef>
              <a:spcAft>
                <a:spcPts val="0"/>
              </a:spcAft>
              <a:buSzPts val="1400"/>
              <a:buNone/>
            </a:pPr>
            <a:r>
              <a:rPr lang="it-IT" sz="2000">
                <a:solidFill>
                  <a:schemeClr val="dk1"/>
                </a:solidFill>
              </a:rPr>
              <a:t>In the following slides we will present the results we got by implementing the anomaly detection by using a threshold on either the energy or the spike depending on the type of model</a:t>
            </a:r>
            <a:endParaRPr sz="2000">
              <a:solidFill>
                <a:schemeClr val="dk1"/>
              </a:solidFill>
            </a:endParaRPr>
          </a:p>
          <a:p>
            <a:pPr indent="0" lvl="0" marL="0" marR="0" rtl="0" algn="l">
              <a:lnSpc>
                <a:spcPct val="100000"/>
              </a:lnSpc>
              <a:spcBef>
                <a:spcPts val="201"/>
              </a:spcBef>
              <a:spcAft>
                <a:spcPts val="0"/>
              </a:spcAft>
              <a:buNone/>
            </a:pPr>
            <a:r>
              <a:t/>
            </a:r>
            <a:endParaRPr b="0" i="0" sz="20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g3bfccae9961_0_99"/>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1" sz="4400">
              <a:solidFill>
                <a:schemeClr val="accent1"/>
              </a:solidFill>
              <a:latin typeface="Century Gothic"/>
              <a:ea typeface="Century Gothic"/>
              <a:cs typeface="Century Gothic"/>
              <a:sym typeface="Century Gothic"/>
            </a:endParaRPr>
          </a:p>
        </p:txBody>
      </p:sp>
      <p:sp>
        <p:nvSpPr>
          <p:cNvPr id="477" name="Google Shape;477;g3bfccae9961_0_99"/>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Clr>
                <a:srgbClr val="000000"/>
              </a:buClr>
              <a:buSzPts val="2700"/>
              <a:buFont typeface="Arial"/>
              <a:buNone/>
            </a:pPr>
            <a:r>
              <a:rPr b="1" i="0" lang="it-IT" sz="2700" u="none" cap="none" strike="noStrike">
                <a:solidFill>
                  <a:schemeClr val="accent3"/>
                </a:solidFill>
                <a:latin typeface="Century Gothic"/>
                <a:ea typeface="Century Gothic"/>
                <a:cs typeface="Century Gothic"/>
                <a:sym typeface="Century Gothic"/>
              </a:rPr>
              <a:t>Linear model results mnist</a:t>
            </a:r>
            <a:endParaRPr b="0" i="0" sz="2700" u="none" cap="none" strike="noStrike">
              <a:solidFill>
                <a:srgbClr val="000000"/>
              </a:solidFill>
              <a:latin typeface="Arial"/>
              <a:ea typeface="Arial"/>
              <a:cs typeface="Arial"/>
              <a:sym typeface="Arial"/>
            </a:endParaRPr>
          </a:p>
        </p:txBody>
      </p:sp>
      <p:graphicFrame>
        <p:nvGraphicFramePr>
          <p:cNvPr id="478" name="Google Shape;478;g3bfccae9961_0_99"/>
          <p:cNvGraphicFramePr/>
          <p:nvPr/>
        </p:nvGraphicFramePr>
        <p:xfrm>
          <a:off x="1526463" y="1832850"/>
          <a:ext cx="3000000" cy="3000000"/>
        </p:xfrm>
        <a:graphic>
          <a:graphicData uri="http://schemas.openxmlformats.org/drawingml/2006/table">
            <a:tbl>
              <a:tblPr>
                <a:noFill/>
                <a:tableStyleId>{F8B367DF-6231-497F-AC9F-6F7DF9882E19}</a:tableStyleId>
              </a:tblPr>
              <a:tblGrid>
                <a:gridCol w="1102825"/>
                <a:gridCol w="1565150"/>
                <a:gridCol w="1479050"/>
                <a:gridCol w="1698550"/>
                <a:gridCol w="1698550"/>
              </a:tblGrid>
              <a:tr h="372200">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N</a:t>
                      </a:r>
                      <a:r>
                        <a:rPr b="1" lang="it-IT" sz="1400" u="none" cap="none" strike="noStrike">
                          <a:solidFill>
                            <a:schemeClr val="dk1"/>
                          </a:solidFill>
                        </a:rPr>
                        <a:t>oise type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N</a:t>
                      </a:r>
                      <a:r>
                        <a:rPr b="1" lang="it-IT" sz="1400" u="none" cap="none" strike="noStrike">
                          <a:solidFill>
                            <a:schemeClr val="dk1"/>
                          </a:solidFill>
                        </a:rPr>
                        <a:t>oise intensity</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A</a:t>
                      </a:r>
                      <a:r>
                        <a:rPr b="1" lang="it-IT" sz="1400" u="none" cap="none" strike="noStrike">
                          <a:solidFill>
                            <a:schemeClr val="dk1"/>
                          </a:solidFill>
                        </a:rPr>
                        <a:t>ccuracy (%)</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R</a:t>
                      </a:r>
                      <a:r>
                        <a:rPr b="1" lang="it-IT" sz="1400" u="none" cap="none" strike="noStrike">
                          <a:solidFill>
                            <a:schemeClr val="dk1"/>
                          </a:solidFill>
                        </a:rPr>
                        <a:t>ecall</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F1 score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r>
              <a:tr h="318675">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None</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0.0</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70.42</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35.21</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0.41</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alpha val="20000"/>
                      </a:schemeClr>
                    </a:solidFill>
                  </a:tcPr>
                </a:tc>
              </a:tr>
              <a:tr h="290475">
                <a:tc rowSpan="5">
                  <a:txBody>
                    <a:bodyPr/>
                    <a:lstStyle/>
                    <a:p>
                      <a:pPr indent="0" lvl="0" marL="0" rtl="0" algn="l">
                        <a:spcBef>
                          <a:spcPts val="0"/>
                        </a:spcBef>
                        <a:spcAft>
                          <a:spcPts val="0"/>
                        </a:spcAft>
                        <a:buNone/>
                      </a:pPr>
                      <a:r>
                        <a:rPr lang="it-IT">
                          <a:solidFill>
                            <a:schemeClr val="dk1"/>
                          </a:solidFill>
                        </a:rPr>
                        <a:t>Gaussian</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37.2</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18.6</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0.27</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chemeClr val="dk2"/>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0.25</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50.03</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25.02</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0.33</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72.91</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36.46</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0.42</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666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0.75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86.91</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43.46</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0.46</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1.0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92.69</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46.35</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0.48</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lt1"/>
                    </a:solidFill>
                  </a:tcPr>
                </a:tc>
              </a:tr>
              <a:tr h="290475">
                <a:tc rowSpan="5">
                  <a:txBody>
                    <a:bodyPr/>
                    <a:lstStyle/>
                    <a:p>
                      <a:pPr indent="0" lvl="0" marL="0" rtl="0" algn="l">
                        <a:spcBef>
                          <a:spcPts val="0"/>
                        </a:spcBef>
                        <a:spcAft>
                          <a:spcPts val="0"/>
                        </a:spcAft>
                        <a:buNone/>
                      </a:pPr>
                      <a:r>
                        <a:rPr lang="it-IT">
                          <a:solidFill>
                            <a:schemeClr val="dk1"/>
                          </a:solidFill>
                        </a:rPr>
                        <a:t>RFI</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chemeClr val="dk2"/>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36.25</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18.</a:t>
                      </a:r>
                      <a:r>
                        <a:rPr lang="it-IT" sz="1400" u="none" cap="none" strike="noStrike">
                          <a:solidFill>
                            <a:schemeClr val="dk1"/>
                          </a:solidFill>
                        </a:rPr>
                        <a:t>13</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0.41</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0.25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45.47</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22.74</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0.31</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60.44</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30.22</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0.37</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0.75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73.06</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36.53</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0.42</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1.0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85.55</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42.78</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0.46</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bl>
          </a:graphicData>
        </a:graphic>
      </p:graphicFrame>
      <p:sp>
        <p:nvSpPr>
          <p:cNvPr id="479" name="Google Shape;479;g3bfccae9961_0_99"/>
          <p:cNvSpPr txBox="1"/>
          <p:nvPr/>
        </p:nvSpPr>
        <p:spPr>
          <a:xfrm>
            <a:off x="10837325" y="5762375"/>
            <a:ext cx="1081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it-IT" sz="1400" u="none" cap="none" strike="noStrike">
                <a:solidFill>
                  <a:srgbClr val="000000"/>
                </a:solidFill>
                <a:latin typeface="Arial"/>
                <a:ea typeface="Arial"/>
                <a:cs typeface="Arial"/>
                <a:sym typeface="Arial"/>
              </a:rPr>
              <a:t>tau -4.5</a:t>
            </a:r>
            <a:endParaRPr b="0" i="0" sz="14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g3bfccae9961_0_107"/>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486" name="Google Shape;486;g3bfccae9961_0_107"/>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Clr>
                <a:srgbClr val="000000"/>
              </a:buClr>
              <a:buSzPts val="2700"/>
              <a:buFont typeface="Arial"/>
              <a:buNone/>
            </a:pPr>
            <a:r>
              <a:rPr b="1" i="0" lang="it-IT" sz="2700" u="none" cap="none" strike="noStrike">
                <a:solidFill>
                  <a:schemeClr val="accent3"/>
                </a:solidFill>
                <a:latin typeface="Century Gothic"/>
                <a:ea typeface="Century Gothic"/>
                <a:cs typeface="Century Gothic"/>
                <a:sym typeface="Century Gothic"/>
              </a:rPr>
              <a:t>Linear models results EuroSAT</a:t>
            </a:r>
            <a:endParaRPr b="0" i="0" sz="2700" u="none" cap="none" strike="noStrike">
              <a:solidFill>
                <a:srgbClr val="000000"/>
              </a:solidFill>
              <a:latin typeface="Arial"/>
              <a:ea typeface="Arial"/>
              <a:cs typeface="Arial"/>
              <a:sym typeface="Arial"/>
            </a:endParaRPr>
          </a:p>
        </p:txBody>
      </p:sp>
      <p:sp>
        <p:nvSpPr>
          <p:cNvPr id="487" name="Google Shape;487;g3bfccae9961_0_107"/>
          <p:cNvSpPr txBox="1"/>
          <p:nvPr/>
        </p:nvSpPr>
        <p:spPr>
          <a:xfrm>
            <a:off x="10837325" y="5762375"/>
            <a:ext cx="1081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it-IT" sz="1400" u="none" cap="none" strike="noStrike">
                <a:solidFill>
                  <a:srgbClr val="000000"/>
                </a:solidFill>
                <a:latin typeface="Arial"/>
                <a:ea typeface="Arial"/>
                <a:cs typeface="Arial"/>
                <a:sym typeface="Arial"/>
              </a:rPr>
              <a:t>tau -5.8</a:t>
            </a:r>
            <a:endParaRPr b="0" i="0" sz="1400" u="none" cap="none" strike="noStrike">
              <a:solidFill>
                <a:srgbClr val="000000"/>
              </a:solidFill>
              <a:latin typeface="Arial"/>
              <a:ea typeface="Arial"/>
              <a:cs typeface="Arial"/>
              <a:sym typeface="Arial"/>
            </a:endParaRPr>
          </a:p>
        </p:txBody>
      </p:sp>
      <p:graphicFrame>
        <p:nvGraphicFramePr>
          <p:cNvPr id="488" name="Google Shape;488;g3bfccae9961_0_107"/>
          <p:cNvGraphicFramePr/>
          <p:nvPr/>
        </p:nvGraphicFramePr>
        <p:xfrm>
          <a:off x="1526463" y="1832850"/>
          <a:ext cx="3000000" cy="3000000"/>
        </p:xfrm>
        <a:graphic>
          <a:graphicData uri="http://schemas.openxmlformats.org/drawingml/2006/table">
            <a:tbl>
              <a:tblPr>
                <a:noFill/>
                <a:tableStyleId>{F8B367DF-6231-497F-AC9F-6F7DF9882E19}</a:tableStyleId>
              </a:tblPr>
              <a:tblGrid>
                <a:gridCol w="1102825"/>
                <a:gridCol w="1565150"/>
                <a:gridCol w="1479050"/>
                <a:gridCol w="1698550"/>
                <a:gridCol w="1698550"/>
              </a:tblGrid>
              <a:tr h="372200">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N</a:t>
                      </a:r>
                      <a:r>
                        <a:rPr b="1" lang="it-IT" sz="1400" u="none" cap="none" strike="noStrike">
                          <a:solidFill>
                            <a:schemeClr val="dk1"/>
                          </a:solidFill>
                        </a:rPr>
                        <a:t>oise type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N</a:t>
                      </a:r>
                      <a:r>
                        <a:rPr b="1" lang="it-IT" sz="1400" u="none" cap="none" strike="noStrike">
                          <a:solidFill>
                            <a:schemeClr val="dk1"/>
                          </a:solidFill>
                        </a:rPr>
                        <a:t>oise intensity</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A</a:t>
                      </a:r>
                      <a:r>
                        <a:rPr b="1" lang="it-IT" sz="1400" u="none" cap="none" strike="noStrike">
                          <a:solidFill>
                            <a:schemeClr val="dk1"/>
                          </a:solidFill>
                        </a:rPr>
                        <a:t>ccuracy (%)</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R</a:t>
                      </a:r>
                      <a:r>
                        <a:rPr b="1" lang="it-IT" sz="1400" u="none" cap="none" strike="noStrike">
                          <a:solidFill>
                            <a:schemeClr val="dk1"/>
                          </a:solidFill>
                        </a:rPr>
                        <a:t>ecall</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F1 score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r>
              <a:tr h="318675">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None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0.0</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74.96</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37.48</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0.43</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r>
              <a:tr h="290475">
                <a:tc rowSpan="5">
                  <a:txBody>
                    <a:bodyPr/>
                    <a:lstStyle/>
                    <a:p>
                      <a:pPr indent="0" lvl="0" marL="0" rtl="0" algn="l">
                        <a:spcBef>
                          <a:spcPts val="0"/>
                        </a:spcBef>
                        <a:spcAft>
                          <a:spcPts val="0"/>
                        </a:spcAft>
                        <a:buNone/>
                      </a:pPr>
                      <a:r>
                        <a:rPr lang="it-IT">
                          <a:solidFill>
                            <a:schemeClr val="dk1"/>
                          </a:solidFill>
                        </a:rPr>
                        <a:t>Gaussian</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27.00</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13.5</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0.21</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rtl="0" algn="l">
                        <a:spcBef>
                          <a:spcPts val="0"/>
                        </a:spcBef>
                        <a:spcAft>
                          <a:spcPts val="0"/>
                        </a:spcAft>
                        <a:buClr>
                          <a:schemeClr val="dk1"/>
                        </a:buClr>
                        <a:buSzPts val="1400"/>
                        <a:buFont typeface="Arial"/>
                        <a:buNone/>
                      </a:pPr>
                      <a:r>
                        <a:rPr lang="it-IT">
                          <a:solidFill>
                            <a:schemeClr val="dk1"/>
                          </a:solidFill>
                        </a:rPr>
                        <a:t>0.25</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400"/>
                        <a:buFont typeface="Arial"/>
                        <a:buNone/>
                      </a:pPr>
                      <a:r>
                        <a:rPr lang="it-IT">
                          <a:solidFill>
                            <a:schemeClr val="dk1"/>
                          </a:solidFill>
                        </a:rPr>
                        <a:t>38.11</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400"/>
                        <a:buFont typeface="Arial"/>
                        <a:buNone/>
                      </a:pPr>
                      <a:r>
                        <a:rPr lang="it-IT">
                          <a:solidFill>
                            <a:schemeClr val="dk1"/>
                          </a:solidFill>
                        </a:rPr>
                        <a:t>19.05</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400"/>
                        <a:buFont typeface="Arial"/>
                        <a:buNone/>
                      </a:pPr>
                      <a:r>
                        <a:rPr lang="it-IT">
                          <a:solidFill>
                            <a:schemeClr val="dk1"/>
                          </a:solidFill>
                        </a:rPr>
                        <a:t>0.28</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65.19</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32.59</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0.39</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66675">
                <a:tc vMerge="1"/>
                <a:tc>
                  <a:txBody>
                    <a:bodyPr/>
                    <a:lstStyle/>
                    <a:p>
                      <a:pPr indent="0" lvl="0" marL="0" rtl="0" algn="l">
                        <a:spcBef>
                          <a:spcPts val="0"/>
                        </a:spcBef>
                        <a:spcAft>
                          <a:spcPts val="0"/>
                        </a:spcAft>
                        <a:buClr>
                          <a:schemeClr val="dk1"/>
                        </a:buClr>
                        <a:buSzPts val="1400"/>
                        <a:buFont typeface="Arial"/>
                        <a:buNone/>
                      </a:pPr>
                      <a:r>
                        <a:rPr lang="it-IT">
                          <a:solidFill>
                            <a:schemeClr val="dk1"/>
                          </a:solidFill>
                        </a:rPr>
                        <a:t>0.75</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400"/>
                        <a:buFont typeface="Arial"/>
                        <a:buNone/>
                      </a:pPr>
                      <a:r>
                        <a:rPr lang="it-IT">
                          <a:solidFill>
                            <a:schemeClr val="dk1"/>
                          </a:solidFill>
                        </a:rPr>
                        <a:t>79.48</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400"/>
                        <a:buFont typeface="Arial"/>
                        <a:buNone/>
                      </a:pPr>
                      <a:r>
                        <a:rPr lang="it-IT">
                          <a:solidFill>
                            <a:schemeClr val="dk1"/>
                          </a:solidFill>
                        </a:rPr>
                        <a:t>39.74</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400"/>
                        <a:buFont typeface="Arial"/>
                        <a:buNone/>
                      </a:pPr>
                      <a:r>
                        <a:rPr lang="it-IT">
                          <a:solidFill>
                            <a:schemeClr val="dk1"/>
                          </a:solidFill>
                        </a:rPr>
                        <a:t>0.44</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1.0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86.74</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43.37</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0.46</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r>
              <a:tr h="290475">
                <a:tc rowSpan="5">
                  <a:txBody>
                    <a:bodyPr/>
                    <a:lstStyle/>
                    <a:p>
                      <a:pPr indent="0" lvl="0" marL="0" rtl="0" algn="l">
                        <a:spcBef>
                          <a:spcPts val="0"/>
                        </a:spcBef>
                        <a:spcAft>
                          <a:spcPts val="0"/>
                        </a:spcAft>
                        <a:buNone/>
                      </a:pPr>
                      <a:r>
                        <a:rPr lang="it-IT">
                          <a:solidFill>
                            <a:schemeClr val="dk1"/>
                          </a:solidFill>
                        </a:rPr>
                        <a:t>RFI</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0.1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25.22</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12.61</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0.20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0.25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28.11</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14.06</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0.22</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31.48</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15.74</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0.24</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0.75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35.33</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17.67</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0.26</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1.0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39.07</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19.53</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0.28</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r>
            </a:tbl>
          </a:graphicData>
        </a:graphic>
      </p:graphicFrame>
    </p:spTree>
  </p:cSld>
  <p:clrMapOvr>
    <a:masterClrMapping/>
  </p:clrMapOvr>
  <p:transition>
    <p:fade/>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g3bfccae9961_0_115"/>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1" sz="4400">
              <a:solidFill>
                <a:schemeClr val="accent1"/>
              </a:solidFill>
              <a:latin typeface="Century Gothic"/>
              <a:ea typeface="Century Gothic"/>
              <a:cs typeface="Century Gothic"/>
              <a:sym typeface="Century Gothic"/>
            </a:endParaRPr>
          </a:p>
        </p:txBody>
      </p:sp>
      <p:sp>
        <p:nvSpPr>
          <p:cNvPr id="495" name="Google Shape;495;g3bfccae9961_0_115"/>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Clr>
                <a:srgbClr val="000000"/>
              </a:buClr>
              <a:buSzPts val="2700"/>
              <a:buFont typeface="Arial"/>
              <a:buNone/>
            </a:pPr>
            <a:r>
              <a:rPr b="1" i="0" lang="it-IT" sz="2700" u="none" cap="none" strike="noStrike">
                <a:solidFill>
                  <a:schemeClr val="accent3"/>
                </a:solidFill>
                <a:latin typeface="Century Gothic"/>
                <a:ea typeface="Century Gothic"/>
                <a:cs typeface="Century Gothic"/>
                <a:sym typeface="Century Gothic"/>
              </a:rPr>
              <a:t>Convolutional models results mnist</a:t>
            </a:r>
            <a:endParaRPr b="0" i="0" sz="2700" u="none" cap="none" strike="noStrike">
              <a:solidFill>
                <a:srgbClr val="000000"/>
              </a:solidFill>
              <a:latin typeface="Arial"/>
              <a:ea typeface="Arial"/>
              <a:cs typeface="Arial"/>
              <a:sym typeface="Arial"/>
            </a:endParaRPr>
          </a:p>
        </p:txBody>
      </p:sp>
      <p:sp>
        <p:nvSpPr>
          <p:cNvPr id="496" name="Google Shape;496;g3bfccae9961_0_115"/>
          <p:cNvSpPr txBox="1"/>
          <p:nvPr/>
        </p:nvSpPr>
        <p:spPr>
          <a:xfrm>
            <a:off x="10837325" y="5762375"/>
            <a:ext cx="1081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it-IT" sz="1400" u="none" cap="none" strike="noStrike">
                <a:solidFill>
                  <a:srgbClr val="000000"/>
                </a:solidFill>
                <a:latin typeface="Arial"/>
                <a:ea typeface="Arial"/>
                <a:cs typeface="Arial"/>
                <a:sym typeface="Arial"/>
              </a:rPr>
              <a:t>tau 1.5</a:t>
            </a:r>
            <a:endParaRPr b="0" i="0" sz="1400" u="none" cap="none" strike="noStrike">
              <a:solidFill>
                <a:srgbClr val="000000"/>
              </a:solidFill>
              <a:latin typeface="Arial"/>
              <a:ea typeface="Arial"/>
              <a:cs typeface="Arial"/>
              <a:sym typeface="Arial"/>
            </a:endParaRPr>
          </a:p>
        </p:txBody>
      </p:sp>
      <p:graphicFrame>
        <p:nvGraphicFramePr>
          <p:cNvPr id="497" name="Google Shape;497;g3bfccae9961_0_115"/>
          <p:cNvGraphicFramePr/>
          <p:nvPr/>
        </p:nvGraphicFramePr>
        <p:xfrm>
          <a:off x="1526463" y="1832850"/>
          <a:ext cx="3000000" cy="3000000"/>
        </p:xfrm>
        <a:graphic>
          <a:graphicData uri="http://schemas.openxmlformats.org/drawingml/2006/table">
            <a:tbl>
              <a:tblPr>
                <a:noFill/>
                <a:tableStyleId>{F8B367DF-6231-497F-AC9F-6F7DF9882E19}</a:tableStyleId>
              </a:tblPr>
              <a:tblGrid>
                <a:gridCol w="1102825"/>
                <a:gridCol w="1565150"/>
                <a:gridCol w="1479050"/>
                <a:gridCol w="1698550"/>
                <a:gridCol w="1698550"/>
              </a:tblGrid>
              <a:tr h="372200">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N</a:t>
                      </a:r>
                      <a:r>
                        <a:rPr b="1" lang="it-IT" sz="1400" u="none" cap="none" strike="noStrike">
                          <a:solidFill>
                            <a:schemeClr val="dk1"/>
                          </a:solidFill>
                        </a:rPr>
                        <a:t>oise type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N</a:t>
                      </a:r>
                      <a:r>
                        <a:rPr b="1" lang="it-IT" sz="1400" u="none" cap="none" strike="noStrike">
                          <a:solidFill>
                            <a:schemeClr val="dk1"/>
                          </a:solidFill>
                        </a:rPr>
                        <a:t>oise intensity</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A</a:t>
                      </a:r>
                      <a:r>
                        <a:rPr b="1" lang="it-IT" sz="1400" u="none" cap="none" strike="noStrike">
                          <a:solidFill>
                            <a:schemeClr val="dk1"/>
                          </a:solidFill>
                        </a:rPr>
                        <a:t>ccuracy (%)</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R</a:t>
                      </a:r>
                      <a:r>
                        <a:rPr b="1" lang="it-IT" sz="1400" u="none" cap="none" strike="noStrike">
                          <a:solidFill>
                            <a:schemeClr val="dk1"/>
                          </a:solidFill>
                        </a:rPr>
                        <a:t>ecall</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F1 score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r>
              <a:tr h="318675">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None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0.0</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78.81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39.41</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0.44</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r>
              <a:tr h="290475">
                <a:tc rowSpan="5">
                  <a:txBody>
                    <a:bodyPr/>
                    <a:lstStyle/>
                    <a:p>
                      <a:pPr indent="0" lvl="0" marL="0" rtl="0" algn="l">
                        <a:spcBef>
                          <a:spcPts val="0"/>
                        </a:spcBef>
                        <a:spcAft>
                          <a:spcPts val="0"/>
                        </a:spcAft>
                        <a:buNone/>
                      </a:pPr>
                      <a:r>
                        <a:rPr lang="it-IT">
                          <a:solidFill>
                            <a:schemeClr val="dk1"/>
                          </a:solidFill>
                        </a:rPr>
                        <a:t>Gaussian</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44.66</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22.33</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0.31</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rtl="0" algn="l">
                        <a:spcBef>
                          <a:spcPts val="0"/>
                        </a:spcBef>
                        <a:spcAft>
                          <a:spcPts val="0"/>
                        </a:spcAft>
                        <a:buClr>
                          <a:schemeClr val="dk1"/>
                        </a:buClr>
                        <a:buSzPts val="1400"/>
                        <a:buFont typeface="Arial"/>
                        <a:buNone/>
                      </a:pPr>
                      <a:r>
                        <a:rPr lang="it-IT">
                          <a:solidFill>
                            <a:schemeClr val="dk1"/>
                          </a:solidFill>
                        </a:rPr>
                        <a:t>0.25</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400"/>
                        <a:buFont typeface="Arial"/>
                        <a:buNone/>
                      </a:pPr>
                      <a:r>
                        <a:rPr lang="it-IT">
                          <a:solidFill>
                            <a:schemeClr val="dk1"/>
                          </a:solidFill>
                        </a:rPr>
                        <a:t>54.51</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400"/>
                        <a:buFont typeface="Arial"/>
                        <a:buNone/>
                      </a:pPr>
                      <a:r>
                        <a:rPr lang="it-IT">
                          <a:solidFill>
                            <a:schemeClr val="dk1"/>
                          </a:solidFill>
                        </a:rPr>
                        <a:t>27.26</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400"/>
                        <a:buFont typeface="Arial"/>
                        <a:buNone/>
                      </a:pPr>
                      <a:r>
                        <a:rPr lang="it-IT">
                          <a:solidFill>
                            <a:schemeClr val="dk1"/>
                          </a:solidFill>
                        </a:rPr>
                        <a:t>0.35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62.00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31.00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0.38</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666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0.75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59.57</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b="1" lang="it-IT">
                          <a:solidFill>
                            <a:schemeClr val="dk1"/>
                          </a:solidFill>
                        </a:rPr>
                        <a:t>39.41</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b="1" lang="it-IT">
                          <a:solidFill>
                            <a:schemeClr val="dk1"/>
                          </a:solidFill>
                        </a:rPr>
                        <a:t>0.44</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1.0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57.35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28.68</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0.36</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r>
              <a:tr h="290475">
                <a:tc rowSpan="5">
                  <a:txBody>
                    <a:bodyPr/>
                    <a:lstStyle/>
                    <a:p>
                      <a:pPr indent="0" lvl="0" marL="0" rtl="0" algn="l">
                        <a:spcBef>
                          <a:spcPts val="0"/>
                        </a:spcBef>
                        <a:spcAft>
                          <a:spcPts val="0"/>
                        </a:spcAft>
                        <a:buNone/>
                      </a:pPr>
                      <a:r>
                        <a:rPr lang="it-IT">
                          <a:solidFill>
                            <a:schemeClr val="dk1"/>
                          </a:solidFill>
                        </a:rPr>
                        <a:t>RFI</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0.1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24.61</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12.31</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0.20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rtl="0" algn="l">
                        <a:spcBef>
                          <a:spcPts val="0"/>
                        </a:spcBef>
                        <a:spcAft>
                          <a:spcPts val="0"/>
                        </a:spcAft>
                        <a:buClr>
                          <a:schemeClr val="dk1"/>
                        </a:buClr>
                        <a:buSzPts val="1400"/>
                        <a:buFont typeface="Arial"/>
                        <a:buNone/>
                      </a:pPr>
                      <a:r>
                        <a:rPr lang="it-IT">
                          <a:solidFill>
                            <a:schemeClr val="dk1"/>
                          </a:solidFill>
                        </a:rPr>
                        <a:t>0.25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400"/>
                        <a:buFont typeface="Arial"/>
                        <a:buNone/>
                      </a:pPr>
                      <a:r>
                        <a:rPr lang="it-IT">
                          <a:solidFill>
                            <a:schemeClr val="dk1"/>
                          </a:solidFill>
                        </a:rPr>
                        <a:t>28.75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400"/>
                        <a:buFont typeface="Arial"/>
                        <a:buNone/>
                      </a:pPr>
                      <a:r>
                        <a:rPr lang="it-IT">
                          <a:solidFill>
                            <a:schemeClr val="dk1"/>
                          </a:solidFill>
                        </a:rPr>
                        <a:t>14.38</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400"/>
                        <a:buFont typeface="Arial"/>
                        <a:buNone/>
                      </a:pPr>
                      <a:r>
                        <a:rPr lang="it-IT">
                          <a:solidFill>
                            <a:schemeClr val="dk1"/>
                          </a:solidFill>
                        </a:rPr>
                        <a:t>0.22</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32.60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16.30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0.25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0.75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b="1" lang="it-IT">
                          <a:solidFill>
                            <a:schemeClr val="dk1"/>
                          </a:solidFill>
                        </a:rPr>
                        <a:t>34.42</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b="1" lang="it-IT">
                          <a:solidFill>
                            <a:schemeClr val="dk1"/>
                          </a:solidFill>
                        </a:rPr>
                        <a:t>17.21</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0.</a:t>
                      </a:r>
                      <a:r>
                        <a:rPr b="1" lang="it-IT">
                          <a:solidFill>
                            <a:schemeClr val="dk1"/>
                          </a:solidFill>
                        </a:rPr>
                        <a:t>26</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1.0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33.39</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16.72</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0.25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r>
            </a:tbl>
          </a:graphicData>
        </a:graphic>
      </p:graphicFrame>
    </p:spTree>
  </p:cSld>
  <p:clrMapOvr>
    <a:masterClrMapping/>
  </p:clrMapOvr>
  <p:transition>
    <p:fade/>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g3bfccae9961_0_123"/>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504" name="Google Shape;504;g3bfccae9961_0_123"/>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Clr>
                <a:schemeClr val="dk1"/>
              </a:buClr>
              <a:buSzPts val="2700"/>
              <a:buFont typeface="Arial"/>
              <a:buNone/>
            </a:pPr>
            <a:r>
              <a:rPr b="1" i="0" lang="it-IT" sz="2700" u="none" cap="none" strike="noStrike">
                <a:solidFill>
                  <a:schemeClr val="accent3"/>
                </a:solidFill>
                <a:latin typeface="Century Gothic"/>
                <a:ea typeface="Century Gothic"/>
                <a:cs typeface="Century Gothic"/>
                <a:sym typeface="Century Gothic"/>
              </a:rPr>
              <a:t>Convolutional models results EuroSAT</a:t>
            </a:r>
            <a:endParaRPr b="0" i="0" sz="2700" u="none" cap="none" strike="noStrike">
              <a:solidFill>
                <a:srgbClr val="000000"/>
              </a:solidFill>
              <a:latin typeface="Arial"/>
              <a:ea typeface="Arial"/>
              <a:cs typeface="Arial"/>
              <a:sym typeface="Arial"/>
            </a:endParaRPr>
          </a:p>
        </p:txBody>
      </p:sp>
      <p:sp>
        <p:nvSpPr>
          <p:cNvPr id="505" name="Google Shape;505;g3bfccae9961_0_123"/>
          <p:cNvSpPr txBox="1"/>
          <p:nvPr/>
        </p:nvSpPr>
        <p:spPr>
          <a:xfrm>
            <a:off x="10837325" y="5762375"/>
            <a:ext cx="1081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it-IT" sz="1400" u="none" cap="none" strike="noStrike">
                <a:solidFill>
                  <a:srgbClr val="000000"/>
                </a:solidFill>
                <a:latin typeface="Arial"/>
                <a:ea typeface="Arial"/>
                <a:cs typeface="Arial"/>
                <a:sym typeface="Arial"/>
              </a:rPr>
              <a:t>tau -17.0</a:t>
            </a:r>
            <a:endParaRPr b="0" i="0" sz="1400" u="none" cap="none" strike="noStrike">
              <a:solidFill>
                <a:srgbClr val="000000"/>
              </a:solidFill>
              <a:latin typeface="Arial"/>
              <a:ea typeface="Arial"/>
              <a:cs typeface="Arial"/>
              <a:sym typeface="Arial"/>
            </a:endParaRPr>
          </a:p>
        </p:txBody>
      </p:sp>
      <p:graphicFrame>
        <p:nvGraphicFramePr>
          <p:cNvPr id="506" name="Google Shape;506;g3bfccae9961_0_123"/>
          <p:cNvGraphicFramePr/>
          <p:nvPr/>
        </p:nvGraphicFramePr>
        <p:xfrm>
          <a:off x="1526463" y="1832850"/>
          <a:ext cx="3000000" cy="3000000"/>
        </p:xfrm>
        <a:graphic>
          <a:graphicData uri="http://schemas.openxmlformats.org/drawingml/2006/table">
            <a:tbl>
              <a:tblPr>
                <a:noFill/>
                <a:tableStyleId>{F8B367DF-6231-497F-AC9F-6F7DF9882E19}</a:tableStyleId>
              </a:tblPr>
              <a:tblGrid>
                <a:gridCol w="1102825"/>
                <a:gridCol w="1565150"/>
                <a:gridCol w="1479050"/>
                <a:gridCol w="1698550"/>
                <a:gridCol w="1698550"/>
              </a:tblGrid>
              <a:tr h="372200">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N</a:t>
                      </a:r>
                      <a:r>
                        <a:rPr b="1" lang="it-IT" sz="1400" u="none" cap="none" strike="noStrike">
                          <a:solidFill>
                            <a:schemeClr val="dk1"/>
                          </a:solidFill>
                        </a:rPr>
                        <a:t>oise type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N</a:t>
                      </a:r>
                      <a:r>
                        <a:rPr b="1" lang="it-IT" sz="1400" u="none" cap="none" strike="noStrike">
                          <a:solidFill>
                            <a:schemeClr val="dk1"/>
                          </a:solidFill>
                        </a:rPr>
                        <a:t>oise intensity</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A</a:t>
                      </a:r>
                      <a:r>
                        <a:rPr b="1" lang="it-IT" sz="1400" u="none" cap="none" strike="noStrike">
                          <a:solidFill>
                            <a:schemeClr val="dk1"/>
                          </a:solidFill>
                        </a:rPr>
                        <a:t>ccuracy (%)</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R</a:t>
                      </a:r>
                      <a:r>
                        <a:rPr b="1" lang="it-IT" sz="1400" u="none" cap="none" strike="noStrike">
                          <a:solidFill>
                            <a:schemeClr val="dk1"/>
                          </a:solidFill>
                        </a:rPr>
                        <a:t>ecall</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F1 score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r>
              <a:tr h="318675">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None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0.0</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92.15</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46.07</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0.47</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r>
              <a:tr h="290475">
                <a:tc rowSpan="5">
                  <a:txBody>
                    <a:bodyPr/>
                    <a:lstStyle/>
                    <a:p>
                      <a:pPr indent="0" lvl="0" marL="0" rtl="0" algn="l">
                        <a:spcBef>
                          <a:spcPts val="0"/>
                        </a:spcBef>
                        <a:spcAft>
                          <a:spcPts val="0"/>
                        </a:spcAft>
                        <a:buNone/>
                      </a:pPr>
                      <a:r>
                        <a:rPr lang="it-IT">
                          <a:solidFill>
                            <a:schemeClr val="dk1"/>
                          </a:solidFill>
                        </a:rPr>
                        <a:t>Gaussian</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61.78</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30.89</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0.38</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rtl="0" algn="l">
                        <a:spcBef>
                          <a:spcPts val="0"/>
                        </a:spcBef>
                        <a:spcAft>
                          <a:spcPts val="0"/>
                        </a:spcAft>
                        <a:buClr>
                          <a:schemeClr val="dk1"/>
                        </a:buClr>
                        <a:buSzPts val="1100"/>
                        <a:buFont typeface="Arial"/>
                        <a:buNone/>
                      </a:pPr>
                      <a:r>
                        <a:rPr lang="it-IT">
                          <a:solidFill>
                            <a:schemeClr val="dk1"/>
                          </a:solidFill>
                        </a:rPr>
                        <a:t>0.25</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99.93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49.96</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0.50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None/>
                      </a:pPr>
                      <a:r>
                        <a:rPr lang="it-IT">
                          <a:solidFill>
                            <a:srgbClr val="000000"/>
                          </a:solidFill>
                        </a:rPr>
                        <a:t>0.5</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b="1" lang="it-IT">
                          <a:solidFill>
                            <a:schemeClr val="dk1"/>
                          </a:solidFill>
                        </a:rPr>
                        <a:t>100.00</a:t>
                      </a:r>
                      <a:endParaRPr b="1">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b="1" lang="it-IT">
                          <a:solidFill>
                            <a:schemeClr val="dk1"/>
                          </a:solidFill>
                        </a:rPr>
                        <a:t>100.00</a:t>
                      </a:r>
                      <a:endParaRPr b="1">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it-IT">
                          <a:solidFill>
                            <a:srgbClr val="000000"/>
                          </a:solidFill>
                        </a:rPr>
                        <a:t>1.00</a:t>
                      </a:r>
                      <a:endParaRPr b="1">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r>
              <a:tr h="266675">
                <a:tc vMerge="1"/>
                <a:tc>
                  <a:txBody>
                    <a:bodyPr/>
                    <a:lstStyle/>
                    <a:p>
                      <a:pPr indent="0" lvl="0" marL="0" rtl="0" algn="l">
                        <a:spcBef>
                          <a:spcPts val="0"/>
                        </a:spcBef>
                        <a:spcAft>
                          <a:spcPts val="0"/>
                        </a:spcAft>
                        <a:buClr>
                          <a:schemeClr val="dk1"/>
                        </a:buClr>
                        <a:buSzPts val="1100"/>
                        <a:buFont typeface="Arial"/>
                        <a:buNone/>
                      </a:pPr>
                      <a:r>
                        <a:rPr lang="it-IT">
                          <a:solidFill>
                            <a:schemeClr val="dk1"/>
                          </a:solidFill>
                        </a:rPr>
                        <a:t>0.75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b="1" lang="it-IT">
                          <a:solidFill>
                            <a:schemeClr val="dk1"/>
                          </a:solidFill>
                        </a:rPr>
                        <a:t>100.00</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b="1" lang="it-IT">
                          <a:solidFill>
                            <a:schemeClr val="dk1"/>
                          </a:solidFill>
                        </a:rPr>
                        <a:t>100.00</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1.00</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None/>
                      </a:pPr>
                      <a:r>
                        <a:rPr lang="it-IT">
                          <a:solidFill>
                            <a:srgbClr val="000000"/>
                          </a:solidFill>
                        </a:rPr>
                        <a:t>1.0</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lang="it-IT">
                          <a:solidFill>
                            <a:srgbClr val="000000"/>
                          </a:solidFill>
                        </a:rPr>
                        <a:t>100.00</a:t>
                      </a:r>
                      <a:endParaRPr b="1">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1100"/>
                        <a:buFont typeface="Arial"/>
                        <a:buNone/>
                      </a:pPr>
                      <a:r>
                        <a:rPr b="1" lang="it-IT">
                          <a:solidFill>
                            <a:schemeClr val="dk1"/>
                          </a:solidFill>
                        </a:rPr>
                        <a:t>100.00</a:t>
                      </a:r>
                      <a:endParaRPr b="1">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it-IT">
                          <a:solidFill>
                            <a:srgbClr val="000000"/>
                          </a:solidFill>
                        </a:rPr>
                        <a:t>1.00</a:t>
                      </a:r>
                      <a:endParaRPr b="1">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rgbClr val="FFFFFF"/>
                    </a:solidFill>
                  </a:tcPr>
                </a:tc>
              </a:tr>
              <a:tr h="290475">
                <a:tc rowSpan="5">
                  <a:txBody>
                    <a:bodyPr/>
                    <a:lstStyle/>
                    <a:p>
                      <a:pPr indent="0" lvl="0" marL="0" rtl="0" algn="l">
                        <a:spcBef>
                          <a:spcPts val="0"/>
                        </a:spcBef>
                        <a:spcAft>
                          <a:spcPts val="0"/>
                        </a:spcAft>
                        <a:buNone/>
                      </a:pPr>
                      <a:r>
                        <a:rPr lang="it-IT">
                          <a:solidFill>
                            <a:schemeClr val="dk1"/>
                          </a:solidFill>
                        </a:rPr>
                        <a:t>RFI</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Font typeface="Arial"/>
                        <a:buNone/>
                      </a:pPr>
                      <a:r>
                        <a:rPr lang="it-IT">
                          <a:solidFill>
                            <a:srgbClr val="000000"/>
                          </a:solidFill>
                        </a:rPr>
                        <a:t>0.1</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rtl="0" algn="l">
                        <a:spcBef>
                          <a:spcPts val="0"/>
                        </a:spcBef>
                        <a:spcAft>
                          <a:spcPts val="0"/>
                        </a:spcAft>
                        <a:buNone/>
                      </a:pPr>
                      <a:r>
                        <a:rPr lang="it-IT"/>
                        <a:t>17.00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rtl="0" algn="l">
                        <a:spcBef>
                          <a:spcPts val="0"/>
                        </a:spcBef>
                        <a:spcAft>
                          <a:spcPts val="0"/>
                        </a:spcAft>
                        <a:buNone/>
                      </a:pPr>
                      <a:r>
                        <a:rPr lang="it-IT"/>
                        <a:t>8.50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marR="0" rtl="0" algn="l">
                        <a:spcBef>
                          <a:spcPts val="0"/>
                        </a:spcBef>
                        <a:spcAft>
                          <a:spcPts val="0"/>
                        </a:spcAft>
                        <a:buNone/>
                      </a:pPr>
                      <a:r>
                        <a:rPr lang="it-IT">
                          <a:solidFill>
                            <a:srgbClr val="000000"/>
                          </a:solidFill>
                        </a:rPr>
                        <a:t>0.14</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a:t>
                      </a:r>
                      <a:r>
                        <a:rPr lang="it-IT">
                          <a:solidFill>
                            <a:schemeClr val="dk1"/>
                          </a:solidFill>
                        </a:rPr>
                        <a:t>2</a:t>
                      </a:r>
                      <a:r>
                        <a:rPr lang="it-IT" sz="1400" u="none" cap="none" strike="noStrike">
                          <a:solidFill>
                            <a:schemeClr val="dk1"/>
                          </a:solidFill>
                        </a:rPr>
                        <a:t>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30.11</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15.06</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0.23</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marR="0" rtl="0" algn="l">
                        <a:lnSpc>
                          <a:spcPct val="100000"/>
                        </a:lnSpc>
                        <a:spcBef>
                          <a:spcPts val="0"/>
                        </a:spcBef>
                        <a:spcAft>
                          <a:spcPts val="0"/>
                        </a:spcAft>
                        <a:buNone/>
                      </a:pPr>
                      <a:r>
                        <a:rPr lang="it-IT">
                          <a:solidFill>
                            <a:srgbClr val="000000"/>
                          </a:solidFill>
                        </a:rPr>
                        <a:t>0.5</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marR="0" rtl="0" algn="l">
                        <a:lnSpc>
                          <a:spcPct val="100000"/>
                        </a:lnSpc>
                        <a:spcBef>
                          <a:spcPts val="0"/>
                        </a:spcBef>
                        <a:spcAft>
                          <a:spcPts val="0"/>
                        </a:spcAft>
                        <a:buNone/>
                      </a:pPr>
                      <a:r>
                        <a:rPr lang="it-IT">
                          <a:solidFill>
                            <a:srgbClr val="000000"/>
                          </a:solidFill>
                        </a:rPr>
                        <a:t>51.11</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marR="0" rtl="0" algn="l">
                        <a:spcBef>
                          <a:spcPts val="0"/>
                        </a:spcBef>
                        <a:spcAft>
                          <a:spcPts val="0"/>
                        </a:spcAft>
                        <a:buNone/>
                      </a:pPr>
                      <a:r>
                        <a:rPr lang="it-IT">
                          <a:solidFill>
                            <a:srgbClr val="000000"/>
                          </a:solidFill>
                        </a:rPr>
                        <a:t>25.56</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marR="0" rtl="0" algn="l">
                        <a:spcBef>
                          <a:spcPts val="0"/>
                        </a:spcBef>
                        <a:spcAft>
                          <a:spcPts val="0"/>
                        </a:spcAft>
                        <a:buNone/>
                      </a:pPr>
                      <a:r>
                        <a:rPr lang="it-IT">
                          <a:solidFill>
                            <a:srgbClr val="000000"/>
                          </a:solidFill>
                        </a:rPr>
                        <a:t>0.39</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r>
              <a:tr h="290475">
                <a:tc vMerge="1"/>
                <a:tc>
                  <a:txBody>
                    <a:bodyPr/>
                    <a:lstStyle/>
                    <a:p>
                      <a:pPr indent="0" lvl="0" marL="0" rtl="0" algn="l">
                        <a:spcBef>
                          <a:spcPts val="0"/>
                        </a:spcBef>
                        <a:spcAft>
                          <a:spcPts val="0"/>
                        </a:spcAft>
                        <a:buClr>
                          <a:schemeClr val="dk1"/>
                        </a:buClr>
                        <a:buSzPts val="1100"/>
                        <a:buFont typeface="Arial"/>
                        <a:buNone/>
                      </a:pPr>
                      <a:r>
                        <a:rPr lang="it-IT">
                          <a:solidFill>
                            <a:schemeClr val="dk1"/>
                          </a:solidFill>
                        </a:rPr>
                        <a:t>0.75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68.19</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34.10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0.41</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1.0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86.37</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43.19</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0.46</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r>
            </a:tbl>
          </a:graphicData>
        </a:graphic>
      </p:graphicFrame>
    </p:spTree>
  </p:cSld>
  <p:clrMapOvr>
    <a:masterClrMapping/>
  </p:clrMapOvr>
  <p:transition>
    <p:fade/>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g3bfccae9961_0_131"/>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1" sz="4400">
              <a:solidFill>
                <a:schemeClr val="accent1"/>
              </a:solidFill>
              <a:latin typeface="Century Gothic"/>
              <a:ea typeface="Century Gothic"/>
              <a:cs typeface="Century Gothic"/>
              <a:sym typeface="Century Gothic"/>
            </a:endParaRPr>
          </a:p>
        </p:txBody>
      </p:sp>
      <p:sp>
        <p:nvSpPr>
          <p:cNvPr id="513" name="Google Shape;513;g3bfccae9961_0_131"/>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Clr>
                <a:srgbClr val="000000"/>
              </a:buClr>
              <a:buSzPts val="2700"/>
              <a:buFont typeface="Arial"/>
              <a:buNone/>
            </a:pPr>
            <a:r>
              <a:rPr b="1" i="0" lang="it-IT" sz="2700" u="none" cap="none" strike="noStrike">
                <a:solidFill>
                  <a:schemeClr val="accent3"/>
                </a:solidFill>
                <a:latin typeface="Century Gothic"/>
                <a:ea typeface="Century Gothic"/>
                <a:cs typeface="Century Gothic"/>
                <a:sym typeface="Century Gothic"/>
              </a:rPr>
              <a:t>Linear</a:t>
            </a:r>
            <a:r>
              <a:rPr b="1" i="0" lang="it-IT" sz="2700" u="none" cap="none" strike="noStrike">
                <a:solidFill>
                  <a:srgbClr val="00ACA7"/>
                </a:solidFill>
                <a:latin typeface="Century Gothic"/>
                <a:ea typeface="Century Gothic"/>
                <a:cs typeface="Century Gothic"/>
                <a:sym typeface="Century Gothic"/>
              </a:rPr>
              <a:t> spike</a:t>
            </a:r>
            <a:r>
              <a:rPr b="1" i="0" lang="it-IT" sz="2700" u="none" cap="none" strike="noStrike">
                <a:solidFill>
                  <a:schemeClr val="accent3"/>
                </a:solidFill>
                <a:latin typeface="Century Gothic"/>
                <a:ea typeface="Century Gothic"/>
                <a:cs typeface="Century Gothic"/>
                <a:sym typeface="Century Gothic"/>
              </a:rPr>
              <a:t> model results mnist</a:t>
            </a:r>
            <a:endParaRPr b="0" i="0" sz="2700" u="none" cap="none" strike="noStrike">
              <a:solidFill>
                <a:srgbClr val="000000"/>
              </a:solidFill>
              <a:latin typeface="Arial"/>
              <a:ea typeface="Arial"/>
              <a:cs typeface="Arial"/>
              <a:sym typeface="Arial"/>
            </a:endParaRPr>
          </a:p>
        </p:txBody>
      </p:sp>
      <p:sp>
        <p:nvSpPr>
          <p:cNvPr id="514" name="Google Shape;514;g3bfccae9961_0_131"/>
          <p:cNvSpPr txBox="1"/>
          <p:nvPr/>
        </p:nvSpPr>
        <p:spPr>
          <a:xfrm>
            <a:off x="10837325" y="5762375"/>
            <a:ext cx="1081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it-IT" sz="1400" u="none" cap="none" strike="noStrike">
                <a:solidFill>
                  <a:srgbClr val="000000"/>
                </a:solidFill>
                <a:latin typeface="Arial"/>
                <a:ea typeface="Arial"/>
                <a:cs typeface="Arial"/>
                <a:sym typeface="Arial"/>
              </a:rPr>
              <a:t>tau 4.3</a:t>
            </a:r>
            <a:endParaRPr b="0" i="0" sz="1400" u="none" cap="none" strike="noStrike">
              <a:solidFill>
                <a:srgbClr val="000000"/>
              </a:solidFill>
              <a:latin typeface="Arial"/>
              <a:ea typeface="Arial"/>
              <a:cs typeface="Arial"/>
              <a:sym typeface="Arial"/>
            </a:endParaRPr>
          </a:p>
        </p:txBody>
      </p:sp>
      <p:graphicFrame>
        <p:nvGraphicFramePr>
          <p:cNvPr id="515" name="Google Shape;515;g3bfccae9961_0_131"/>
          <p:cNvGraphicFramePr/>
          <p:nvPr/>
        </p:nvGraphicFramePr>
        <p:xfrm>
          <a:off x="1526463" y="1832850"/>
          <a:ext cx="3000000" cy="3000000"/>
        </p:xfrm>
        <a:graphic>
          <a:graphicData uri="http://schemas.openxmlformats.org/drawingml/2006/table">
            <a:tbl>
              <a:tblPr>
                <a:noFill/>
                <a:tableStyleId>{F8B367DF-6231-497F-AC9F-6F7DF9882E19}</a:tableStyleId>
              </a:tblPr>
              <a:tblGrid>
                <a:gridCol w="1102825"/>
                <a:gridCol w="1565150"/>
                <a:gridCol w="1479050"/>
                <a:gridCol w="1698550"/>
                <a:gridCol w="1698550"/>
              </a:tblGrid>
              <a:tr h="372200">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N</a:t>
                      </a:r>
                      <a:r>
                        <a:rPr b="1" lang="it-IT" sz="1400" u="none" cap="none" strike="noStrike">
                          <a:solidFill>
                            <a:schemeClr val="dk1"/>
                          </a:solidFill>
                        </a:rPr>
                        <a:t>oise type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N</a:t>
                      </a:r>
                      <a:r>
                        <a:rPr b="1" lang="it-IT" sz="1400" u="none" cap="none" strike="noStrike">
                          <a:solidFill>
                            <a:schemeClr val="dk1"/>
                          </a:solidFill>
                        </a:rPr>
                        <a:t>oise intensity</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A</a:t>
                      </a:r>
                      <a:r>
                        <a:rPr b="1" lang="it-IT" sz="1400" u="none" cap="none" strike="noStrike">
                          <a:solidFill>
                            <a:schemeClr val="dk1"/>
                          </a:solidFill>
                        </a:rPr>
                        <a:t>ccuracy (%)</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R</a:t>
                      </a:r>
                      <a:r>
                        <a:rPr b="1" lang="it-IT" sz="1400" u="none" cap="none" strike="noStrike">
                          <a:solidFill>
                            <a:schemeClr val="dk1"/>
                          </a:solidFill>
                        </a:rPr>
                        <a:t>ecall</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F1 score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r>
              <a:tr h="318675">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None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0.0</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96.98</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48.49</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0.49</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r>
              <a:tr h="290475">
                <a:tc rowSpan="5">
                  <a:txBody>
                    <a:bodyPr/>
                    <a:lstStyle/>
                    <a:p>
                      <a:pPr indent="0" lvl="0" marL="0" rtl="0" algn="l">
                        <a:spcBef>
                          <a:spcPts val="0"/>
                        </a:spcBef>
                        <a:spcAft>
                          <a:spcPts val="0"/>
                        </a:spcAft>
                        <a:buNone/>
                      </a:pPr>
                      <a:r>
                        <a:rPr lang="it-IT">
                          <a:solidFill>
                            <a:schemeClr val="dk1"/>
                          </a:solidFill>
                        </a:rPr>
                        <a:t>Gaussian</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7.14</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3.57</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0.06</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rtl="0" algn="l">
                        <a:spcBef>
                          <a:spcPts val="0"/>
                        </a:spcBef>
                        <a:spcAft>
                          <a:spcPts val="0"/>
                        </a:spcAft>
                        <a:buClr>
                          <a:schemeClr val="dk1"/>
                        </a:buClr>
                        <a:buSzPts val="1100"/>
                        <a:buFont typeface="Arial"/>
                        <a:buNone/>
                      </a:pPr>
                      <a:r>
                        <a:rPr lang="it-IT">
                          <a:solidFill>
                            <a:schemeClr val="dk1"/>
                          </a:solidFill>
                        </a:rPr>
                        <a:t>0.25</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40.01</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20.01</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0.29</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None/>
                      </a:pPr>
                      <a:r>
                        <a:rPr lang="it-IT">
                          <a:solidFill>
                            <a:srgbClr val="000000"/>
                          </a:solidFill>
                        </a:rPr>
                        <a:t>0.5</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it-IT"/>
                        <a:t>92.34</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it-IT"/>
                        <a:t>19.83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it-IT">
                          <a:solidFill>
                            <a:srgbClr val="000000"/>
                          </a:solidFill>
                        </a:rPr>
                        <a:t>0.28</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r>
              <a:tr h="266675">
                <a:tc vMerge="1"/>
                <a:tc>
                  <a:txBody>
                    <a:bodyPr/>
                    <a:lstStyle/>
                    <a:p>
                      <a:pPr indent="0" lvl="0" marL="0" rtl="0" algn="l">
                        <a:spcBef>
                          <a:spcPts val="0"/>
                        </a:spcBef>
                        <a:spcAft>
                          <a:spcPts val="0"/>
                        </a:spcAft>
                        <a:buClr>
                          <a:schemeClr val="dk1"/>
                        </a:buClr>
                        <a:buSzPts val="1100"/>
                        <a:buFont typeface="Arial"/>
                        <a:buNone/>
                      </a:pPr>
                      <a:r>
                        <a:rPr lang="it-IT">
                          <a:solidFill>
                            <a:schemeClr val="dk1"/>
                          </a:solidFill>
                        </a:rPr>
                        <a:t>0.75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98.48</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49.24</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0.50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None/>
                      </a:pPr>
                      <a:r>
                        <a:rPr lang="it-IT">
                          <a:solidFill>
                            <a:srgbClr val="000000"/>
                          </a:solidFill>
                        </a:rPr>
                        <a:t>1.0</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b="1" lang="it-IT"/>
                        <a:t>98.89</a:t>
                      </a:r>
                      <a:endParaRPr b="1"/>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b="1" lang="it-IT"/>
                        <a:t>49.45</a:t>
                      </a:r>
                      <a:endParaRPr b="1"/>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it-IT">
                          <a:solidFill>
                            <a:srgbClr val="000000"/>
                          </a:solidFill>
                        </a:rPr>
                        <a:t>0.50</a:t>
                      </a:r>
                      <a:endParaRPr b="1">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rgbClr val="FFFFFF"/>
                    </a:solidFill>
                  </a:tcPr>
                </a:tc>
              </a:tr>
              <a:tr h="290475">
                <a:tc rowSpan="5">
                  <a:txBody>
                    <a:bodyPr/>
                    <a:lstStyle/>
                    <a:p>
                      <a:pPr indent="0" lvl="0" marL="0" rtl="0" algn="l">
                        <a:spcBef>
                          <a:spcPts val="0"/>
                        </a:spcBef>
                        <a:spcAft>
                          <a:spcPts val="0"/>
                        </a:spcAft>
                        <a:buNone/>
                      </a:pPr>
                      <a:r>
                        <a:rPr lang="it-IT">
                          <a:solidFill>
                            <a:schemeClr val="dk1"/>
                          </a:solidFill>
                        </a:rPr>
                        <a:t>RFI</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Font typeface="Arial"/>
                        <a:buNone/>
                      </a:pPr>
                      <a:r>
                        <a:rPr lang="it-IT">
                          <a:solidFill>
                            <a:srgbClr val="000000"/>
                          </a:solidFill>
                        </a:rPr>
                        <a:t>0.1</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rtl="0" algn="l">
                        <a:spcBef>
                          <a:spcPts val="0"/>
                        </a:spcBef>
                        <a:spcAft>
                          <a:spcPts val="0"/>
                        </a:spcAft>
                        <a:buNone/>
                      </a:pPr>
                      <a:r>
                        <a:rPr lang="it-IT"/>
                        <a:t>6.42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rtl="0" algn="l">
                        <a:spcBef>
                          <a:spcPts val="0"/>
                        </a:spcBef>
                        <a:spcAft>
                          <a:spcPts val="0"/>
                        </a:spcAft>
                        <a:buNone/>
                      </a:pPr>
                      <a:r>
                        <a:rPr lang="it-IT"/>
                        <a:t>3.21</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marR="0" rtl="0" algn="l">
                        <a:spcBef>
                          <a:spcPts val="0"/>
                        </a:spcBef>
                        <a:spcAft>
                          <a:spcPts val="0"/>
                        </a:spcAft>
                        <a:buNone/>
                      </a:pPr>
                      <a:r>
                        <a:rPr lang="it-IT">
                          <a:solidFill>
                            <a:srgbClr val="000000"/>
                          </a:solidFill>
                        </a:rPr>
                        <a:t>0.06</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r>
              <a:tr h="290475">
                <a:tc vMerge="1"/>
                <a:tc>
                  <a:txBody>
                    <a:bodyPr/>
                    <a:lstStyle/>
                    <a:p>
                      <a:pPr indent="0" lvl="0" marL="0" rtl="0" algn="l">
                        <a:spcBef>
                          <a:spcPts val="0"/>
                        </a:spcBef>
                        <a:spcAft>
                          <a:spcPts val="0"/>
                        </a:spcAft>
                        <a:buClr>
                          <a:schemeClr val="dk1"/>
                        </a:buClr>
                        <a:buSzPts val="1100"/>
                        <a:buFont typeface="Arial"/>
                        <a:buNone/>
                      </a:pPr>
                      <a:r>
                        <a:rPr lang="it-IT">
                          <a:solidFill>
                            <a:schemeClr val="dk1"/>
                          </a:solidFill>
                        </a:rPr>
                        <a:t>0.25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17.21</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8.61</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0.15</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marR="0" rtl="0" algn="l">
                        <a:lnSpc>
                          <a:spcPct val="100000"/>
                        </a:lnSpc>
                        <a:spcBef>
                          <a:spcPts val="0"/>
                        </a:spcBef>
                        <a:spcAft>
                          <a:spcPts val="0"/>
                        </a:spcAft>
                        <a:buNone/>
                      </a:pPr>
                      <a:r>
                        <a:rPr lang="it-IT">
                          <a:solidFill>
                            <a:srgbClr val="000000"/>
                          </a:solidFill>
                        </a:rPr>
                        <a:t>0.5</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rtl="0" algn="l">
                        <a:spcBef>
                          <a:spcPts val="0"/>
                        </a:spcBef>
                        <a:spcAft>
                          <a:spcPts val="0"/>
                        </a:spcAft>
                        <a:buNone/>
                      </a:pPr>
                      <a:r>
                        <a:rPr lang="it-IT"/>
                        <a:t>39.66</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rtl="0" algn="l">
                        <a:spcBef>
                          <a:spcPts val="0"/>
                        </a:spcBef>
                        <a:spcAft>
                          <a:spcPts val="0"/>
                        </a:spcAft>
                        <a:buNone/>
                      </a:pPr>
                      <a:r>
                        <a:rPr lang="it-IT"/>
                        <a:t>19.83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marR="0" rtl="0" algn="l">
                        <a:spcBef>
                          <a:spcPts val="0"/>
                        </a:spcBef>
                        <a:spcAft>
                          <a:spcPts val="0"/>
                        </a:spcAft>
                        <a:buNone/>
                      </a:pPr>
                      <a:r>
                        <a:rPr lang="it-IT">
                          <a:solidFill>
                            <a:srgbClr val="000000"/>
                          </a:solidFill>
                        </a:rPr>
                        <a:t>0.28</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r>
              <a:tr h="290475">
                <a:tc vMerge="1"/>
                <a:tc>
                  <a:txBody>
                    <a:bodyPr/>
                    <a:lstStyle/>
                    <a:p>
                      <a:pPr indent="0" lvl="0" marL="0" rtl="0" algn="l">
                        <a:spcBef>
                          <a:spcPts val="0"/>
                        </a:spcBef>
                        <a:spcAft>
                          <a:spcPts val="0"/>
                        </a:spcAft>
                        <a:buClr>
                          <a:schemeClr val="dk1"/>
                        </a:buClr>
                        <a:buSzPts val="1100"/>
                        <a:buFont typeface="Arial"/>
                        <a:buNone/>
                      </a:pPr>
                      <a:r>
                        <a:rPr lang="it-IT">
                          <a:solidFill>
                            <a:schemeClr val="dk1"/>
                          </a:solidFill>
                        </a:rPr>
                        <a:t>0.75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64.99</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32.50</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0.39</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1.0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t>83.33</a:t>
                      </a:r>
                      <a:endParaRPr b="1"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t>41.67</a:t>
                      </a:r>
                      <a:endParaRPr b="1"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0.45</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r>
            </a:tbl>
          </a:graphicData>
        </a:graphic>
      </p:graphicFrame>
    </p:spTree>
  </p:cSld>
  <p:clrMapOvr>
    <a:masterClrMapping/>
  </p:clrMapOvr>
  <p:transition>
    <p:fade/>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g3bfccae9961_0_139"/>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522" name="Google Shape;522;g3bfccae9961_0_139"/>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Clr>
                <a:srgbClr val="000000"/>
              </a:buClr>
              <a:buSzPts val="2700"/>
              <a:buFont typeface="Arial"/>
              <a:buNone/>
            </a:pPr>
            <a:r>
              <a:rPr b="1" i="0" lang="it-IT" sz="2700" u="none" cap="none" strike="noStrike">
                <a:solidFill>
                  <a:schemeClr val="accent3"/>
                </a:solidFill>
                <a:latin typeface="Century Gothic"/>
                <a:ea typeface="Century Gothic"/>
                <a:cs typeface="Century Gothic"/>
                <a:sym typeface="Century Gothic"/>
              </a:rPr>
              <a:t>Linear</a:t>
            </a:r>
            <a:r>
              <a:rPr b="1" i="0" lang="it-IT" sz="2700" u="none" cap="none" strike="noStrike">
                <a:solidFill>
                  <a:srgbClr val="00ACA7"/>
                </a:solidFill>
                <a:latin typeface="Century Gothic"/>
                <a:ea typeface="Century Gothic"/>
                <a:cs typeface="Century Gothic"/>
                <a:sym typeface="Century Gothic"/>
              </a:rPr>
              <a:t> spike</a:t>
            </a:r>
            <a:r>
              <a:rPr b="1" i="0" lang="it-IT" sz="2700" u="none" cap="none" strike="noStrike">
                <a:solidFill>
                  <a:schemeClr val="accent3"/>
                </a:solidFill>
                <a:latin typeface="Century Gothic"/>
                <a:ea typeface="Century Gothic"/>
                <a:cs typeface="Century Gothic"/>
                <a:sym typeface="Century Gothic"/>
              </a:rPr>
              <a:t> models results EuroSAT</a:t>
            </a:r>
            <a:endParaRPr b="0" i="0" sz="2700" u="none" cap="none" strike="noStrike">
              <a:solidFill>
                <a:srgbClr val="000000"/>
              </a:solidFill>
              <a:latin typeface="Arial"/>
              <a:ea typeface="Arial"/>
              <a:cs typeface="Arial"/>
              <a:sym typeface="Arial"/>
            </a:endParaRPr>
          </a:p>
        </p:txBody>
      </p:sp>
      <p:sp>
        <p:nvSpPr>
          <p:cNvPr id="523" name="Google Shape;523;g3bfccae9961_0_139"/>
          <p:cNvSpPr txBox="1"/>
          <p:nvPr/>
        </p:nvSpPr>
        <p:spPr>
          <a:xfrm>
            <a:off x="10837325" y="5762375"/>
            <a:ext cx="1081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it-IT" sz="1400" u="none" cap="none" strike="noStrike">
                <a:solidFill>
                  <a:srgbClr val="000000"/>
                </a:solidFill>
                <a:latin typeface="Arial"/>
                <a:ea typeface="Arial"/>
                <a:cs typeface="Arial"/>
                <a:sym typeface="Arial"/>
              </a:rPr>
              <a:t>tau 4.1</a:t>
            </a:r>
            <a:endParaRPr b="0" i="0" sz="1400" u="none" cap="none" strike="noStrike">
              <a:solidFill>
                <a:srgbClr val="000000"/>
              </a:solidFill>
              <a:latin typeface="Arial"/>
              <a:ea typeface="Arial"/>
              <a:cs typeface="Arial"/>
              <a:sym typeface="Arial"/>
            </a:endParaRPr>
          </a:p>
        </p:txBody>
      </p:sp>
      <p:graphicFrame>
        <p:nvGraphicFramePr>
          <p:cNvPr id="524" name="Google Shape;524;g3bfccae9961_0_139"/>
          <p:cNvGraphicFramePr/>
          <p:nvPr/>
        </p:nvGraphicFramePr>
        <p:xfrm>
          <a:off x="1526463" y="1832850"/>
          <a:ext cx="3000000" cy="3000000"/>
        </p:xfrm>
        <a:graphic>
          <a:graphicData uri="http://schemas.openxmlformats.org/drawingml/2006/table">
            <a:tbl>
              <a:tblPr>
                <a:noFill/>
                <a:tableStyleId>{F8B367DF-6231-497F-AC9F-6F7DF9882E19}</a:tableStyleId>
              </a:tblPr>
              <a:tblGrid>
                <a:gridCol w="1102825"/>
                <a:gridCol w="1565150"/>
                <a:gridCol w="1479050"/>
                <a:gridCol w="1698550"/>
                <a:gridCol w="1698550"/>
              </a:tblGrid>
              <a:tr h="372200">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N</a:t>
                      </a:r>
                      <a:r>
                        <a:rPr b="1" lang="it-IT" sz="1400" u="none" cap="none" strike="noStrike">
                          <a:solidFill>
                            <a:schemeClr val="dk1"/>
                          </a:solidFill>
                        </a:rPr>
                        <a:t>oise type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N</a:t>
                      </a:r>
                      <a:r>
                        <a:rPr b="1" lang="it-IT" sz="1400" u="none" cap="none" strike="noStrike">
                          <a:solidFill>
                            <a:schemeClr val="dk1"/>
                          </a:solidFill>
                        </a:rPr>
                        <a:t>oise intensity</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A</a:t>
                      </a:r>
                      <a:r>
                        <a:rPr b="1" lang="it-IT" sz="1400" u="none" cap="none" strike="noStrike">
                          <a:solidFill>
                            <a:schemeClr val="dk1"/>
                          </a:solidFill>
                        </a:rPr>
                        <a:t>ccuracy (%)</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R</a:t>
                      </a:r>
                      <a:r>
                        <a:rPr b="1" lang="it-IT" sz="1400" u="none" cap="none" strike="noStrike">
                          <a:solidFill>
                            <a:schemeClr val="dk1"/>
                          </a:solidFill>
                        </a:rPr>
                        <a:t>ecall</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F1 score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r>
              <a:tr h="318675">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None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0.0</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58.07</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29.04</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0.37</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r>
              <a:tr h="290475">
                <a:tc rowSpan="5">
                  <a:txBody>
                    <a:bodyPr/>
                    <a:lstStyle/>
                    <a:p>
                      <a:pPr indent="0" lvl="0" marL="0" rtl="0" algn="l">
                        <a:spcBef>
                          <a:spcPts val="0"/>
                        </a:spcBef>
                        <a:spcAft>
                          <a:spcPts val="0"/>
                        </a:spcAft>
                        <a:buNone/>
                      </a:pPr>
                      <a:r>
                        <a:rPr lang="it-IT">
                          <a:solidFill>
                            <a:schemeClr val="dk1"/>
                          </a:solidFill>
                        </a:rPr>
                        <a:t>Gaussian</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t>43.56</a:t>
                      </a:r>
                      <a:endParaRPr b="1"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t>21.78</a:t>
                      </a:r>
                      <a:endParaRPr b="1"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0.30</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rtl="0" algn="l">
                        <a:spcBef>
                          <a:spcPts val="0"/>
                        </a:spcBef>
                        <a:spcAft>
                          <a:spcPts val="0"/>
                        </a:spcAft>
                        <a:buClr>
                          <a:schemeClr val="dk1"/>
                        </a:buClr>
                        <a:buSzPts val="1100"/>
                        <a:buFont typeface="Arial"/>
                        <a:buNone/>
                      </a:pPr>
                      <a:r>
                        <a:rPr lang="it-IT">
                          <a:solidFill>
                            <a:schemeClr val="dk1"/>
                          </a:solidFill>
                        </a:rPr>
                        <a:t>0.25</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38.48</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19.24</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0.28</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None/>
                      </a:pPr>
                      <a:r>
                        <a:rPr lang="it-IT">
                          <a:solidFill>
                            <a:srgbClr val="000000"/>
                          </a:solidFill>
                        </a:rPr>
                        <a:t>0.5</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it-IT">
                          <a:solidFill>
                            <a:srgbClr val="000000"/>
                          </a:solidFill>
                        </a:rPr>
                        <a:t>15.74</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it-IT">
                          <a:solidFill>
                            <a:srgbClr val="000000"/>
                          </a:solidFill>
                        </a:rPr>
                        <a:t>7.87</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it-IT">
                          <a:solidFill>
                            <a:srgbClr val="000000"/>
                          </a:solidFill>
                        </a:rPr>
                        <a:t>0.14</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r>
              <a:tr h="266675">
                <a:tc vMerge="1"/>
                <a:tc>
                  <a:txBody>
                    <a:bodyPr/>
                    <a:lstStyle/>
                    <a:p>
                      <a:pPr indent="0" lvl="0" marL="0" rtl="0" algn="l">
                        <a:spcBef>
                          <a:spcPts val="0"/>
                        </a:spcBef>
                        <a:spcAft>
                          <a:spcPts val="0"/>
                        </a:spcAft>
                        <a:buClr>
                          <a:schemeClr val="dk1"/>
                        </a:buClr>
                        <a:buSzPts val="1100"/>
                        <a:buFont typeface="Arial"/>
                        <a:buNone/>
                      </a:pPr>
                      <a:r>
                        <a:rPr lang="it-IT">
                          <a:solidFill>
                            <a:schemeClr val="dk1"/>
                          </a:solidFill>
                        </a:rPr>
                        <a:t>0.75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2.70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1.35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0.03</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None/>
                      </a:pPr>
                      <a:r>
                        <a:rPr lang="it-IT">
                          <a:solidFill>
                            <a:srgbClr val="000000"/>
                          </a:solidFill>
                        </a:rPr>
                        <a:t>1.0</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it-IT">
                          <a:solidFill>
                            <a:srgbClr val="000000"/>
                          </a:solidFill>
                        </a:rPr>
                        <a:t>00.92</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it-IT">
                          <a:solidFill>
                            <a:srgbClr val="000000"/>
                          </a:solidFill>
                        </a:rPr>
                        <a:t>00.46</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it-IT">
                          <a:solidFill>
                            <a:srgbClr val="000000"/>
                          </a:solidFill>
                        </a:rPr>
                        <a:t>0.01</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rgbClr val="FFFFFF"/>
                    </a:solidFill>
                  </a:tcPr>
                </a:tc>
              </a:tr>
              <a:tr h="290475">
                <a:tc rowSpan="5">
                  <a:txBody>
                    <a:bodyPr/>
                    <a:lstStyle/>
                    <a:p>
                      <a:pPr indent="0" lvl="0" marL="0" rtl="0" algn="l">
                        <a:spcBef>
                          <a:spcPts val="0"/>
                        </a:spcBef>
                        <a:spcAft>
                          <a:spcPts val="0"/>
                        </a:spcAft>
                        <a:buNone/>
                      </a:pPr>
                      <a:r>
                        <a:rPr lang="it-IT">
                          <a:solidFill>
                            <a:schemeClr val="dk1"/>
                          </a:solidFill>
                        </a:rPr>
                        <a:t>RFI</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Font typeface="Arial"/>
                        <a:buNone/>
                      </a:pPr>
                      <a:r>
                        <a:rPr lang="it-IT">
                          <a:solidFill>
                            <a:srgbClr val="000000"/>
                          </a:solidFill>
                        </a:rPr>
                        <a:t>0.1</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rtl="0" algn="l">
                        <a:spcBef>
                          <a:spcPts val="0"/>
                        </a:spcBef>
                        <a:spcAft>
                          <a:spcPts val="0"/>
                        </a:spcAft>
                        <a:buNone/>
                      </a:pPr>
                      <a:r>
                        <a:rPr lang="it-IT"/>
                        <a:t>43.22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rtl="0" algn="l">
                        <a:spcBef>
                          <a:spcPts val="0"/>
                        </a:spcBef>
                        <a:spcAft>
                          <a:spcPts val="0"/>
                        </a:spcAft>
                        <a:buNone/>
                      </a:pPr>
                      <a:r>
                        <a:rPr lang="it-IT"/>
                        <a:t>21.61</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marR="0" rtl="0" algn="l">
                        <a:spcBef>
                          <a:spcPts val="0"/>
                        </a:spcBef>
                        <a:spcAft>
                          <a:spcPts val="0"/>
                        </a:spcAft>
                        <a:buNone/>
                      </a:pPr>
                      <a:r>
                        <a:rPr lang="it-IT">
                          <a:solidFill>
                            <a:srgbClr val="000000"/>
                          </a:solidFill>
                        </a:rPr>
                        <a:t>0.30</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r>
              <a:tr h="290475">
                <a:tc vMerge="1"/>
                <a:tc>
                  <a:txBody>
                    <a:bodyPr/>
                    <a:lstStyle/>
                    <a:p>
                      <a:pPr indent="0" lvl="0" marL="0" rtl="0" algn="l">
                        <a:spcBef>
                          <a:spcPts val="0"/>
                        </a:spcBef>
                        <a:spcAft>
                          <a:spcPts val="0"/>
                        </a:spcAft>
                        <a:buClr>
                          <a:schemeClr val="dk1"/>
                        </a:buClr>
                        <a:buSzPts val="1100"/>
                        <a:buFont typeface="Arial"/>
                        <a:buNone/>
                      </a:pPr>
                      <a:r>
                        <a:rPr lang="it-IT">
                          <a:solidFill>
                            <a:schemeClr val="dk1"/>
                          </a:solidFill>
                        </a:rPr>
                        <a:t>0.25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40.93</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20.46</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0.29</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marR="0" rtl="0" algn="l">
                        <a:lnSpc>
                          <a:spcPct val="100000"/>
                        </a:lnSpc>
                        <a:spcBef>
                          <a:spcPts val="0"/>
                        </a:spcBef>
                        <a:spcAft>
                          <a:spcPts val="0"/>
                        </a:spcAft>
                        <a:buNone/>
                      </a:pPr>
                      <a:r>
                        <a:rPr lang="it-IT">
                          <a:solidFill>
                            <a:srgbClr val="000000"/>
                          </a:solidFill>
                        </a:rPr>
                        <a:t>0.5</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marR="0" rtl="0" algn="l">
                        <a:lnSpc>
                          <a:spcPct val="100000"/>
                        </a:lnSpc>
                        <a:spcBef>
                          <a:spcPts val="0"/>
                        </a:spcBef>
                        <a:spcAft>
                          <a:spcPts val="0"/>
                        </a:spcAft>
                        <a:buNone/>
                      </a:pPr>
                      <a:r>
                        <a:rPr lang="it-IT">
                          <a:solidFill>
                            <a:srgbClr val="000000"/>
                          </a:solidFill>
                        </a:rPr>
                        <a:t>47.07</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marR="0" rtl="0" algn="l">
                        <a:spcBef>
                          <a:spcPts val="0"/>
                        </a:spcBef>
                        <a:spcAft>
                          <a:spcPts val="0"/>
                        </a:spcAft>
                        <a:buNone/>
                      </a:pPr>
                      <a:r>
                        <a:rPr lang="it-IT">
                          <a:solidFill>
                            <a:srgbClr val="000000"/>
                          </a:solidFill>
                        </a:rPr>
                        <a:t>23.53</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marR="0" rtl="0" algn="l">
                        <a:spcBef>
                          <a:spcPts val="0"/>
                        </a:spcBef>
                        <a:spcAft>
                          <a:spcPts val="0"/>
                        </a:spcAft>
                        <a:buNone/>
                      </a:pPr>
                      <a:r>
                        <a:rPr lang="it-IT">
                          <a:solidFill>
                            <a:srgbClr val="000000"/>
                          </a:solidFill>
                        </a:rPr>
                        <a:t>0.32</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1.0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a:solidFill>
                            <a:schemeClr val="dk1"/>
                          </a:solidFill>
                        </a:rPr>
                        <a:t>47.89</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23.94</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0.32</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1.0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48.85</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24.42</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0.33</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r>
            </a:tbl>
          </a:graphicData>
        </a:graphic>
      </p:graphicFrame>
    </p:spTree>
  </p:cSld>
  <p:clrMapOvr>
    <a:masterClrMapping/>
  </p:clrMapOvr>
  <p:transition>
    <p:fade/>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g3bfccae9961_0_147"/>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531" name="Google Shape;531;g3bfccae9961_0_147"/>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Clr>
                <a:schemeClr val="dk1"/>
              </a:buClr>
              <a:buSzPts val="2700"/>
              <a:buFont typeface="Arial"/>
              <a:buNone/>
            </a:pPr>
            <a:r>
              <a:rPr b="1" i="0" lang="it-IT" sz="2700" u="none" cap="none" strike="noStrike">
                <a:solidFill>
                  <a:schemeClr val="accent3"/>
                </a:solidFill>
                <a:latin typeface="Century Gothic"/>
                <a:ea typeface="Century Gothic"/>
                <a:cs typeface="Century Gothic"/>
                <a:sym typeface="Century Gothic"/>
              </a:rPr>
              <a:t>Convolutional</a:t>
            </a:r>
            <a:r>
              <a:rPr b="1" i="0" lang="it-IT" sz="2700" u="none" cap="none" strike="noStrike">
                <a:solidFill>
                  <a:srgbClr val="00ACA7"/>
                </a:solidFill>
                <a:latin typeface="Century Gothic"/>
                <a:ea typeface="Century Gothic"/>
                <a:cs typeface="Century Gothic"/>
                <a:sym typeface="Century Gothic"/>
              </a:rPr>
              <a:t> spike</a:t>
            </a:r>
            <a:r>
              <a:rPr b="1" i="0" lang="it-IT" sz="2700" u="none" cap="none" strike="noStrike">
                <a:solidFill>
                  <a:schemeClr val="accent3"/>
                </a:solidFill>
                <a:latin typeface="Century Gothic"/>
                <a:ea typeface="Century Gothic"/>
                <a:cs typeface="Century Gothic"/>
                <a:sym typeface="Century Gothic"/>
              </a:rPr>
              <a:t> models results mnist</a:t>
            </a:r>
            <a:endParaRPr b="0" i="0" sz="2700" u="none" cap="none" strike="noStrike">
              <a:solidFill>
                <a:srgbClr val="000000"/>
              </a:solidFill>
              <a:latin typeface="Arial"/>
              <a:ea typeface="Arial"/>
              <a:cs typeface="Arial"/>
              <a:sym typeface="Arial"/>
            </a:endParaRPr>
          </a:p>
        </p:txBody>
      </p:sp>
      <p:sp>
        <p:nvSpPr>
          <p:cNvPr id="532" name="Google Shape;532;g3bfccae9961_0_147"/>
          <p:cNvSpPr txBox="1"/>
          <p:nvPr/>
        </p:nvSpPr>
        <p:spPr>
          <a:xfrm>
            <a:off x="10837325" y="5762375"/>
            <a:ext cx="1081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it-IT" sz="1400" u="none" cap="none" strike="noStrike">
                <a:solidFill>
                  <a:srgbClr val="000000"/>
                </a:solidFill>
                <a:latin typeface="Arial"/>
                <a:ea typeface="Arial"/>
                <a:cs typeface="Arial"/>
                <a:sym typeface="Arial"/>
              </a:rPr>
              <a:t>tau 4.3</a:t>
            </a:r>
            <a:endParaRPr b="0" i="0" sz="1400" u="none" cap="none" strike="noStrike">
              <a:solidFill>
                <a:srgbClr val="000000"/>
              </a:solidFill>
              <a:latin typeface="Arial"/>
              <a:ea typeface="Arial"/>
              <a:cs typeface="Arial"/>
              <a:sym typeface="Arial"/>
            </a:endParaRPr>
          </a:p>
        </p:txBody>
      </p:sp>
      <p:graphicFrame>
        <p:nvGraphicFramePr>
          <p:cNvPr id="533" name="Google Shape;533;g3bfccae9961_0_147"/>
          <p:cNvGraphicFramePr/>
          <p:nvPr/>
        </p:nvGraphicFramePr>
        <p:xfrm>
          <a:off x="1526463" y="1832850"/>
          <a:ext cx="3000000" cy="3000000"/>
        </p:xfrm>
        <a:graphic>
          <a:graphicData uri="http://schemas.openxmlformats.org/drawingml/2006/table">
            <a:tbl>
              <a:tblPr>
                <a:noFill/>
                <a:tableStyleId>{F8B367DF-6231-497F-AC9F-6F7DF9882E19}</a:tableStyleId>
              </a:tblPr>
              <a:tblGrid>
                <a:gridCol w="1102825"/>
                <a:gridCol w="1565150"/>
                <a:gridCol w="1479050"/>
                <a:gridCol w="1698550"/>
                <a:gridCol w="1698550"/>
              </a:tblGrid>
              <a:tr h="372200">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N</a:t>
                      </a:r>
                      <a:r>
                        <a:rPr b="1" lang="it-IT" sz="1400" u="none" cap="none" strike="noStrike">
                          <a:solidFill>
                            <a:schemeClr val="dk1"/>
                          </a:solidFill>
                        </a:rPr>
                        <a:t>oise type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N</a:t>
                      </a:r>
                      <a:r>
                        <a:rPr b="1" lang="it-IT" sz="1400" u="none" cap="none" strike="noStrike">
                          <a:solidFill>
                            <a:schemeClr val="dk1"/>
                          </a:solidFill>
                        </a:rPr>
                        <a:t>oise intensity</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A</a:t>
                      </a:r>
                      <a:r>
                        <a:rPr b="1" lang="it-IT" sz="1400" u="none" cap="none" strike="noStrike">
                          <a:solidFill>
                            <a:schemeClr val="dk1"/>
                          </a:solidFill>
                        </a:rPr>
                        <a:t>ccuracy (%)</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R</a:t>
                      </a:r>
                      <a:r>
                        <a:rPr b="1" lang="it-IT" sz="1400" u="none" cap="none" strike="noStrike">
                          <a:solidFill>
                            <a:schemeClr val="dk1"/>
                          </a:solidFill>
                        </a:rPr>
                        <a:t>ecall</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F1 score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r>
              <a:tr h="318675">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None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0.0</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96.98</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48.49</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0.49</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r>
              <a:tr h="290475">
                <a:tc rowSpan="5">
                  <a:txBody>
                    <a:bodyPr/>
                    <a:lstStyle/>
                    <a:p>
                      <a:pPr indent="0" lvl="0" marL="0" rtl="0" algn="l">
                        <a:spcBef>
                          <a:spcPts val="0"/>
                        </a:spcBef>
                        <a:spcAft>
                          <a:spcPts val="0"/>
                        </a:spcAft>
                        <a:buNone/>
                      </a:pPr>
                      <a:r>
                        <a:rPr lang="it-IT">
                          <a:solidFill>
                            <a:schemeClr val="dk1"/>
                          </a:solidFill>
                        </a:rPr>
                        <a:t>Gaussian</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7.14</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3.57</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0.07</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rtl="0" algn="l">
                        <a:spcBef>
                          <a:spcPts val="0"/>
                        </a:spcBef>
                        <a:spcAft>
                          <a:spcPts val="0"/>
                        </a:spcAft>
                        <a:buClr>
                          <a:schemeClr val="dk1"/>
                        </a:buClr>
                        <a:buSzPts val="1100"/>
                        <a:buFont typeface="Arial"/>
                        <a:buNone/>
                      </a:pPr>
                      <a:r>
                        <a:rPr lang="it-IT">
                          <a:solidFill>
                            <a:schemeClr val="dk1"/>
                          </a:solidFill>
                        </a:rPr>
                        <a:t>0.25</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40.01</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20.01</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0.29</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None/>
                      </a:pPr>
                      <a:r>
                        <a:rPr lang="it-IT">
                          <a:solidFill>
                            <a:srgbClr val="000000"/>
                          </a:solidFill>
                        </a:rPr>
                        <a:t>0.5</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it-IT">
                          <a:solidFill>
                            <a:srgbClr val="000000"/>
                          </a:solidFill>
                        </a:rPr>
                        <a:t>92.34</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it-IT">
                          <a:solidFill>
                            <a:srgbClr val="000000"/>
                          </a:solidFill>
                        </a:rPr>
                        <a:t>46.17</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it-IT">
                          <a:solidFill>
                            <a:srgbClr val="000000"/>
                          </a:solidFill>
                        </a:rPr>
                        <a:t>0.48</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r>
              <a:tr h="266675">
                <a:tc vMerge="1"/>
                <a:tc>
                  <a:txBody>
                    <a:bodyPr/>
                    <a:lstStyle/>
                    <a:p>
                      <a:pPr indent="0" lvl="0" marL="0" rtl="0" algn="l">
                        <a:spcBef>
                          <a:spcPts val="0"/>
                        </a:spcBef>
                        <a:spcAft>
                          <a:spcPts val="0"/>
                        </a:spcAft>
                        <a:buClr>
                          <a:schemeClr val="dk1"/>
                        </a:buClr>
                        <a:buSzPts val="1100"/>
                        <a:buFont typeface="Arial"/>
                        <a:buNone/>
                      </a:pPr>
                      <a:r>
                        <a:rPr lang="it-IT">
                          <a:solidFill>
                            <a:schemeClr val="dk1"/>
                          </a:solidFill>
                        </a:rPr>
                        <a:t>0.75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98.48</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49.24</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0.50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1.0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98.89</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48.45</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0.50</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r>
              <a:tr h="290475">
                <a:tc rowSpan="5">
                  <a:txBody>
                    <a:bodyPr/>
                    <a:lstStyle/>
                    <a:p>
                      <a:pPr indent="0" lvl="0" marL="0" rtl="0" algn="l">
                        <a:spcBef>
                          <a:spcPts val="0"/>
                        </a:spcBef>
                        <a:spcAft>
                          <a:spcPts val="0"/>
                        </a:spcAft>
                        <a:buNone/>
                      </a:pPr>
                      <a:r>
                        <a:rPr lang="it-IT">
                          <a:solidFill>
                            <a:schemeClr val="dk1"/>
                          </a:solidFill>
                        </a:rPr>
                        <a:t>RFI</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0.1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6.42</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3.57</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0.06</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rtl="0" algn="l">
                        <a:spcBef>
                          <a:spcPts val="0"/>
                        </a:spcBef>
                        <a:spcAft>
                          <a:spcPts val="0"/>
                        </a:spcAft>
                        <a:buClr>
                          <a:schemeClr val="dk1"/>
                        </a:buClr>
                        <a:buSzPts val="1100"/>
                        <a:buFont typeface="Arial"/>
                        <a:buNone/>
                      </a:pPr>
                      <a:r>
                        <a:rPr lang="it-IT">
                          <a:solidFill>
                            <a:schemeClr val="dk1"/>
                          </a:solidFill>
                        </a:rPr>
                        <a:t>0.25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17.21</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8.61</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0.15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marR="0" rtl="0" algn="l">
                        <a:lnSpc>
                          <a:spcPct val="100000"/>
                        </a:lnSpc>
                        <a:spcBef>
                          <a:spcPts val="0"/>
                        </a:spcBef>
                        <a:spcAft>
                          <a:spcPts val="0"/>
                        </a:spcAft>
                        <a:buNone/>
                      </a:pPr>
                      <a:r>
                        <a:rPr lang="it-IT">
                          <a:solidFill>
                            <a:srgbClr val="000000"/>
                          </a:solidFill>
                        </a:rPr>
                        <a:t>0.5</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marR="0" rtl="0" algn="l">
                        <a:lnSpc>
                          <a:spcPct val="100000"/>
                        </a:lnSpc>
                        <a:spcBef>
                          <a:spcPts val="0"/>
                        </a:spcBef>
                        <a:spcAft>
                          <a:spcPts val="0"/>
                        </a:spcAft>
                        <a:buNone/>
                      </a:pPr>
                      <a:r>
                        <a:rPr lang="it-IT">
                          <a:solidFill>
                            <a:srgbClr val="000000"/>
                          </a:solidFill>
                        </a:rPr>
                        <a:t>39.66</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marR="0" rtl="0" algn="l">
                        <a:spcBef>
                          <a:spcPts val="0"/>
                        </a:spcBef>
                        <a:spcAft>
                          <a:spcPts val="0"/>
                        </a:spcAft>
                        <a:buNone/>
                      </a:pPr>
                      <a:r>
                        <a:rPr lang="it-IT">
                          <a:solidFill>
                            <a:srgbClr val="000000"/>
                          </a:solidFill>
                        </a:rPr>
                        <a:t>19.83</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marR="0" rtl="0" algn="l">
                        <a:spcBef>
                          <a:spcPts val="0"/>
                        </a:spcBef>
                        <a:spcAft>
                          <a:spcPts val="0"/>
                        </a:spcAft>
                        <a:buNone/>
                      </a:pPr>
                      <a:r>
                        <a:rPr lang="it-IT">
                          <a:solidFill>
                            <a:srgbClr val="000000"/>
                          </a:solidFill>
                        </a:rPr>
                        <a:t>0.28</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r>
              <a:tr h="290475">
                <a:tc vMerge="1"/>
                <a:tc>
                  <a:txBody>
                    <a:bodyPr/>
                    <a:lstStyle/>
                    <a:p>
                      <a:pPr indent="0" lvl="0" marL="0" rtl="0" algn="l">
                        <a:spcBef>
                          <a:spcPts val="0"/>
                        </a:spcBef>
                        <a:spcAft>
                          <a:spcPts val="0"/>
                        </a:spcAft>
                        <a:buClr>
                          <a:schemeClr val="dk1"/>
                        </a:buClr>
                        <a:buSzPts val="1100"/>
                        <a:buFont typeface="Arial"/>
                        <a:buNone/>
                      </a:pPr>
                      <a:r>
                        <a:rPr lang="it-IT">
                          <a:solidFill>
                            <a:schemeClr val="dk1"/>
                          </a:solidFill>
                        </a:rPr>
                        <a:t>0.75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64.99</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32.50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0.39</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1.0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83.33</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41.67</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0.45</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r>
            </a:tbl>
          </a:graphicData>
        </a:graphic>
      </p:graphicFrame>
    </p:spTree>
  </p:cSld>
  <p:clrMapOvr>
    <a:masterClrMapping/>
  </p:clrMapOvr>
  <p:transition>
    <p:fade/>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g3bfccae9961_0_155"/>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1" sz="4400">
              <a:solidFill>
                <a:schemeClr val="accent1"/>
              </a:solidFill>
              <a:latin typeface="Century Gothic"/>
              <a:ea typeface="Century Gothic"/>
              <a:cs typeface="Century Gothic"/>
              <a:sym typeface="Century Gothic"/>
            </a:endParaRPr>
          </a:p>
        </p:txBody>
      </p:sp>
      <p:sp>
        <p:nvSpPr>
          <p:cNvPr id="540" name="Google Shape;540;g3bfccae9961_0_155"/>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Clr>
                <a:srgbClr val="000000"/>
              </a:buClr>
              <a:buSzPts val="2700"/>
              <a:buFont typeface="Arial"/>
              <a:buNone/>
            </a:pPr>
            <a:r>
              <a:rPr b="1" i="0" lang="it-IT" sz="2700" u="none" cap="none" strike="noStrike">
                <a:solidFill>
                  <a:schemeClr val="accent3"/>
                </a:solidFill>
                <a:latin typeface="Century Gothic"/>
                <a:ea typeface="Century Gothic"/>
                <a:cs typeface="Century Gothic"/>
                <a:sym typeface="Century Gothic"/>
              </a:rPr>
              <a:t>Convolutional</a:t>
            </a:r>
            <a:r>
              <a:rPr b="1" i="0" lang="it-IT" sz="2700" u="none" cap="none" strike="noStrike">
                <a:solidFill>
                  <a:srgbClr val="00ACA7"/>
                </a:solidFill>
                <a:latin typeface="Century Gothic"/>
                <a:ea typeface="Century Gothic"/>
                <a:cs typeface="Century Gothic"/>
                <a:sym typeface="Century Gothic"/>
              </a:rPr>
              <a:t> spike</a:t>
            </a:r>
            <a:r>
              <a:rPr b="1" i="0" lang="it-IT" sz="2700" u="none" cap="none" strike="noStrike">
                <a:solidFill>
                  <a:schemeClr val="accent3"/>
                </a:solidFill>
                <a:latin typeface="Century Gothic"/>
                <a:ea typeface="Century Gothic"/>
                <a:cs typeface="Century Gothic"/>
                <a:sym typeface="Century Gothic"/>
              </a:rPr>
              <a:t> models results EuroSAT</a:t>
            </a:r>
            <a:endParaRPr b="0" i="0" sz="2700" u="none" cap="none" strike="noStrike">
              <a:solidFill>
                <a:srgbClr val="000000"/>
              </a:solidFill>
              <a:latin typeface="Arial"/>
              <a:ea typeface="Arial"/>
              <a:cs typeface="Arial"/>
              <a:sym typeface="Arial"/>
            </a:endParaRPr>
          </a:p>
        </p:txBody>
      </p:sp>
      <p:sp>
        <p:nvSpPr>
          <p:cNvPr id="541" name="Google Shape;541;g3bfccae9961_0_155"/>
          <p:cNvSpPr txBox="1"/>
          <p:nvPr/>
        </p:nvSpPr>
        <p:spPr>
          <a:xfrm>
            <a:off x="10837325" y="5762375"/>
            <a:ext cx="1221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it-IT" sz="1400" u="none" cap="none" strike="noStrike">
                <a:solidFill>
                  <a:srgbClr val="000000"/>
                </a:solidFill>
                <a:latin typeface="Arial"/>
                <a:ea typeface="Arial"/>
                <a:cs typeface="Arial"/>
                <a:sym typeface="Arial"/>
              </a:rPr>
              <a:t>tau 2.99999</a:t>
            </a:r>
            <a:endParaRPr b="0" i="0" sz="1400" u="none" cap="none" strike="noStrike">
              <a:solidFill>
                <a:srgbClr val="000000"/>
              </a:solidFill>
              <a:latin typeface="Arial"/>
              <a:ea typeface="Arial"/>
              <a:cs typeface="Arial"/>
              <a:sym typeface="Arial"/>
            </a:endParaRPr>
          </a:p>
        </p:txBody>
      </p:sp>
      <p:graphicFrame>
        <p:nvGraphicFramePr>
          <p:cNvPr id="542" name="Google Shape;542;g3bfccae9961_0_155"/>
          <p:cNvGraphicFramePr/>
          <p:nvPr/>
        </p:nvGraphicFramePr>
        <p:xfrm>
          <a:off x="1526463" y="1832850"/>
          <a:ext cx="3000000" cy="3000000"/>
        </p:xfrm>
        <a:graphic>
          <a:graphicData uri="http://schemas.openxmlformats.org/drawingml/2006/table">
            <a:tbl>
              <a:tblPr>
                <a:noFill/>
                <a:tableStyleId>{F8B367DF-6231-497F-AC9F-6F7DF9882E19}</a:tableStyleId>
              </a:tblPr>
              <a:tblGrid>
                <a:gridCol w="1102825"/>
                <a:gridCol w="1565150"/>
                <a:gridCol w="1479050"/>
                <a:gridCol w="1698550"/>
                <a:gridCol w="1698550"/>
              </a:tblGrid>
              <a:tr h="372200">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N</a:t>
                      </a:r>
                      <a:r>
                        <a:rPr b="1" lang="it-IT" sz="1400" u="none" cap="none" strike="noStrike">
                          <a:solidFill>
                            <a:schemeClr val="dk1"/>
                          </a:solidFill>
                        </a:rPr>
                        <a:t>oise type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N</a:t>
                      </a:r>
                      <a:r>
                        <a:rPr b="1" lang="it-IT" sz="1400" u="none" cap="none" strike="noStrike">
                          <a:solidFill>
                            <a:schemeClr val="dk1"/>
                          </a:solidFill>
                        </a:rPr>
                        <a:t>oise intensity</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A</a:t>
                      </a:r>
                      <a:r>
                        <a:rPr b="1" lang="it-IT" sz="1400" u="none" cap="none" strike="noStrike">
                          <a:solidFill>
                            <a:schemeClr val="dk1"/>
                          </a:solidFill>
                        </a:rPr>
                        <a:t>ccuracy (%)</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R</a:t>
                      </a:r>
                      <a:r>
                        <a:rPr b="1" lang="it-IT" sz="1400" u="none" cap="none" strike="noStrike">
                          <a:solidFill>
                            <a:schemeClr val="dk1"/>
                          </a:solidFill>
                        </a:rPr>
                        <a:t>ecall</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F1 score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r>
              <a:tr h="318675">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None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0.0</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68.11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34.06</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0.41</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r>
              <a:tr h="290475">
                <a:tc rowSpan="5">
                  <a:txBody>
                    <a:bodyPr/>
                    <a:lstStyle/>
                    <a:p>
                      <a:pPr indent="0" lvl="0" marL="0" rtl="0" algn="l">
                        <a:spcBef>
                          <a:spcPts val="0"/>
                        </a:spcBef>
                        <a:spcAft>
                          <a:spcPts val="0"/>
                        </a:spcAft>
                        <a:buNone/>
                      </a:pPr>
                      <a:r>
                        <a:rPr lang="it-IT">
                          <a:solidFill>
                            <a:schemeClr val="dk1"/>
                          </a:solidFill>
                        </a:rPr>
                        <a:t>Gaussian</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26.22</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13.11</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0.21</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rtl="0" algn="l">
                        <a:spcBef>
                          <a:spcPts val="0"/>
                        </a:spcBef>
                        <a:spcAft>
                          <a:spcPts val="0"/>
                        </a:spcAft>
                        <a:buClr>
                          <a:schemeClr val="dk1"/>
                        </a:buClr>
                        <a:buSzPts val="1100"/>
                        <a:buFont typeface="Arial"/>
                        <a:buNone/>
                      </a:pPr>
                      <a:r>
                        <a:rPr lang="it-IT">
                          <a:solidFill>
                            <a:schemeClr val="dk1"/>
                          </a:solidFill>
                        </a:rPr>
                        <a:t>0.25</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23.48</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11.74</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0.19</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None/>
                      </a:pPr>
                      <a:r>
                        <a:rPr lang="it-IT">
                          <a:solidFill>
                            <a:srgbClr val="000000"/>
                          </a:solidFill>
                        </a:rPr>
                        <a:t>0.5</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it-IT">
                          <a:solidFill>
                            <a:srgbClr val="000000"/>
                          </a:solidFill>
                        </a:rPr>
                        <a:t>11.56</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it-IT">
                          <a:solidFill>
                            <a:srgbClr val="000000"/>
                          </a:solidFill>
                        </a:rPr>
                        <a:t>5.78</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it-IT">
                          <a:solidFill>
                            <a:srgbClr val="000000"/>
                          </a:solidFill>
                        </a:rPr>
                        <a:t>0.10</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r>
              <a:tr h="266675">
                <a:tc vMerge="1"/>
                <a:tc>
                  <a:txBody>
                    <a:bodyPr/>
                    <a:lstStyle/>
                    <a:p>
                      <a:pPr indent="0" lvl="0" marL="0" rtl="0" algn="l">
                        <a:spcBef>
                          <a:spcPts val="0"/>
                        </a:spcBef>
                        <a:spcAft>
                          <a:spcPts val="0"/>
                        </a:spcAft>
                        <a:buClr>
                          <a:schemeClr val="dk1"/>
                        </a:buClr>
                        <a:buSzPts val="1100"/>
                        <a:buFont typeface="Arial"/>
                        <a:buNone/>
                      </a:pPr>
                      <a:r>
                        <a:rPr lang="it-IT">
                          <a:solidFill>
                            <a:schemeClr val="dk1"/>
                          </a:solidFill>
                        </a:rPr>
                        <a:t>0.75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3.19</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1.59</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0.03</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None/>
                      </a:pPr>
                      <a:r>
                        <a:rPr lang="it-IT">
                          <a:solidFill>
                            <a:srgbClr val="000000"/>
                          </a:solidFill>
                        </a:rPr>
                        <a:t>1.0</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1" lang="it-IT">
                          <a:solidFill>
                            <a:srgbClr val="000000"/>
                          </a:solidFill>
                        </a:rPr>
                        <a:t>79.37</a:t>
                      </a:r>
                      <a:endParaRPr b="1">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it-IT">
                          <a:solidFill>
                            <a:srgbClr val="000000"/>
                          </a:solidFill>
                        </a:rPr>
                        <a:t>39.68</a:t>
                      </a:r>
                      <a:endParaRPr b="1">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lang="it-IT">
                          <a:solidFill>
                            <a:srgbClr val="000000"/>
                          </a:solidFill>
                        </a:rPr>
                        <a:t>0.44</a:t>
                      </a:r>
                      <a:endParaRPr b="1">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rgbClr val="FFFFFF"/>
                    </a:solidFill>
                  </a:tcPr>
                </a:tc>
              </a:tr>
              <a:tr h="290475">
                <a:tc rowSpan="5">
                  <a:txBody>
                    <a:bodyPr/>
                    <a:lstStyle/>
                    <a:p>
                      <a:pPr indent="0" lvl="0" marL="0" rtl="0" algn="l">
                        <a:spcBef>
                          <a:spcPts val="0"/>
                        </a:spcBef>
                        <a:spcAft>
                          <a:spcPts val="0"/>
                        </a:spcAft>
                        <a:buNone/>
                      </a:pPr>
                      <a:r>
                        <a:rPr lang="it-IT">
                          <a:solidFill>
                            <a:schemeClr val="dk1"/>
                          </a:solidFill>
                        </a:rPr>
                        <a:t>RFI</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Font typeface="Arial"/>
                        <a:buNone/>
                      </a:pPr>
                      <a:r>
                        <a:rPr lang="it-IT">
                          <a:solidFill>
                            <a:srgbClr val="000000"/>
                          </a:solidFill>
                        </a:rPr>
                        <a:t>0.1</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rtl="0" algn="l">
                        <a:spcBef>
                          <a:spcPts val="0"/>
                        </a:spcBef>
                        <a:spcAft>
                          <a:spcPts val="0"/>
                        </a:spcAft>
                        <a:buNone/>
                      </a:pPr>
                      <a:r>
                        <a:rPr lang="it-IT"/>
                        <a:t>30.04</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rtl="0" algn="l">
                        <a:spcBef>
                          <a:spcPts val="0"/>
                        </a:spcBef>
                        <a:spcAft>
                          <a:spcPts val="0"/>
                        </a:spcAft>
                        <a:buNone/>
                      </a:pPr>
                      <a:r>
                        <a:rPr lang="it-IT"/>
                        <a:t>15.02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marR="0" rtl="0" algn="l">
                        <a:spcBef>
                          <a:spcPts val="0"/>
                        </a:spcBef>
                        <a:spcAft>
                          <a:spcPts val="0"/>
                        </a:spcAft>
                        <a:buNone/>
                      </a:pPr>
                      <a:r>
                        <a:rPr lang="it-IT">
                          <a:solidFill>
                            <a:srgbClr val="000000"/>
                          </a:solidFill>
                        </a:rPr>
                        <a:t>0.23</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r>
              <a:tr h="290475">
                <a:tc vMerge="1"/>
                <a:tc>
                  <a:txBody>
                    <a:bodyPr/>
                    <a:lstStyle/>
                    <a:p>
                      <a:pPr indent="0" lvl="0" marL="0" rtl="0" algn="l">
                        <a:spcBef>
                          <a:spcPts val="0"/>
                        </a:spcBef>
                        <a:spcAft>
                          <a:spcPts val="0"/>
                        </a:spcAft>
                        <a:buClr>
                          <a:schemeClr val="dk1"/>
                        </a:buClr>
                        <a:buSzPts val="1100"/>
                        <a:buFont typeface="Arial"/>
                        <a:buNone/>
                      </a:pPr>
                      <a:r>
                        <a:rPr lang="it-IT">
                          <a:solidFill>
                            <a:schemeClr val="dk1"/>
                          </a:solidFill>
                        </a:rPr>
                        <a:t>0.25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25.41</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12.70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0.42</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marR="0" rtl="0" algn="l">
                        <a:lnSpc>
                          <a:spcPct val="100000"/>
                        </a:lnSpc>
                        <a:spcBef>
                          <a:spcPts val="0"/>
                        </a:spcBef>
                        <a:spcAft>
                          <a:spcPts val="0"/>
                        </a:spcAft>
                        <a:buNone/>
                      </a:pPr>
                      <a:r>
                        <a:rPr lang="it-IT">
                          <a:solidFill>
                            <a:srgbClr val="000000"/>
                          </a:solidFill>
                        </a:rPr>
                        <a:t>0.5</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marR="0" rtl="0" algn="l">
                        <a:lnSpc>
                          <a:spcPct val="100000"/>
                        </a:lnSpc>
                        <a:spcBef>
                          <a:spcPts val="0"/>
                        </a:spcBef>
                        <a:spcAft>
                          <a:spcPts val="0"/>
                        </a:spcAft>
                        <a:buNone/>
                      </a:pPr>
                      <a:r>
                        <a:rPr lang="it-IT">
                          <a:solidFill>
                            <a:srgbClr val="000000"/>
                          </a:solidFill>
                        </a:rPr>
                        <a:t>33.89</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marR="0" rtl="0" algn="l">
                        <a:spcBef>
                          <a:spcPts val="0"/>
                        </a:spcBef>
                        <a:spcAft>
                          <a:spcPts val="0"/>
                        </a:spcAft>
                        <a:buNone/>
                      </a:pPr>
                      <a:r>
                        <a:rPr lang="it-IT">
                          <a:solidFill>
                            <a:srgbClr val="000000"/>
                          </a:solidFill>
                        </a:rPr>
                        <a:t>19.94</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marR="0" rtl="0" algn="l">
                        <a:spcBef>
                          <a:spcPts val="0"/>
                        </a:spcBef>
                        <a:spcAft>
                          <a:spcPts val="0"/>
                        </a:spcAft>
                        <a:buNone/>
                      </a:pPr>
                      <a:r>
                        <a:rPr lang="it-IT">
                          <a:solidFill>
                            <a:srgbClr val="000000"/>
                          </a:solidFill>
                        </a:rPr>
                        <a:t>0.25</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r>
              <a:tr h="290475">
                <a:tc vMerge="1"/>
                <a:tc>
                  <a:txBody>
                    <a:bodyPr/>
                    <a:lstStyle/>
                    <a:p>
                      <a:pPr indent="0" lvl="0" marL="0" rtl="0" algn="l">
                        <a:spcBef>
                          <a:spcPts val="0"/>
                        </a:spcBef>
                        <a:spcAft>
                          <a:spcPts val="0"/>
                        </a:spcAft>
                        <a:buClr>
                          <a:schemeClr val="dk1"/>
                        </a:buClr>
                        <a:buSzPts val="1100"/>
                        <a:buFont typeface="Arial"/>
                        <a:buNone/>
                      </a:pPr>
                      <a:r>
                        <a:rPr lang="it-IT">
                          <a:solidFill>
                            <a:schemeClr val="dk1"/>
                          </a:solidFill>
                        </a:rPr>
                        <a:t>0.75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68.74</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34.37</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0.41</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1.0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88.11</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44.06</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0.47</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r>
            </a:tbl>
          </a:graphicData>
        </a:graphic>
      </p:graphicFrame>
    </p:spTree>
  </p:cSld>
  <p:clrMapOvr>
    <a:masterClrMapping/>
  </p:clrMapOvr>
  <p:transition>
    <p:fade/>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bfccae9961_0_163"/>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1" sz="4400">
              <a:solidFill>
                <a:schemeClr val="accent1"/>
              </a:solidFill>
              <a:latin typeface="Century Gothic"/>
              <a:ea typeface="Century Gothic"/>
              <a:cs typeface="Century Gothic"/>
              <a:sym typeface="Century Gothic"/>
            </a:endParaRPr>
          </a:p>
        </p:txBody>
      </p:sp>
      <p:sp>
        <p:nvSpPr>
          <p:cNvPr id="549" name="Google Shape;549;g3bfccae9961_0_163"/>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Clr>
                <a:srgbClr val="000000"/>
              </a:buClr>
              <a:buSzPts val="2700"/>
              <a:buFont typeface="Arial"/>
              <a:buNone/>
            </a:pPr>
            <a:r>
              <a:rPr b="1" i="0" lang="it-IT" sz="2700" u="none" cap="none" strike="noStrike">
                <a:solidFill>
                  <a:schemeClr val="accent3"/>
                </a:solidFill>
                <a:latin typeface="Century Gothic"/>
                <a:ea typeface="Century Gothic"/>
                <a:cs typeface="Century Gothic"/>
                <a:sym typeface="Century Gothic"/>
              </a:rPr>
              <a:t>Convolutional</a:t>
            </a:r>
            <a:r>
              <a:rPr b="1" i="0" lang="it-IT" sz="2700" u="none" cap="none" strike="noStrike">
                <a:solidFill>
                  <a:srgbClr val="00ACA7"/>
                </a:solidFill>
                <a:latin typeface="Century Gothic"/>
                <a:ea typeface="Century Gothic"/>
                <a:cs typeface="Century Gothic"/>
                <a:sym typeface="Century Gothic"/>
              </a:rPr>
              <a:t> spike</a:t>
            </a:r>
            <a:r>
              <a:rPr b="1" i="0" lang="it-IT" sz="2700" u="none" cap="none" strike="noStrike">
                <a:solidFill>
                  <a:schemeClr val="accent3"/>
                </a:solidFill>
                <a:latin typeface="Century Gothic"/>
                <a:ea typeface="Century Gothic"/>
                <a:cs typeface="Century Gothic"/>
                <a:sym typeface="Century Gothic"/>
              </a:rPr>
              <a:t> models results EuroSAT</a:t>
            </a:r>
            <a:endParaRPr b="0" i="0" sz="2700" u="none" cap="none" strike="noStrike">
              <a:solidFill>
                <a:srgbClr val="000000"/>
              </a:solidFill>
              <a:latin typeface="Arial"/>
              <a:ea typeface="Arial"/>
              <a:cs typeface="Arial"/>
              <a:sym typeface="Arial"/>
            </a:endParaRPr>
          </a:p>
        </p:txBody>
      </p:sp>
      <p:sp>
        <p:nvSpPr>
          <p:cNvPr id="550" name="Google Shape;550;g3bfccae9961_0_163"/>
          <p:cNvSpPr txBox="1"/>
          <p:nvPr/>
        </p:nvSpPr>
        <p:spPr>
          <a:xfrm>
            <a:off x="10837325" y="5762375"/>
            <a:ext cx="1221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it-IT" sz="1400" u="none" cap="none" strike="noStrike">
                <a:solidFill>
                  <a:srgbClr val="000000"/>
                </a:solidFill>
                <a:latin typeface="Arial"/>
                <a:ea typeface="Arial"/>
                <a:cs typeface="Arial"/>
                <a:sym typeface="Arial"/>
              </a:rPr>
              <a:t>tau 3.0</a:t>
            </a:r>
            <a:endParaRPr b="0" i="0" sz="1400" u="none" cap="none" strike="noStrike">
              <a:solidFill>
                <a:srgbClr val="000000"/>
              </a:solidFill>
              <a:latin typeface="Arial"/>
              <a:ea typeface="Arial"/>
              <a:cs typeface="Arial"/>
              <a:sym typeface="Arial"/>
            </a:endParaRPr>
          </a:p>
        </p:txBody>
      </p:sp>
      <p:graphicFrame>
        <p:nvGraphicFramePr>
          <p:cNvPr id="551" name="Google Shape;551;g3bfccae9961_0_163"/>
          <p:cNvGraphicFramePr/>
          <p:nvPr/>
        </p:nvGraphicFramePr>
        <p:xfrm>
          <a:off x="1526463" y="1832850"/>
          <a:ext cx="3000000" cy="3000000"/>
        </p:xfrm>
        <a:graphic>
          <a:graphicData uri="http://schemas.openxmlformats.org/drawingml/2006/table">
            <a:tbl>
              <a:tblPr>
                <a:noFill/>
                <a:tableStyleId>{F8B367DF-6231-497F-AC9F-6F7DF9882E19}</a:tableStyleId>
              </a:tblPr>
              <a:tblGrid>
                <a:gridCol w="1102825"/>
                <a:gridCol w="1565150"/>
                <a:gridCol w="1479050"/>
                <a:gridCol w="1698550"/>
                <a:gridCol w="1698550"/>
              </a:tblGrid>
              <a:tr h="372200">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N</a:t>
                      </a:r>
                      <a:r>
                        <a:rPr b="1" lang="it-IT" sz="1400" u="none" cap="none" strike="noStrike">
                          <a:solidFill>
                            <a:schemeClr val="dk1"/>
                          </a:solidFill>
                        </a:rPr>
                        <a:t>oise type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N</a:t>
                      </a:r>
                      <a:r>
                        <a:rPr b="1" lang="it-IT" sz="1400" u="none" cap="none" strike="noStrike">
                          <a:solidFill>
                            <a:schemeClr val="dk1"/>
                          </a:solidFill>
                        </a:rPr>
                        <a:t>oise intensity</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A</a:t>
                      </a:r>
                      <a:r>
                        <a:rPr b="1" lang="it-IT" sz="1400" u="none" cap="none" strike="noStrike">
                          <a:solidFill>
                            <a:schemeClr val="dk1"/>
                          </a:solidFill>
                        </a:rPr>
                        <a:t>ccuracy (%)</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a:solidFill>
                            <a:schemeClr val="dk1"/>
                          </a:solidFill>
                        </a:rPr>
                        <a:t>R</a:t>
                      </a:r>
                      <a:r>
                        <a:rPr b="1" lang="it-IT" sz="1400" u="none" cap="none" strike="noStrike">
                          <a:solidFill>
                            <a:schemeClr val="dk1"/>
                          </a:solidFill>
                        </a:rPr>
                        <a:t>ecall</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F1 score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tcPr>
                </a:tc>
              </a:tr>
              <a:tr h="318675">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None</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0.0</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98.88</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49.44</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0.50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r>
              <a:tr h="290475">
                <a:tc rowSpan="5">
                  <a:txBody>
                    <a:bodyPr/>
                    <a:lstStyle/>
                    <a:p>
                      <a:pPr indent="0" lvl="0" marL="0" rtl="0" algn="l">
                        <a:spcBef>
                          <a:spcPts val="0"/>
                        </a:spcBef>
                        <a:spcAft>
                          <a:spcPts val="0"/>
                        </a:spcAft>
                        <a:buNone/>
                      </a:pPr>
                      <a:r>
                        <a:rPr lang="it-IT">
                          <a:solidFill>
                            <a:schemeClr val="dk1"/>
                          </a:solidFill>
                        </a:rPr>
                        <a:t>Gaussian</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0.00</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100"/>
                        <a:buFont typeface="Arial"/>
                        <a:buNone/>
                      </a:pPr>
                      <a:r>
                        <a:rPr lang="it-IT" sz="1400" u="none" cap="none" strike="noStrike">
                          <a:solidFill>
                            <a:schemeClr val="dk1"/>
                          </a:solidFill>
                        </a:rPr>
                        <a:t>0.00</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0.00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marR="0" rtl="0" algn="l">
                        <a:lnSpc>
                          <a:spcPct val="100000"/>
                        </a:lnSpc>
                        <a:spcBef>
                          <a:spcPts val="0"/>
                        </a:spcBef>
                        <a:spcAft>
                          <a:spcPts val="0"/>
                        </a:spcAft>
                        <a:buClr>
                          <a:schemeClr val="dk1"/>
                        </a:buClr>
                        <a:buSzPts val="1400"/>
                        <a:buFont typeface="Arial"/>
                        <a:buNone/>
                      </a:pPr>
                      <a:r>
                        <a:rPr lang="it-IT" sz="1400" u="none" cap="none" strike="noStrike">
                          <a:solidFill>
                            <a:schemeClr val="dk1"/>
                          </a:solidFill>
                        </a:rPr>
                        <a:t>0.1</a:t>
                      </a:r>
                      <a:endParaRPr b="0" sz="14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0.00</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0.00</a:t>
                      </a:r>
                      <a:endParaRPr sz="14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0.00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None/>
                      </a:pPr>
                      <a:r>
                        <a:rPr lang="it-IT">
                          <a:solidFill>
                            <a:srgbClr val="000000"/>
                          </a:solidFill>
                        </a:rPr>
                        <a:t>0.5</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it-IT"/>
                        <a:t>0.00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it-IT">
                          <a:solidFill>
                            <a:srgbClr val="000000"/>
                          </a:solidFill>
                        </a:rPr>
                        <a:t>0.00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it-IT">
                          <a:solidFill>
                            <a:srgbClr val="000000"/>
                          </a:solidFill>
                        </a:rPr>
                        <a:t>0.00</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FFFFFF"/>
                    </a:solidFill>
                  </a:tcPr>
                </a:tc>
              </a:tr>
              <a:tr h="266675">
                <a:tc vMerge="1"/>
                <a:tc>
                  <a:txBody>
                    <a:bodyPr/>
                    <a:lstStyle/>
                    <a:p>
                      <a:pPr indent="0" lvl="0" marL="0" rtl="0" algn="l">
                        <a:spcBef>
                          <a:spcPts val="0"/>
                        </a:spcBef>
                        <a:spcAft>
                          <a:spcPts val="0"/>
                        </a:spcAft>
                        <a:buClr>
                          <a:schemeClr val="dk1"/>
                        </a:buClr>
                        <a:buSzPts val="1100"/>
                        <a:buFont typeface="Arial"/>
                        <a:buNone/>
                      </a:pPr>
                      <a:r>
                        <a:rPr lang="it-IT">
                          <a:solidFill>
                            <a:schemeClr val="dk1"/>
                          </a:solidFill>
                        </a:rPr>
                        <a:t>0.75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0.00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0.00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0.00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accent1">
                        <a:alpha val="20000"/>
                      </a:schemeClr>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1.0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76.48</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38.24</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0.43</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lt1"/>
                    </a:solidFill>
                  </a:tcPr>
                </a:tc>
              </a:tr>
              <a:tr h="290475">
                <a:tc rowSpan="5">
                  <a:txBody>
                    <a:bodyPr/>
                    <a:lstStyle/>
                    <a:p>
                      <a:pPr indent="0" lvl="0" marL="0" rtl="0" algn="l">
                        <a:spcBef>
                          <a:spcPts val="0"/>
                        </a:spcBef>
                        <a:spcAft>
                          <a:spcPts val="0"/>
                        </a:spcAft>
                        <a:buNone/>
                      </a:pPr>
                      <a:r>
                        <a:rPr lang="it-IT">
                          <a:solidFill>
                            <a:schemeClr val="dk1"/>
                          </a:solidFill>
                        </a:rPr>
                        <a:t>RFI</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Font typeface="Arial"/>
                        <a:buNone/>
                      </a:pPr>
                      <a:r>
                        <a:rPr lang="it-IT">
                          <a:solidFill>
                            <a:srgbClr val="000000"/>
                          </a:solidFill>
                        </a:rPr>
                        <a:t>0.1</a:t>
                      </a:r>
                      <a:endParaRPr b="0" sz="1400" u="none" cap="none" strike="noStrike">
                        <a:solidFill>
                          <a:srgbClr val="000000"/>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rtl="0" algn="l">
                        <a:spcBef>
                          <a:spcPts val="0"/>
                        </a:spcBef>
                        <a:spcAft>
                          <a:spcPts val="0"/>
                        </a:spcAft>
                        <a:buNone/>
                      </a:pPr>
                      <a:r>
                        <a:rPr lang="it-IT"/>
                        <a:t>0.00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678F">
                        <a:alpha val="20000"/>
                      </a:srgbClr>
                    </a:solidFill>
                  </a:tcPr>
                </a:tc>
                <a:tc>
                  <a:txBody>
                    <a:bodyPr/>
                    <a:lstStyle/>
                    <a:p>
                      <a:pPr indent="0" lvl="0" marL="0" rtl="0" algn="l">
                        <a:spcBef>
                          <a:spcPts val="0"/>
                        </a:spcBef>
                        <a:spcAft>
                          <a:spcPts val="0"/>
                        </a:spcAft>
                        <a:buNone/>
                      </a:pPr>
                      <a:r>
                        <a:rPr lang="it-IT"/>
                        <a:t>0.00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678F">
                        <a:alpha val="20000"/>
                      </a:srgbClr>
                    </a:solidFill>
                  </a:tcPr>
                </a:tc>
                <a:tc>
                  <a:txBody>
                    <a:bodyPr/>
                    <a:lstStyle/>
                    <a:p>
                      <a:pPr indent="0" lvl="0" marL="0" marR="0" rtl="0" algn="l">
                        <a:spcBef>
                          <a:spcPts val="0"/>
                        </a:spcBef>
                        <a:spcAft>
                          <a:spcPts val="0"/>
                        </a:spcAft>
                        <a:buNone/>
                      </a:pPr>
                      <a:r>
                        <a:rPr lang="it-IT">
                          <a:solidFill>
                            <a:srgbClr val="000000"/>
                          </a:solidFill>
                        </a:rPr>
                        <a:t>0.00</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r>
              <a:tr h="290475">
                <a:tc vMerge="1"/>
                <a:tc>
                  <a:txBody>
                    <a:bodyPr/>
                    <a:lstStyle/>
                    <a:p>
                      <a:pPr indent="0" lvl="0" marL="0" rtl="0" algn="l">
                        <a:spcBef>
                          <a:spcPts val="0"/>
                        </a:spcBef>
                        <a:spcAft>
                          <a:spcPts val="0"/>
                        </a:spcAft>
                        <a:buClr>
                          <a:schemeClr val="dk1"/>
                        </a:buClr>
                        <a:buSzPts val="1100"/>
                        <a:buFont typeface="Arial"/>
                        <a:buNone/>
                      </a:pPr>
                      <a:r>
                        <a:rPr lang="it-IT">
                          <a:solidFill>
                            <a:schemeClr val="dk1"/>
                          </a:solidFill>
                        </a:rPr>
                        <a:t>0.25</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t>0.00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0.00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0.00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marR="0" rtl="0" algn="l">
                        <a:lnSpc>
                          <a:spcPct val="100000"/>
                        </a:lnSpc>
                        <a:spcBef>
                          <a:spcPts val="0"/>
                        </a:spcBef>
                        <a:spcAft>
                          <a:spcPts val="0"/>
                        </a:spcAft>
                        <a:buNone/>
                      </a:pPr>
                      <a:r>
                        <a:rPr lang="it-IT">
                          <a:solidFill>
                            <a:srgbClr val="000000"/>
                          </a:solidFill>
                        </a:rPr>
                        <a:t>0.5</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c>
                  <a:txBody>
                    <a:bodyPr/>
                    <a:lstStyle/>
                    <a:p>
                      <a:pPr indent="0" lvl="0" marL="0" marR="0" rtl="0" algn="l">
                        <a:lnSpc>
                          <a:spcPct val="100000"/>
                        </a:lnSpc>
                        <a:spcBef>
                          <a:spcPts val="0"/>
                        </a:spcBef>
                        <a:spcAft>
                          <a:spcPts val="0"/>
                        </a:spcAft>
                        <a:buNone/>
                      </a:pPr>
                      <a:r>
                        <a:rPr lang="it-IT"/>
                        <a:t>0.00</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678F">
                        <a:alpha val="20000"/>
                      </a:srgbClr>
                    </a:solidFill>
                  </a:tcPr>
                </a:tc>
                <a:tc>
                  <a:txBody>
                    <a:bodyPr/>
                    <a:lstStyle/>
                    <a:p>
                      <a:pPr indent="0" lvl="0" marL="0" marR="0" rtl="0" algn="l">
                        <a:spcBef>
                          <a:spcPts val="0"/>
                        </a:spcBef>
                        <a:spcAft>
                          <a:spcPts val="0"/>
                        </a:spcAft>
                        <a:buNone/>
                      </a:pPr>
                      <a:r>
                        <a:rPr lang="it-IT"/>
                        <a:t>0.00</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678F">
                        <a:alpha val="20000"/>
                      </a:srgbClr>
                    </a:solidFill>
                  </a:tcPr>
                </a:tc>
                <a:tc>
                  <a:txBody>
                    <a:bodyPr/>
                    <a:lstStyle/>
                    <a:p>
                      <a:pPr indent="0" lvl="0" marL="0" marR="0" rtl="0" algn="l">
                        <a:spcBef>
                          <a:spcPts val="0"/>
                        </a:spcBef>
                        <a:spcAft>
                          <a:spcPts val="0"/>
                        </a:spcAft>
                        <a:buNone/>
                      </a:pPr>
                      <a:r>
                        <a:rPr lang="it-IT">
                          <a:solidFill>
                            <a:srgbClr val="000000"/>
                          </a:solidFill>
                        </a:rPr>
                        <a:t>0.00</a:t>
                      </a:r>
                      <a:endParaRPr>
                        <a:solidFill>
                          <a:srgbClr val="000000"/>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rgbClr val="00678F">
                        <a:alpha val="20000"/>
                      </a:srgbClr>
                    </a:solidFill>
                  </a:tcPr>
                </a:tc>
              </a:tr>
              <a:tr h="290475">
                <a:tc vMerge="1"/>
                <a:tc>
                  <a:txBody>
                    <a:bodyPr/>
                    <a:lstStyle/>
                    <a:p>
                      <a:pPr indent="0" lvl="0" marL="0" rtl="0" algn="l">
                        <a:spcBef>
                          <a:spcPts val="0"/>
                        </a:spcBef>
                        <a:spcAft>
                          <a:spcPts val="0"/>
                        </a:spcAft>
                        <a:buClr>
                          <a:schemeClr val="dk1"/>
                        </a:buClr>
                        <a:buSzPts val="1100"/>
                        <a:buFont typeface="Arial"/>
                        <a:buNone/>
                      </a:pPr>
                      <a:r>
                        <a:rPr lang="it-IT">
                          <a:solidFill>
                            <a:schemeClr val="dk1"/>
                          </a:solidFill>
                        </a:rPr>
                        <a:t>0.75</a:t>
                      </a:r>
                      <a:endParaRPr>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28.37</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14.19</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lang="it-IT">
                          <a:solidFill>
                            <a:schemeClr val="dk1"/>
                          </a:solidFill>
                        </a:rPr>
                        <a:t>0.22</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12225">
                      <a:solidFill>
                        <a:srgbClr val="00678F">
                          <a:alpha val="0"/>
                        </a:srgbClr>
                      </a:solidFill>
                      <a:prstDash val="solid"/>
                      <a:round/>
                      <a:headEnd len="sm" w="sm" type="none"/>
                      <a:tailEnd len="sm" w="sm" type="none"/>
                    </a:lnB>
                    <a:solidFill>
                      <a:schemeClr val="lt1"/>
                    </a:solidFill>
                  </a:tcPr>
                </a:tc>
              </a:tr>
              <a:tr h="290475">
                <a:tc vMerge="1"/>
                <a:tc>
                  <a:txBody>
                    <a:bodyPr/>
                    <a:lstStyle/>
                    <a:p>
                      <a:pPr indent="0" lvl="0" marL="0" marR="0" rtl="0" algn="l">
                        <a:lnSpc>
                          <a:spcPct val="100000"/>
                        </a:lnSpc>
                        <a:spcBef>
                          <a:spcPts val="0"/>
                        </a:spcBef>
                        <a:spcAft>
                          <a:spcPts val="0"/>
                        </a:spcAft>
                        <a:buClr>
                          <a:srgbClr val="000000"/>
                        </a:buClr>
                        <a:buSzPts val="1400"/>
                        <a:buFont typeface="Arial"/>
                        <a:buNone/>
                      </a:pPr>
                      <a:r>
                        <a:rPr lang="it-IT" sz="1400" u="none" cap="none" strike="noStrike">
                          <a:solidFill>
                            <a:schemeClr val="dk1"/>
                          </a:solidFill>
                        </a:rPr>
                        <a:t>1.0</a:t>
                      </a:r>
                      <a:endParaRPr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72.30</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36.15</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it-IT" sz="1400" u="none" cap="none" strike="noStrike">
                          <a:solidFill>
                            <a:schemeClr val="dk1"/>
                          </a:solidFill>
                        </a:rPr>
                        <a:t>0.42</a:t>
                      </a:r>
                      <a:endParaRPr b="1" sz="1400" u="none" cap="none" strike="noStrike">
                        <a:solidFill>
                          <a:schemeClr val="dk1"/>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225">
                      <a:solidFill>
                        <a:srgbClr val="00678F">
                          <a:alpha val="0"/>
                        </a:srgbClr>
                      </a:solidFill>
                      <a:prstDash val="solid"/>
                      <a:round/>
                      <a:headEnd len="sm" w="sm" type="none"/>
                      <a:tailEnd len="sm" w="sm" type="none"/>
                    </a:lnT>
                    <a:lnB cap="flat" cmpd="sng" w="9525">
                      <a:solidFill>
                        <a:srgbClr val="00678F"/>
                      </a:solidFill>
                      <a:prstDash val="solid"/>
                      <a:round/>
                      <a:headEnd len="sm" w="sm" type="none"/>
                      <a:tailEnd len="sm" w="sm" type="none"/>
                    </a:lnB>
                    <a:solidFill>
                      <a:schemeClr val="accent1">
                        <a:alpha val="20000"/>
                      </a:schemeClr>
                    </a:solidFill>
                  </a:tcPr>
                </a:tc>
              </a:tr>
            </a:tbl>
          </a:graphicData>
        </a:graphic>
      </p:graphicFrame>
    </p:spTree>
  </p:cSld>
  <p:clrMapOvr>
    <a:masterClrMapping/>
  </p:clrMapOvr>
  <p:transition>
    <p:fade/>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g3ce9a862a02_0_0"/>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558" name="Google Shape;558;g3ce9a862a02_0_0"/>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rtl="0" algn="l">
              <a:lnSpc>
                <a:spcPct val="90000"/>
              </a:lnSpc>
              <a:spcBef>
                <a:spcPts val="0"/>
              </a:spcBef>
              <a:spcAft>
                <a:spcPts val="0"/>
              </a:spcAft>
              <a:buClr>
                <a:schemeClr val="dk1"/>
              </a:buClr>
              <a:buFont typeface="Arial"/>
              <a:buNone/>
            </a:pPr>
            <a:r>
              <a:rPr b="1" lang="it-IT" sz="2700">
                <a:solidFill>
                  <a:schemeClr val="accent3"/>
                </a:solidFill>
                <a:latin typeface="Century Gothic"/>
                <a:ea typeface="Century Gothic"/>
                <a:cs typeface="Century Gothic"/>
                <a:sym typeface="Century Gothic"/>
              </a:rPr>
              <a:t>Results VAE line magnitude only  </a:t>
            </a:r>
            <a:endParaRPr b="0" i="0" sz="2700" u="none" cap="none" strike="noStrike">
              <a:solidFill>
                <a:srgbClr val="000000"/>
              </a:solidFill>
              <a:latin typeface="Arial"/>
              <a:ea typeface="Arial"/>
              <a:cs typeface="Arial"/>
              <a:sym typeface="Arial"/>
            </a:endParaRPr>
          </a:p>
        </p:txBody>
      </p:sp>
      <p:pic>
        <p:nvPicPr>
          <p:cNvPr id="559" name="Google Shape;559;g3ce9a862a02_0_0" title="spikes_dist_normal SAR_vs_RFI injected1.png"/>
          <p:cNvPicPr preferRelativeResize="0"/>
          <p:nvPr/>
        </p:nvPicPr>
        <p:blipFill>
          <a:blip r:embed="rId3">
            <a:alphaModFix/>
          </a:blip>
          <a:stretch>
            <a:fillRect/>
          </a:stretch>
        </p:blipFill>
        <p:spPr>
          <a:xfrm>
            <a:off x="624800" y="2055476"/>
            <a:ext cx="4655776" cy="3463251"/>
          </a:xfrm>
          <a:prstGeom prst="rect">
            <a:avLst/>
          </a:prstGeom>
          <a:noFill/>
          <a:ln>
            <a:noFill/>
          </a:ln>
        </p:spPr>
      </p:pic>
      <p:sp>
        <p:nvSpPr>
          <p:cNvPr id="560" name="Google Shape;560;g3ce9a862a02_0_0"/>
          <p:cNvSpPr/>
          <p:nvPr/>
        </p:nvSpPr>
        <p:spPr>
          <a:xfrm>
            <a:off x="9349250" y="311750"/>
            <a:ext cx="2360700" cy="1220700"/>
          </a:xfrm>
          <a:prstGeom prst="rect">
            <a:avLst/>
          </a:prstGeom>
          <a:noFill/>
          <a:ln>
            <a:noFill/>
          </a:ln>
        </p:spPr>
        <p:txBody>
          <a:bodyPr anchorCtr="0" anchor="t" bIns="91425" lIns="90000" spcFirstLastPara="1" rIns="90000" wrap="square" tIns="91425">
            <a:noAutofit/>
          </a:bodyPr>
          <a:lstStyle/>
          <a:p>
            <a:pPr indent="0" lvl="0" marL="0" rtl="0" algn="l">
              <a:lnSpc>
                <a:spcPct val="90000"/>
              </a:lnSpc>
              <a:spcBef>
                <a:spcPts val="0"/>
              </a:spcBef>
              <a:spcAft>
                <a:spcPts val="0"/>
              </a:spcAft>
              <a:buClr>
                <a:schemeClr val="dk1"/>
              </a:buClr>
              <a:buFont typeface="Arial"/>
              <a:buNone/>
            </a:pPr>
            <a:r>
              <a:rPr b="1" lang="it-IT" sz="1500">
                <a:solidFill>
                  <a:schemeClr val="dk1"/>
                </a:solidFill>
                <a:latin typeface="Century Gothic"/>
                <a:ea typeface="Century Gothic"/>
                <a:cs typeface="Century Gothic"/>
                <a:sym typeface="Century Gothic"/>
              </a:rPr>
              <a:t>kld echo 0.8</a:t>
            </a:r>
            <a:endParaRPr b="1" sz="1500">
              <a:solidFill>
                <a:schemeClr val="dk1"/>
              </a:solidFill>
              <a:latin typeface="Century Gothic"/>
              <a:ea typeface="Century Gothic"/>
              <a:cs typeface="Century Gothic"/>
              <a:sym typeface="Century Gothic"/>
            </a:endParaRPr>
          </a:p>
          <a:p>
            <a:pPr indent="0" lvl="0" marL="0" rtl="0" algn="l">
              <a:lnSpc>
                <a:spcPct val="90000"/>
              </a:lnSpc>
              <a:spcBef>
                <a:spcPts val="0"/>
              </a:spcBef>
              <a:spcAft>
                <a:spcPts val="0"/>
              </a:spcAft>
              <a:buClr>
                <a:schemeClr val="dk1"/>
              </a:buClr>
              <a:buFont typeface="Arial"/>
              <a:buNone/>
            </a:pPr>
            <a:r>
              <a:t/>
            </a:r>
            <a:endParaRPr b="1" sz="1500">
              <a:solidFill>
                <a:schemeClr val="dk1"/>
              </a:solidFill>
              <a:latin typeface="Century Gothic"/>
              <a:ea typeface="Century Gothic"/>
              <a:cs typeface="Century Gothic"/>
              <a:sym typeface="Century Gothic"/>
            </a:endParaRPr>
          </a:p>
          <a:p>
            <a:pPr indent="0" lvl="0" marL="0" rtl="0" algn="l">
              <a:lnSpc>
                <a:spcPct val="90000"/>
              </a:lnSpc>
              <a:spcBef>
                <a:spcPts val="0"/>
              </a:spcBef>
              <a:spcAft>
                <a:spcPts val="0"/>
              </a:spcAft>
              <a:buClr>
                <a:schemeClr val="dk1"/>
              </a:buClr>
              <a:buFont typeface="Arial"/>
              <a:buNone/>
            </a:pPr>
            <a:r>
              <a:rPr b="1" lang="it-IT" sz="1500">
                <a:solidFill>
                  <a:schemeClr val="dk1"/>
                </a:solidFill>
                <a:latin typeface="Century Gothic"/>
                <a:ea typeface="Century Gothic"/>
                <a:cs typeface="Century Gothic"/>
                <a:sym typeface="Century Gothic"/>
              </a:rPr>
              <a:t>kld RFI 0.79</a:t>
            </a:r>
            <a:endParaRPr b="1" sz="1500">
              <a:solidFill>
                <a:schemeClr val="dk1"/>
              </a:solidFill>
              <a:latin typeface="Century Gothic"/>
              <a:ea typeface="Century Gothic"/>
              <a:cs typeface="Century Gothic"/>
              <a:sym typeface="Century Gothic"/>
            </a:endParaRPr>
          </a:p>
          <a:p>
            <a:pPr indent="0" lvl="0" marL="0" rtl="0" algn="l">
              <a:lnSpc>
                <a:spcPct val="90000"/>
              </a:lnSpc>
              <a:spcBef>
                <a:spcPts val="0"/>
              </a:spcBef>
              <a:spcAft>
                <a:spcPts val="0"/>
              </a:spcAft>
              <a:buClr>
                <a:schemeClr val="dk1"/>
              </a:buClr>
              <a:buFont typeface="Arial"/>
              <a:buNone/>
            </a:pPr>
            <a:r>
              <a:t/>
            </a:r>
            <a:endParaRPr b="1" sz="1500">
              <a:solidFill>
                <a:schemeClr val="dk1"/>
              </a:solidFill>
              <a:latin typeface="Century Gothic"/>
              <a:ea typeface="Century Gothic"/>
              <a:cs typeface="Century Gothic"/>
              <a:sym typeface="Century Gothic"/>
            </a:endParaRPr>
          </a:p>
          <a:p>
            <a:pPr indent="0" lvl="0" marL="0" rtl="0" algn="l">
              <a:lnSpc>
                <a:spcPct val="90000"/>
              </a:lnSpc>
              <a:spcBef>
                <a:spcPts val="0"/>
              </a:spcBef>
              <a:spcAft>
                <a:spcPts val="0"/>
              </a:spcAft>
              <a:buClr>
                <a:schemeClr val="dk1"/>
              </a:buClr>
              <a:buFont typeface="Arial"/>
              <a:buNone/>
            </a:pPr>
            <a:r>
              <a:rPr b="1" lang="it-IT" sz="1500">
                <a:solidFill>
                  <a:schemeClr val="dk1"/>
                </a:solidFill>
                <a:latin typeface="Century Gothic"/>
                <a:ea typeface="Century Gothic"/>
                <a:cs typeface="Century Gothic"/>
                <a:sym typeface="Century Gothic"/>
              </a:rPr>
              <a:t>tau 30 100% accuracy</a:t>
            </a:r>
            <a:endParaRPr b="1" sz="1500">
              <a:solidFill>
                <a:schemeClr val="dk1"/>
              </a:solidFill>
              <a:latin typeface="Century Gothic"/>
              <a:ea typeface="Century Gothic"/>
              <a:cs typeface="Century Gothic"/>
              <a:sym typeface="Century Gothic"/>
            </a:endParaRPr>
          </a:p>
        </p:txBody>
      </p:sp>
      <p:pic>
        <p:nvPicPr>
          <p:cNvPr id="561" name="Google Shape;561;g3ce9a862a02_0_0" title="spikes_dist_normal SAR_vs_RFI injected1.png"/>
          <p:cNvPicPr preferRelativeResize="0"/>
          <p:nvPr/>
        </p:nvPicPr>
        <p:blipFill>
          <a:blip r:embed="rId4">
            <a:alphaModFix/>
          </a:blip>
          <a:stretch>
            <a:fillRect/>
          </a:stretch>
        </p:blipFill>
        <p:spPr>
          <a:xfrm>
            <a:off x="6011300" y="1969375"/>
            <a:ext cx="4655776" cy="3465973"/>
          </a:xfrm>
          <a:prstGeom prst="rect">
            <a:avLst/>
          </a:prstGeom>
          <a:noFill/>
          <a:ln>
            <a:noFill/>
          </a:ln>
        </p:spPr>
      </p:pic>
      <p:sp>
        <p:nvSpPr>
          <p:cNvPr id="562" name="Google Shape;562;g3ce9a862a02_0_0"/>
          <p:cNvSpPr/>
          <p:nvPr/>
        </p:nvSpPr>
        <p:spPr>
          <a:xfrm>
            <a:off x="2145400" y="5494475"/>
            <a:ext cx="3051000" cy="388800"/>
          </a:xfrm>
          <a:prstGeom prst="rect">
            <a:avLst/>
          </a:prstGeom>
          <a:noFill/>
          <a:ln>
            <a:noFill/>
          </a:ln>
        </p:spPr>
        <p:txBody>
          <a:bodyPr anchorCtr="0" anchor="t" bIns="91425" lIns="90000" spcFirstLastPara="1" rIns="90000" wrap="square" tIns="91425">
            <a:noAutofit/>
          </a:bodyPr>
          <a:lstStyle/>
          <a:p>
            <a:pPr indent="0" lvl="0" marL="0" rtl="0" algn="l">
              <a:lnSpc>
                <a:spcPct val="90000"/>
              </a:lnSpc>
              <a:spcBef>
                <a:spcPts val="0"/>
              </a:spcBef>
              <a:spcAft>
                <a:spcPts val="0"/>
              </a:spcAft>
              <a:buClr>
                <a:schemeClr val="dk1"/>
              </a:buClr>
              <a:buFont typeface="Arial"/>
              <a:buNone/>
            </a:pPr>
            <a:r>
              <a:rPr b="1" lang="it-IT" sz="1500">
                <a:solidFill>
                  <a:schemeClr val="dk1"/>
                </a:solidFill>
                <a:latin typeface="Century Gothic"/>
                <a:ea typeface="Century Gothic"/>
                <a:cs typeface="Century Gothic"/>
                <a:sym typeface="Century Gothic"/>
              </a:rPr>
              <a:t>histplot</a:t>
            </a:r>
            <a:endParaRPr b="1" sz="1500">
              <a:solidFill>
                <a:schemeClr val="dk1"/>
              </a:solidFill>
              <a:latin typeface="Century Gothic"/>
              <a:ea typeface="Century Gothic"/>
              <a:cs typeface="Century Gothic"/>
              <a:sym typeface="Century Gothic"/>
            </a:endParaRPr>
          </a:p>
          <a:p>
            <a:pPr indent="0" lvl="0" marL="0" rtl="0" algn="l">
              <a:lnSpc>
                <a:spcPct val="90000"/>
              </a:lnSpc>
              <a:spcBef>
                <a:spcPts val="0"/>
              </a:spcBef>
              <a:spcAft>
                <a:spcPts val="0"/>
              </a:spcAft>
              <a:buClr>
                <a:schemeClr val="dk1"/>
              </a:buClr>
              <a:buFont typeface="Arial"/>
              <a:buNone/>
            </a:pPr>
            <a:r>
              <a:t/>
            </a:r>
            <a:endParaRPr b="1" sz="1500">
              <a:solidFill>
                <a:schemeClr val="dk1"/>
              </a:solidFill>
              <a:latin typeface="Century Gothic"/>
              <a:ea typeface="Century Gothic"/>
              <a:cs typeface="Century Gothic"/>
              <a:sym typeface="Century Gothic"/>
            </a:endParaRPr>
          </a:p>
        </p:txBody>
      </p:sp>
      <p:sp>
        <p:nvSpPr>
          <p:cNvPr id="563" name="Google Shape;563;g3ce9a862a02_0_0"/>
          <p:cNvSpPr/>
          <p:nvPr/>
        </p:nvSpPr>
        <p:spPr>
          <a:xfrm>
            <a:off x="7180825" y="5494475"/>
            <a:ext cx="3051000" cy="388800"/>
          </a:xfrm>
          <a:prstGeom prst="rect">
            <a:avLst/>
          </a:prstGeom>
          <a:noFill/>
          <a:ln>
            <a:noFill/>
          </a:ln>
        </p:spPr>
        <p:txBody>
          <a:bodyPr anchorCtr="0" anchor="t" bIns="91425" lIns="90000" spcFirstLastPara="1" rIns="90000" wrap="square" tIns="91425">
            <a:noAutofit/>
          </a:bodyPr>
          <a:lstStyle/>
          <a:p>
            <a:pPr indent="0" lvl="0" marL="0" rtl="0" algn="l">
              <a:lnSpc>
                <a:spcPct val="90000"/>
              </a:lnSpc>
              <a:spcBef>
                <a:spcPts val="0"/>
              </a:spcBef>
              <a:spcAft>
                <a:spcPts val="0"/>
              </a:spcAft>
              <a:buClr>
                <a:schemeClr val="dk1"/>
              </a:buClr>
              <a:buFont typeface="Arial"/>
              <a:buNone/>
            </a:pPr>
            <a:r>
              <a:rPr b="1" lang="it-IT" sz="1500">
                <a:solidFill>
                  <a:schemeClr val="dk1"/>
                </a:solidFill>
                <a:latin typeface="Century Gothic"/>
                <a:ea typeface="Century Gothic"/>
                <a:cs typeface="Century Gothic"/>
                <a:sym typeface="Century Gothic"/>
              </a:rPr>
              <a:t>kdeplot</a:t>
            </a:r>
            <a:endParaRPr b="1" sz="1500">
              <a:solidFill>
                <a:schemeClr val="dk1"/>
              </a:solidFill>
              <a:latin typeface="Century Gothic"/>
              <a:ea typeface="Century Gothic"/>
              <a:cs typeface="Century Gothic"/>
              <a:sym typeface="Century Gothic"/>
            </a:endParaRPr>
          </a:p>
          <a:p>
            <a:pPr indent="0" lvl="0" marL="0" rtl="0" algn="l">
              <a:lnSpc>
                <a:spcPct val="90000"/>
              </a:lnSpc>
              <a:spcBef>
                <a:spcPts val="0"/>
              </a:spcBef>
              <a:spcAft>
                <a:spcPts val="0"/>
              </a:spcAft>
              <a:buClr>
                <a:schemeClr val="dk1"/>
              </a:buClr>
              <a:buFont typeface="Arial"/>
              <a:buNone/>
            </a:pPr>
            <a:r>
              <a:t/>
            </a:r>
            <a:endParaRPr b="1" sz="1500">
              <a:solidFill>
                <a:schemeClr val="dk1"/>
              </a:solidFill>
              <a:latin typeface="Century Gothic"/>
              <a:ea typeface="Century Gothic"/>
              <a:cs typeface="Century Gothic"/>
              <a:sym typeface="Century Gothic"/>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g3cf04a81d9e_0_3"/>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dk2"/>
              </a:buClr>
              <a:buSzPts val="4400"/>
              <a:buFont typeface="Century Gothic"/>
              <a:buNone/>
            </a:pPr>
            <a:r>
              <a:rPr b="1" lang="it-IT" sz="4400">
                <a:solidFill>
                  <a:schemeClr val="dk2"/>
                </a:solidFill>
                <a:latin typeface="Century Gothic"/>
                <a:ea typeface="Century Gothic"/>
                <a:cs typeface="Century Gothic"/>
                <a:sym typeface="Century Gothic"/>
              </a:rPr>
              <a:t>Energy bridge hypothesis</a:t>
            </a:r>
            <a:endParaRPr b="0" sz="4400" u="none" strike="noStrike">
              <a:solidFill>
                <a:srgbClr val="000000"/>
              </a:solidFill>
              <a:latin typeface="Arial"/>
              <a:ea typeface="Arial"/>
              <a:cs typeface="Arial"/>
              <a:sym typeface="Arial"/>
            </a:endParaRPr>
          </a:p>
        </p:txBody>
      </p:sp>
      <p:sp>
        <p:nvSpPr>
          <p:cNvPr id="570" name="Google Shape;570;g3cf04a81d9e_0_3"/>
          <p:cNvSpPr/>
          <p:nvPr/>
        </p:nvSpPr>
        <p:spPr>
          <a:xfrm>
            <a:off x="331655" y="922810"/>
            <a:ext cx="11275800" cy="579300"/>
          </a:xfrm>
          <a:prstGeom prst="rect">
            <a:avLst/>
          </a:prstGeom>
          <a:noFill/>
          <a:ln>
            <a:noFill/>
          </a:ln>
        </p:spPr>
        <p:txBody>
          <a:bodyPr anchorCtr="0" anchor="t" bIns="91425" lIns="90000" spcFirstLastPara="1" rIns="90000" wrap="square" tIns="91425">
            <a:noAutofit/>
          </a:bodyPr>
          <a:lstStyle/>
          <a:p>
            <a:pPr indent="0" lvl="0" marL="0" rtl="0" algn="l">
              <a:lnSpc>
                <a:spcPct val="90000"/>
              </a:lnSpc>
              <a:spcBef>
                <a:spcPts val="0"/>
              </a:spcBef>
              <a:spcAft>
                <a:spcPts val="0"/>
              </a:spcAft>
              <a:buClr>
                <a:schemeClr val="dk1"/>
              </a:buClr>
              <a:buFont typeface="Arial"/>
              <a:buNone/>
            </a:pPr>
            <a:r>
              <a:rPr b="1" lang="it-IT" sz="2700">
                <a:solidFill>
                  <a:schemeClr val="accent3"/>
                </a:solidFill>
                <a:latin typeface="Century Gothic"/>
                <a:ea typeface="Century Gothic"/>
                <a:cs typeface="Century Gothic"/>
                <a:sym typeface="Century Gothic"/>
              </a:rPr>
              <a:t>Results VAE line magnitude only  </a:t>
            </a:r>
            <a:endParaRPr b="0" i="0" sz="2700" u="none" cap="none" strike="noStrike">
              <a:solidFill>
                <a:srgbClr val="000000"/>
              </a:solidFill>
              <a:latin typeface="Arial"/>
              <a:ea typeface="Arial"/>
              <a:cs typeface="Arial"/>
              <a:sym typeface="Arial"/>
            </a:endParaRPr>
          </a:p>
        </p:txBody>
      </p:sp>
      <p:sp>
        <p:nvSpPr>
          <p:cNvPr id="571" name="Google Shape;571;g3cf04a81d9e_0_3"/>
          <p:cNvSpPr/>
          <p:nvPr/>
        </p:nvSpPr>
        <p:spPr>
          <a:xfrm>
            <a:off x="7477425" y="357050"/>
            <a:ext cx="2044800" cy="1535100"/>
          </a:xfrm>
          <a:prstGeom prst="rect">
            <a:avLst/>
          </a:prstGeom>
          <a:noFill/>
          <a:ln>
            <a:noFill/>
          </a:ln>
        </p:spPr>
        <p:txBody>
          <a:bodyPr anchorCtr="0" anchor="t" bIns="91425" lIns="90000" spcFirstLastPara="1" rIns="90000" wrap="square" tIns="91425">
            <a:noAutofit/>
          </a:bodyPr>
          <a:lstStyle/>
          <a:p>
            <a:pPr indent="0" lvl="0" marL="0" rtl="0" algn="l">
              <a:lnSpc>
                <a:spcPct val="90000"/>
              </a:lnSpc>
              <a:spcBef>
                <a:spcPts val="0"/>
              </a:spcBef>
              <a:spcAft>
                <a:spcPts val="0"/>
              </a:spcAft>
              <a:buClr>
                <a:schemeClr val="dk1"/>
              </a:buClr>
              <a:buFont typeface="Arial"/>
              <a:buNone/>
            </a:pPr>
            <a:r>
              <a:rPr b="1" lang="it-IT" sz="1500">
                <a:solidFill>
                  <a:schemeClr val="dk1"/>
                </a:solidFill>
                <a:latin typeface="Century Gothic"/>
                <a:ea typeface="Century Gothic"/>
                <a:cs typeface="Century Gothic"/>
                <a:sym typeface="Century Gothic"/>
              </a:rPr>
              <a:t>kld echo 53.14 </a:t>
            </a:r>
            <a:endParaRPr b="1" sz="1500">
              <a:solidFill>
                <a:schemeClr val="dk1"/>
              </a:solidFill>
              <a:latin typeface="Century Gothic"/>
              <a:ea typeface="Century Gothic"/>
              <a:cs typeface="Century Gothic"/>
              <a:sym typeface="Century Gothic"/>
            </a:endParaRPr>
          </a:p>
          <a:p>
            <a:pPr indent="0" lvl="0" marL="0" rtl="0" algn="l">
              <a:lnSpc>
                <a:spcPct val="90000"/>
              </a:lnSpc>
              <a:spcBef>
                <a:spcPts val="0"/>
              </a:spcBef>
              <a:spcAft>
                <a:spcPts val="0"/>
              </a:spcAft>
              <a:buClr>
                <a:schemeClr val="dk1"/>
              </a:buClr>
              <a:buFont typeface="Arial"/>
              <a:buNone/>
            </a:pPr>
            <a:r>
              <a:t/>
            </a:r>
            <a:endParaRPr b="1" sz="1500">
              <a:solidFill>
                <a:schemeClr val="dk1"/>
              </a:solidFill>
              <a:latin typeface="Century Gothic"/>
              <a:ea typeface="Century Gothic"/>
              <a:cs typeface="Century Gothic"/>
              <a:sym typeface="Century Gothic"/>
            </a:endParaRPr>
          </a:p>
          <a:p>
            <a:pPr indent="0" lvl="0" marL="0" rtl="0" algn="l">
              <a:lnSpc>
                <a:spcPct val="90000"/>
              </a:lnSpc>
              <a:spcBef>
                <a:spcPts val="0"/>
              </a:spcBef>
              <a:spcAft>
                <a:spcPts val="0"/>
              </a:spcAft>
              <a:buClr>
                <a:schemeClr val="dk1"/>
              </a:buClr>
              <a:buFont typeface="Arial"/>
              <a:buNone/>
            </a:pPr>
            <a:r>
              <a:rPr b="1" lang="it-IT" sz="1500">
                <a:solidFill>
                  <a:schemeClr val="dk1"/>
                </a:solidFill>
                <a:latin typeface="Century Gothic"/>
                <a:ea typeface="Century Gothic"/>
                <a:cs typeface="Century Gothic"/>
                <a:sym typeface="Century Gothic"/>
              </a:rPr>
              <a:t>kld RFI 52.92</a:t>
            </a:r>
            <a:endParaRPr b="1" sz="1500">
              <a:solidFill>
                <a:schemeClr val="dk1"/>
              </a:solidFill>
              <a:latin typeface="Century Gothic"/>
              <a:ea typeface="Century Gothic"/>
              <a:cs typeface="Century Gothic"/>
              <a:sym typeface="Century Gothic"/>
            </a:endParaRPr>
          </a:p>
          <a:p>
            <a:pPr indent="0" lvl="0" marL="0" rtl="0" algn="l">
              <a:lnSpc>
                <a:spcPct val="90000"/>
              </a:lnSpc>
              <a:spcBef>
                <a:spcPts val="0"/>
              </a:spcBef>
              <a:spcAft>
                <a:spcPts val="0"/>
              </a:spcAft>
              <a:buClr>
                <a:schemeClr val="dk1"/>
              </a:buClr>
              <a:buFont typeface="Arial"/>
              <a:buNone/>
            </a:pPr>
            <a:r>
              <a:t/>
            </a:r>
            <a:endParaRPr b="1" sz="1500">
              <a:solidFill>
                <a:schemeClr val="dk1"/>
              </a:solidFill>
              <a:latin typeface="Century Gothic"/>
              <a:ea typeface="Century Gothic"/>
              <a:cs typeface="Century Gothic"/>
              <a:sym typeface="Century Gothic"/>
            </a:endParaRPr>
          </a:p>
          <a:p>
            <a:pPr indent="0" lvl="0" marL="0" rtl="0" algn="l">
              <a:lnSpc>
                <a:spcPct val="90000"/>
              </a:lnSpc>
              <a:spcBef>
                <a:spcPts val="0"/>
              </a:spcBef>
              <a:spcAft>
                <a:spcPts val="0"/>
              </a:spcAft>
              <a:buClr>
                <a:schemeClr val="dk1"/>
              </a:buClr>
              <a:buFont typeface="Arial"/>
              <a:buNone/>
            </a:pPr>
            <a:r>
              <a:rPr b="1" lang="it-IT" sz="1500">
                <a:solidFill>
                  <a:schemeClr val="dk1"/>
                </a:solidFill>
                <a:latin typeface="Century Gothic"/>
                <a:ea typeface="Century Gothic"/>
                <a:cs typeface="Century Gothic"/>
                <a:sym typeface="Century Gothic"/>
              </a:rPr>
              <a:t>ssim echo 3.26e-5</a:t>
            </a:r>
            <a:endParaRPr b="1" sz="1500">
              <a:solidFill>
                <a:schemeClr val="dk1"/>
              </a:solidFill>
              <a:latin typeface="Century Gothic"/>
              <a:ea typeface="Century Gothic"/>
              <a:cs typeface="Century Gothic"/>
              <a:sym typeface="Century Gothic"/>
            </a:endParaRPr>
          </a:p>
          <a:p>
            <a:pPr indent="0" lvl="0" marL="0" rtl="0" algn="l">
              <a:lnSpc>
                <a:spcPct val="90000"/>
              </a:lnSpc>
              <a:spcBef>
                <a:spcPts val="0"/>
              </a:spcBef>
              <a:spcAft>
                <a:spcPts val="0"/>
              </a:spcAft>
              <a:buClr>
                <a:schemeClr val="dk1"/>
              </a:buClr>
              <a:buFont typeface="Arial"/>
              <a:buNone/>
            </a:pPr>
            <a:r>
              <a:t/>
            </a:r>
            <a:endParaRPr b="1" sz="1500">
              <a:solidFill>
                <a:schemeClr val="dk1"/>
              </a:solidFill>
              <a:latin typeface="Century Gothic"/>
              <a:ea typeface="Century Gothic"/>
              <a:cs typeface="Century Gothic"/>
              <a:sym typeface="Century Gothic"/>
            </a:endParaRPr>
          </a:p>
          <a:p>
            <a:pPr indent="0" lvl="0" marL="0" rtl="0" algn="l">
              <a:lnSpc>
                <a:spcPct val="90000"/>
              </a:lnSpc>
              <a:spcBef>
                <a:spcPts val="0"/>
              </a:spcBef>
              <a:spcAft>
                <a:spcPts val="0"/>
              </a:spcAft>
              <a:buClr>
                <a:schemeClr val="dk1"/>
              </a:buClr>
              <a:buFont typeface="Arial"/>
              <a:buNone/>
            </a:pPr>
            <a:r>
              <a:rPr b="1" lang="it-IT" sz="1500">
                <a:solidFill>
                  <a:schemeClr val="dk1"/>
                </a:solidFill>
                <a:latin typeface="Century Gothic"/>
                <a:ea typeface="Century Gothic"/>
                <a:cs typeface="Century Gothic"/>
                <a:sym typeface="Century Gothic"/>
              </a:rPr>
              <a:t>ssim RFI 3.24e-5</a:t>
            </a:r>
            <a:endParaRPr b="1" sz="1500">
              <a:solidFill>
                <a:schemeClr val="dk1"/>
              </a:solidFill>
              <a:latin typeface="Century Gothic"/>
              <a:ea typeface="Century Gothic"/>
              <a:cs typeface="Century Gothic"/>
              <a:sym typeface="Century Gothic"/>
            </a:endParaRPr>
          </a:p>
          <a:p>
            <a:pPr indent="0" lvl="0" marL="0" rtl="0" algn="l">
              <a:lnSpc>
                <a:spcPct val="90000"/>
              </a:lnSpc>
              <a:spcBef>
                <a:spcPts val="0"/>
              </a:spcBef>
              <a:spcAft>
                <a:spcPts val="0"/>
              </a:spcAft>
              <a:buClr>
                <a:schemeClr val="dk1"/>
              </a:buClr>
              <a:buFont typeface="Arial"/>
              <a:buNone/>
            </a:pPr>
            <a:r>
              <a:t/>
            </a:r>
            <a:endParaRPr b="1" sz="1500">
              <a:solidFill>
                <a:schemeClr val="dk1"/>
              </a:solidFill>
              <a:latin typeface="Century Gothic"/>
              <a:ea typeface="Century Gothic"/>
              <a:cs typeface="Century Gothic"/>
              <a:sym typeface="Century Gothic"/>
            </a:endParaRPr>
          </a:p>
        </p:txBody>
      </p:sp>
      <p:pic>
        <p:nvPicPr>
          <p:cNvPr id="572" name="Google Shape;572;g3cf04a81d9e_0_3" title="spikes_dist_normal SAR_vs_RFI injected1.png"/>
          <p:cNvPicPr preferRelativeResize="0"/>
          <p:nvPr/>
        </p:nvPicPr>
        <p:blipFill rotWithShape="1">
          <a:blip r:embed="rId3">
            <a:alphaModFix/>
          </a:blip>
          <a:srcRect b="0" l="0" r="0" t="0"/>
          <a:stretch/>
        </p:blipFill>
        <p:spPr>
          <a:xfrm>
            <a:off x="5938825" y="1960325"/>
            <a:ext cx="4655776" cy="3465973"/>
          </a:xfrm>
          <a:prstGeom prst="rect">
            <a:avLst/>
          </a:prstGeom>
          <a:noFill/>
          <a:ln>
            <a:noFill/>
          </a:ln>
        </p:spPr>
      </p:pic>
      <p:sp>
        <p:nvSpPr>
          <p:cNvPr id="573" name="Google Shape;573;g3cf04a81d9e_0_3"/>
          <p:cNvSpPr/>
          <p:nvPr/>
        </p:nvSpPr>
        <p:spPr>
          <a:xfrm>
            <a:off x="1746775" y="5494475"/>
            <a:ext cx="3051000" cy="388800"/>
          </a:xfrm>
          <a:prstGeom prst="rect">
            <a:avLst/>
          </a:prstGeom>
          <a:noFill/>
          <a:ln>
            <a:noFill/>
          </a:ln>
        </p:spPr>
        <p:txBody>
          <a:bodyPr anchorCtr="0" anchor="t" bIns="91425" lIns="90000" spcFirstLastPara="1" rIns="90000" wrap="square" tIns="91425">
            <a:noAutofit/>
          </a:bodyPr>
          <a:lstStyle/>
          <a:p>
            <a:pPr indent="0" lvl="0" marL="0" rtl="0" algn="l">
              <a:lnSpc>
                <a:spcPct val="90000"/>
              </a:lnSpc>
              <a:spcBef>
                <a:spcPts val="0"/>
              </a:spcBef>
              <a:spcAft>
                <a:spcPts val="0"/>
              </a:spcAft>
              <a:buClr>
                <a:schemeClr val="dk1"/>
              </a:buClr>
              <a:buFont typeface="Arial"/>
              <a:buNone/>
            </a:pPr>
            <a:r>
              <a:rPr b="1" lang="it-IT" sz="1500">
                <a:solidFill>
                  <a:schemeClr val="dk1"/>
                </a:solidFill>
                <a:latin typeface="Century Gothic"/>
                <a:ea typeface="Century Gothic"/>
                <a:cs typeface="Century Gothic"/>
                <a:sym typeface="Century Gothic"/>
              </a:rPr>
              <a:t>histplot</a:t>
            </a:r>
            <a:endParaRPr b="1" sz="1500">
              <a:solidFill>
                <a:schemeClr val="dk1"/>
              </a:solidFill>
              <a:latin typeface="Century Gothic"/>
              <a:ea typeface="Century Gothic"/>
              <a:cs typeface="Century Gothic"/>
              <a:sym typeface="Century Gothic"/>
            </a:endParaRPr>
          </a:p>
          <a:p>
            <a:pPr indent="0" lvl="0" marL="0" rtl="0" algn="l">
              <a:lnSpc>
                <a:spcPct val="90000"/>
              </a:lnSpc>
              <a:spcBef>
                <a:spcPts val="0"/>
              </a:spcBef>
              <a:spcAft>
                <a:spcPts val="0"/>
              </a:spcAft>
              <a:buClr>
                <a:schemeClr val="dk1"/>
              </a:buClr>
              <a:buFont typeface="Arial"/>
              <a:buNone/>
            </a:pPr>
            <a:r>
              <a:t/>
            </a:r>
            <a:endParaRPr b="1" sz="1500">
              <a:solidFill>
                <a:schemeClr val="dk1"/>
              </a:solidFill>
              <a:latin typeface="Century Gothic"/>
              <a:ea typeface="Century Gothic"/>
              <a:cs typeface="Century Gothic"/>
              <a:sym typeface="Century Gothic"/>
            </a:endParaRPr>
          </a:p>
        </p:txBody>
      </p:sp>
      <p:sp>
        <p:nvSpPr>
          <p:cNvPr id="574" name="Google Shape;574;g3cf04a81d9e_0_3"/>
          <p:cNvSpPr/>
          <p:nvPr/>
        </p:nvSpPr>
        <p:spPr>
          <a:xfrm>
            <a:off x="7180825" y="5494475"/>
            <a:ext cx="3051000" cy="388800"/>
          </a:xfrm>
          <a:prstGeom prst="rect">
            <a:avLst/>
          </a:prstGeom>
          <a:noFill/>
          <a:ln>
            <a:noFill/>
          </a:ln>
        </p:spPr>
        <p:txBody>
          <a:bodyPr anchorCtr="0" anchor="t" bIns="91425" lIns="90000" spcFirstLastPara="1" rIns="90000" wrap="square" tIns="91425">
            <a:noAutofit/>
          </a:bodyPr>
          <a:lstStyle/>
          <a:p>
            <a:pPr indent="0" lvl="0" marL="0" rtl="0" algn="l">
              <a:lnSpc>
                <a:spcPct val="90000"/>
              </a:lnSpc>
              <a:spcBef>
                <a:spcPts val="0"/>
              </a:spcBef>
              <a:spcAft>
                <a:spcPts val="0"/>
              </a:spcAft>
              <a:buClr>
                <a:schemeClr val="dk1"/>
              </a:buClr>
              <a:buFont typeface="Arial"/>
              <a:buNone/>
            </a:pPr>
            <a:r>
              <a:rPr b="1" lang="it-IT" sz="1500">
                <a:solidFill>
                  <a:schemeClr val="dk1"/>
                </a:solidFill>
                <a:latin typeface="Century Gothic"/>
                <a:ea typeface="Century Gothic"/>
                <a:cs typeface="Century Gothic"/>
                <a:sym typeface="Century Gothic"/>
              </a:rPr>
              <a:t>kdeplot</a:t>
            </a:r>
            <a:endParaRPr b="1" sz="1500">
              <a:solidFill>
                <a:schemeClr val="dk1"/>
              </a:solidFill>
              <a:latin typeface="Century Gothic"/>
              <a:ea typeface="Century Gothic"/>
              <a:cs typeface="Century Gothic"/>
              <a:sym typeface="Century Gothic"/>
            </a:endParaRPr>
          </a:p>
          <a:p>
            <a:pPr indent="0" lvl="0" marL="0" rtl="0" algn="l">
              <a:lnSpc>
                <a:spcPct val="90000"/>
              </a:lnSpc>
              <a:spcBef>
                <a:spcPts val="0"/>
              </a:spcBef>
              <a:spcAft>
                <a:spcPts val="0"/>
              </a:spcAft>
              <a:buClr>
                <a:schemeClr val="dk1"/>
              </a:buClr>
              <a:buFont typeface="Arial"/>
              <a:buNone/>
            </a:pPr>
            <a:r>
              <a:t/>
            </a:r>
            <a:endParaRPr b="1" sz="1500">
              <a:solidFill>
                <a:schemeClr val="dk1"/>
              </a:solidFill>
              <a:latin typeface="Century Gothic"/>
              <a:ea typeface="Century Gothic"/>
              <a:cs typeface="Century Gothic"/>
              <a:sym typeface="Century Gothic"/>
            </a:endParaRPr>
          </a:p>
        </p:txBody>
      </p:sp>
      <p:sp>
        <p:nvSpPr>
          <p:cNvPr id="575" name="Google Shape;575;g3cf04a81d9e_0_3"/>
          <p:cNvSpPr txBox="1"/>
          <p:nvPr/>
        </p:nvSpPr>
        <p:spPr>
          <a:xfrm>
            <a:off x="10052200" y="415700"/>
            <a:ext cx="1857300" cy="14178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Font typeface="Arial"/>
              <a:buNone/>
            </a:pPr>
            <a:r>
              <a:t/>
            </a:r>
            <a:endParaRPr b="1" sz="1500">
              <a:solidFill>
                <a:schemeClr val="dk1"/>
              </a:solidFill>
              <a:latin typeface="Century Gothic"/>
              <a:ea typeface="Century Gothic"/>
              <a:cs typeface="Century Gothic"/>
              <a:sym typeface="Century Gothic"/>
            </a:endParaRPr>
          </a:p>
          <a:p>
            <a:pPr indent="0" lvl="0" marL="0" rtl="0" algn="l">
              <a:lnSpc>
                <a:spcPct val="90000"/>
              </a:lnSpc>
              <a:spcBef>
                <a:spcPts val="0"/>
              </a:spcBef>
              <a:spcAft>
                <a:spcPts val="0"/>
              </a:spcAft>
              <a:buClr>
                <a:schemeClr val="dk1"/>
              </a:buClr>
              <a:buFont typeface="Arial"/>
              <a:buNone/>
            </a:pPr>
            <a:r>
              <a:rPr b="1" lang="it-IT" sz="1500">
                <a:solidFill>
                  <a:schemeClr val="dk1"/>
                </a:solidFill>
                <a:latin typeface="Century Gothic"/>
                <a:ea typeface="Century Gothic"/>
                <a:cs typeface="Century Gothic"/>
                <a:sym typeface="Century Gothic"/>
              </a:rPr>
              <a:t>tau 100 99.61% accuracy</a:t>
            </a:r>
            <a:endParaRPr/>
          </a:p>
        </p:txBody>
      </p:sp>
      <p:pic>
        <p:nvPicPr>
          <p:cNvPr id="576" name="Google Shape;576;g3cf04a81d9e_0_3" title="spikes_dist_normal SAR_vs_RFI injected1.png"/>
          <p:cNvPicPr preferRelativeResize="0"/>
          <p:nvPr/>
        </p:nvPicPr>
        <p:blipFill rotWithShape="1">
          <a:blip r:embed="rId4">
            <a:alphaModFix/>
          </a:blip>
          <a:srcRect b="40" l="0" r="0" t="40"/>
          <a:stretch/>
        </p:blipFill>
        <p:spPr>
          <a:xfrm>
            <a:off x="887550" y="1929876"/>
            <a:ext cx="4655776" cy="3463234"/>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g3b30f477bc2_0_0"/>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accent1"/>
              </a:buClr>
              <a:buSzPts val="4400"/>
              <a:buFont typeface="Century Gothic"/>
              <a:buNone/>
            </a:pPr>
            <a:r>
              <a:rPr b="1" lang="it-IT" sz="4400" u="none" strike="noStrike">
                <a:solidFill>
                  <a:schemeClr val="accent1"/>
                </a:solidFill>
                <a:latin typeface="Century Gothic"/>
                <a:ea typeface="Century Gothic"/>
                <a:cs typeface="Century Gothic"/>
                <a:sym typeface="Century Gothic"/>
              </a:rPr>
              <a:t>Anomaly brach</a:t>
            </a:r>
            <a:endParaRPr b="0" sz="4400" u="none" strike="noStrike">
              <a:solidFill>
                <a:srgbClr val="000000"/>
              </a:solidFill>
              <a:latin typeface="Arial"/>
              <a:ea typeface="Arial"/>
              <a:cs typeface="Arial"/>
              <a:sym typeface="Arial"/>
            </a:endParaRPr>
          </a:p>
        </p:txBody>
      </p:sp>
      <p:sp>
        <p:nvSpPr>
          <p:cNvPr id="583" name="Google Shape;583;g3b30f477bc2_0_0"/>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None/>
            </a:pPr>
            <a:r>
              <a:rPr b="1" i="0" lang="it-IT" sz="2700" u="none" cap="none" strike="noStrike">
                <a:solidFill>
                  <a:schemeClr val="accent3"/>
                </a:solidFill>
                <a:latin typeface="Century Gothic"/>
                <a:ea typeface="Century Gothic"/>
                <a:cs typeface="Century Gothic"/>
                <a:sym typeface="Century Gothic"/>
              </a:rPr>
              <a:t>Proposed new approach for segmentation</a:t>
            </a:r>
            <a:endParaRPr b="0" i="0" sz="2700" u="none" cap="none" strike="noStrike">
              <a:solidFill>
                <a:srgbClr val="000000"/>
              </a:solidFill>
              <a:latin typeface="Arial"/>
              <a:ea typeface="Arial"/>
              <a:cs typeface="Arial"/>
              <a:sym typeface="Arial"/>
            </a:endParaRPr>
          </a:p>
        </p:txBody>
      </p:sp>
      <p:sp>
        <p:nvSpPr>
          <p:cNvPr id="584" name="Google Shape;584;g3b30f477bc2_0_0"/>
          <p:cNvSpPr/>
          <p:nvPr/>
        </p:nvSpPr>
        <p:spPr>
          <a:xfrm>
            <a:off x="1164492" y="1547976"/>
            <a:ext cx="4894500" cy="260700"/>
          </a:xfrm>
          <a:prstGeom prst="rect">
            <a:avLst/>
          </a:prstGeom>
          <a:noFill/>
          <a:ln>
            <a:noFill/>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1" i="0" lang="it-IT" sz="1100" u="none" cap="none" strike="noStrike">
                <a:solidFill>
                  <a:schemeClr val="dk1"/>
                </a:solidFill>
                <a:latin typeface="Century Gothic"/>
                <a:ea typeface="Century Gothic"/>
                <a:cs typeface="Century Gothic"/>
                <a:sym typeface="Century Gothic"/>
              </a:rPr>
              <a:t>Spiking CNN autoencoder </a:t>
            </a:r>
            <a:endParaRPr b="0" i="0" sz="1100" u="none" cap="none" strike="noStrike">
              <a:solidFill>
                <a:srgbClr val="000000"/>
              </a:solidFill>
              <a:latin typeface="Arial"/>
              <a:ea typeface="Arial"/>
              <a:cs typeface="Arial"/>
              <a:sym typeface="Arial"/>
            </a:endParaRPr>
          </a:p>
        </p:txBody>
      </p:sp>
      <p:sp>
        <p:nvSpPr>
          <p:cNvPr id="585" name="Google Shape;585;g3b30f477bc2_0_0"/>
          <p:cNvSpPr txBox="1"/>
          <p:nvPr>
            <p:ph idx="1" type="body"/>
          </p:nvPr>
        </p:nvSpPr>
        <p:spPr>
          <a:xfrm>
            <a:off x="921675" y="4951550"/>
            <a:ext cx="10557900" cy="1038300"/>
          </a:xfrm>
          <a:prstGeom prst="rect">
            <a:avLst/>
          </a:prstGeom>
          <a:noFill/>
          <a:ln>
            <a:noFill/>
          </a:ln>
        </p:spPr>
        <p:txBody>
          <a:bodyPr anchorCtr="0" anchor="t" bIns="46800" lIns="91425" spcFirstLastPara="1" rIns="91425" wrap="square" tIns="45700">
            <a:normAutofit/>
          </a:bodyPr>
          <a:lstStyle/>
          <a:p>
            <a:pPr indent="-266759" lvl="0" marL="266759" marR="0" rtl="0" algn="l">
              <a:lnSpc>
                <a:spcPct val="100000"/>
              </a:lnSpc>
              <a:spcBef>
                <a:spcPts val="0"/>
              </a:spcBef>
              <a:spcAft>
                <a:spcPts val="0"/>
              </a:spcAft>
              <a:buClr>
                <a:srgbClr val="00ACA7"/>
              </a:buClr>
              <a:buSzPts val="2000"/>
              <a:buFont typeface="Arial"/>
              <a:buChar char="•"/>
            </a:pPr>
            <a:r>
              <a:rPr lang="it-IT" sz="2000">
                <a:solidFill>
                  <a:schemeClr val="dk1"/>
                </a:solidFill>
              </a:rPr>
              <a:t>Test if even just encoder spikes increase and so are a good indicator of anomaly</a:t>
            </a:r>
            <a:endParaRPr b="0" i="0" sz="2000" u="none" cap="none" strike="noStrike">
              <a:solidFill>
                <a:srgbClr val="000000"/>
              </a:solidFill>
              <a:latin typeface="Arial"/>
              <a:ea typeface="Arial"/>
              <a:cs typeface="Arial"/>
              <a:sym typeface="Arial"/>
            </a:endParaRPr>
          </a:p>
          <a:p>
            <a:pPr indent="-266759" lvl="0" marL="266759" marR="0" rtl="0" algn="l">
              <a:lnSpc>
                <a:spcPct val="100000"/>
              </a:lnSpc>
              <a:spcBef>
                <a:spcPts val="201"/>
              </a:spcBef>
              <a:spcAft>
                <a:spcPts val="0"/>
              </a:spcAft>
              <a:buClr>
                <a:srgbClr val="00ACA7"/>
              </a:buClr>
              <a:buSzPts val="2000"/>
              <a:buFont typeface="Arial"/>
              <a:buChar char="•"/>
            </a:pPr>
            <a:r>
              <a:rPr lang="it-IT" sz="2000">
                <a:solidFill>
                  <a:schemeClr val="dk1"/>
                </a:solidFill>
              </a:rPr>
              <a:t>reuse encoder features in a segmentation head</a:t>
            </a:r>
            <a:endParaRPr b="0" i="0" sz="2000" u="none" cap="none" strike="noStrike">
              <a:solidFill>
                <a:srgbClr val="000000"/>
              </a:solidFill>
              <a:latin typeface="Arial"/>
              <a:ea typeface="Arial"/>
              <a:cs typeface="Arial"/>
              <a:sym typeface="Arial"/>
            </a:endParaRPr>
          </a:p>
        </p:txBody>
      </p:sp>
      <p:pic>
        <p:nvPicPr>
          <p:cNvPr id="586" name="Google Shape;586;g3b30f477bc2_0_0"/>
          <p:cNvPicPr preferRelativeResize="0"/>
          <p:nvPr/>
        </p:nvPicPr>
        <p:blipFill rotWithShape="1">
          <a:blip r:embed="rId3">
            <a:alphaModFix/>
          </a:blip>
          <a:srcRect b="0" l="0" r="42766" t="0"/>
          <a:stretch/>
        </p:blipFill>
        <p:spPr>
          <a:xfrm>
            <a:off x="1472301" y="1825525"/>
            <a:ext cx="3254625" cy="3022575"/>
          </a:xfrm>
          <a:prstGeom prst="rect">
            <a:avLst/>
          </a:prstGeom>
          <a:noFill/>
          <a:ln>
            <a:noFill/>
          </a:ln>
        </p:spPr>
      </p:pic>
      <p:pic>
        <p:nvPicPr>
          <p:cNvPr id="587" name="Google Shape;587;g3b30f477bc2_0_0"/>
          <p:cNvPicPr preferRelativeResize="0"/>
          <p:nvPr/>
        </p:nvPicPr>
        <p:blipFill>
          <a:blip r:embed="rId4">
            <a:alphaModFix/>
          </a:blip>
          <a:stretch>
            <a:fillRect/>
          </a:stretch>
        </p:blipFill>
        <p:spPr>
          <a:xfrm>
            <a:off x="5850701" y="2171975"/>
            <a:ext cx="5715975" cy="2416266"/>
          </a:xfrm>
          <a:prstGeom prst="rect">
            <a:avLst/>
          </a:prstGeom>
          <a:noFill/>
          <a:ln>
            <a:noFill/>
          </a:ln>
        </p:spPr>
      </p:pic>
      <p:pic>
        <p:nvPicPr>
          <p:cNvPr id="588" name="Google Shape;588;g3b30f477bc2_0_0"/>
          <p:cNvPicPr preferRelativeResize="0"/>
          <p:nvPr/>
        </p:nvPicPr>
        <p:blipFill rotWithShape="1">
          <a:blip r:embed="rId3">
            <a:alphaModFix/>
          </a:blip>
          <a:srcRect b="0" l="0" r="42769" t="0"/>
          <a:stretch/>
        </p:blipFill>
        <p:spPr>
          <a:xfrm>
            <a:off x="7097050" y="3477550"/>
            <a:ext cx="1786777" cy="1038299"/>
          </a:xfrm>
          <a:prstGeom prst="rect">
            <a:avLst/>
          </a:prstGeom>
          <a:noFill/>
          <a:ln>
            <a:noFill/>
          </a:ln>
        </p:spPr>
      </p:pic>
    </p:spTree>
  </p:cSld>
  <p:clrMapOvr>
    <a:masterClrMapping/>
  </p:clrMapOvr>
  <p:transition>
    <p:fade/>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g3ac9f9fc215_3_38"/>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accent1"/>
              </a:buClr>
              <a:buSzPts val="4400"/>
              <a:buFont typeface="Century Gothic"/>
              <a:buNone/>
            </a:pPr>
            <a:r>
              <a:rPr b="1" lang="it-IT" sz="4400" u="none" strike="noStrike">
                <a:solidFill>
                  <a:schemeClr val="accent1"/>
                </a:solidFill>
                <a:latin typeface="Century Gothic"/>
                <a:ea typeface="Century Gothic"/>
                <a:cs typeface="Century Gothic"/>
                <a:sym typeface="Century Gothic"/>
              </a:rPr>
              <a:t>CS brach - Classification</a:t>
            </a:r>
            <a:endParaRPr b="0" sz="4400" u="none" strike="noStrike">
              <a:solidFill>
                <a:srgbClr val="000000"/>
              </a:solidFill>
              <a:latin typeface="Arial"/>
              <a:ea typeface="Arial"/>
              <a:cs typeface="Arial"/>
              <a:sym typeface="Arial"/>
            </a:endParaRPr>
          </a:p>
        </p:txBody>
      </p:sp>
      <p:sp>
        <p:nvSpPr>
          <p:cNvPr id="595" name="Google Shape;595;g3ac9f9fc215_3_38"/>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None/>
            </a:pPr>
            <a:r>
              <a:rPr b="1" lang="it-IT" sz="2700">
                <a:solidFill>
                  <a:schemeClr val="accent3"/>
                </a:solidFill>
                <a:latin typeface="Century Gothic"/>
                <a:ea typeface="Century Gothic"/>
                <a:cs typeface="Century Gothic"/>
                <a:sym typeface="Century Gothic"/>
              </a:rPr>
              <a:t>Spiking </a:t>
            </a:r>
            <a:r>
              <a:rPr b="1" i="0" lang="it-IT" sz="2700" u="none" cap="none" strike="noStrike">
                <a:solidFill>
                  <a:schemeClr val="accent3"/>
                </a:solidFill>
                <a:latin typeface="Century Gothic"/>
                <a:ea typeface="Century Gothic"/>
                <a:cs typeface="Century Gothic"/>
                <a:sym typeface="Century Gothic"/>
              </a:rPr>
              <a:t>Models</a:t>
            </a:r>
            <a:endParaRPr b="0" i="0" sz="2700" u="none" cap="none" strike="noStrike">
              <a:solidFill>
                <a:srgbClr val="000000"/>
              </a:solidFill>
              <a:latin typeface="Arial"/>
              <a:ea typeface="Arial"/>
              <a:cs typeface="Arial"/>
              <a:sym typeface="Arial"/>
            </a:endParaRPr>
          </a:p>
        </p:txBody>
      </p:sp>
      <p:sp>
        <p:nvSpPr>
          <p:cNvPr id="596" name="Google Shape;596;g3ac9f9fc215_3_38"/>
          <p:cNvSpPr/>
          <p:nvPr/>
        </p:nvSpPr>
        <p:spPr>
          <a:xfrm>
            <a:off x="6156000" y="1504075"/>
            <a:ext cx="5380200" cy="318600"/>
          </a:xfrm>
          <a:prstGeom prst="rect">
            <a:avLst/>
          </a:prstGeom>
          <a:noFill/>
          <a:ln>
            <a:noFill/>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1" lang="it-IT" sz="1100">
                <a:solidFill>
                  <a:schemeClr val="dk1"/>
                </a:solidFill>
              </a:rPr>
              <a:t>Native SNN</a:t>
            </a:r>
            <a:endParaRPr b="0" i="0" sz="1100" u="none" cap="none" strike="noStrike">
              <a:solidFill>
                <a:srgbClr val="000000"/>
              </a:solidFill>
              <a:latin typeface="Arial"/>
              <a:ea typeface="Arial"/>
              <a:cs typeface="Arial"/>
              <a:sym typeface="Arial"/>
            </a:endParaRPr>
          </a:p>
        </p:txBody>
      </p:sp>
      <p:sp>
        <p:nvSpPr>
          <p:cNvPr id="597" name="Google Shape;597;g3ac9f9fc215_3_38"/>
          <p:cNvSpPr/>
          <p:nvPr/>
        </p:nvSpPr>
        <p:spPr>
          <a:xfrm>
            <a:off x="453065" y="1561975"/>
            <a:ext cx="5569200" cy="260700"/>
          </a:xfrm>
          <a:prstGeom prst="rect">
            <a:avLst/>
          </a:prstGeom>
          <a:noFill/>
          <a:ln>
            <a:noFill/>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1" lang="it-IT" sz="1100">
                <a:solidFill>
                  <a:schemeClr val="dk1"/>
                </a:solidFill>
                <a:latin typeface="Century Gothic"/>
                <a:ea typeface="Century Gothic"/>
                <a:cs typeface="Century Gothic"/>
                <a:sym typeface="Century Gothic"/>
              </a:rPr>
              <a:t>ANN to SNN</a:t>
            </a:r>
            <a:r>
              <a:rPr b="1" i="0" lang="it-IT" sz="1100" u="none" cap="none" strike="noStrike">
                <a:solidFill>
                  <a:schemeClr val="dk1"/>
                </a:solidFill>
                <a:latin typeface="Century Gothic"/>
                <a:ea typeface="Century Gothic"/>
                <a:cs typeface="Century Gothic"/>
                <a:sym typeface="Century Gothic"/>
              </a:rPr>
              <a:t> </a:t>
            </a:r>
            <a:endParaRPr b="0" i="0" sz="1100" u="none" cap="none" strike="noStrike">
              <a:solidFill>
                <a:srgbClr val="000000"/>
              </a:solidFill>
              <a:latin typeface="Arial"/>
              <a:ea typeface="Arial"/>
              <a:cs typeface="Arial"/>
              <a:sym typeface="Arial"/>
            </a:endParaRPr>
          </a:p>
        </p:txBody>
      </p:sp>
      <p:sp>
        <p:nvSpPr>
          <p:cNvPr id="598" name="Google Shape;598;g3ac9f9fc215_3_38"/>
          <p:cNvSpPr txBox="1"/>
          <p:nvPr>
            <p:ph idx="1" type="body"/>
          </p:nvPr>
        </p:nvSpPr>
        <p:spPr>
          <a:xfrm>
            <a:off x="6125405" y="4798800"/>
            <a:ext cx="5380200" cy="833100"/>
          </a:xfrm>
          <a:prstGeom prst="rect">
            <a:avLst/>
          </a:prstGeom>
          <a:noFill/>
          <a:ln>
            <a:noFill/>
          </a:ln>
        </p:spPr>
        <p:txBody>
          <a:bodyPr anchorCtr="0" anchor="t" bIns="46800" lIns="91425" spcFirstLastPara="1" rIns="91425" wrap="square" tIns="45700">
            <a:normAutofit/>
          </a:bodyPr>
          <a:lstStyle/>
          <a:p>
            <a:pPr indent="-266759" lvl="0" marL="266759" marR="0" rtl="0" algn="l">
              <a:lnSpc>
                <a:spcPct val="100000"/>
              </a:lnSpc>
              <a:spcBef>
                <a:spcPts val="0"/>
              </a:spcBef>
              <a:spcAft>
                <a:spcPts val="0"/>
              </a:spcAft>
              <a:buClr>
                <a:srgbClr val="00ACA7"/>
              </a:buClr>
              <a:buSzPts val="2000"/>
              <a:buFont typeface="Arial"/>
              <a:buChar char="•"/>
            </a:pPr>
            <a:r>
              <a:rPr lang="it-IT" sz="2000">
                <a:solidFill>
                  <a:schemeClr val="dk1"/>
                </a:solidFill>
              </a:rPr>
              <a:t>Advanced approach</a:t>
            </a:r>
            <a:endParaRPr b="0" i="0" sz="2000" u="none" cap="none" strike="noStrike">
              <a:solidFill>
                <a:srgbClr val="000000"/>
              </a:solidFill>
              <a:latin typeface="Arial"/>
              <a:ea typeface="Arial"/>
              <a:cs typeface="Arial"/>
              <a:sym typeface="Arial"/>
            </a:endParaRPr>
          </a:p>
          <a:p>
            <a:pPr indent="-266759" lvl="0" marL="266759" marR="0" rtl="0" algn="l">
              <a:lnSpc>
                <a:spcPct val="100000"/>
              </a:lnSpc>
              <a:spcBef>
                <a:spcPts val="201"/>
              </a:spcBef>
              <a:spcAft>
                <a:spcPts val="0"/>
              </a:spcAft>
              <a:buClr>
                <a:srgbClr val="00ACA7"/>
              </a:buClr>
              <a:buSzPts val="2000"/>
              <a:buFont typeface="Arial"/>
              <a:buChar char="•"/>
            </a:pPr>
            <a:r>
              <a:rPr lang="it-IT" sz="2000">
                <a:solidFill>
                  <a:schemeClr val="dk1"/>
                </a:solidFill>
              </a:rPr>
              <a:t>Lightweight and </a:t>
            </a:r>
            <a:r>
              <a:rPr b="0" i="0" lang="it-IT" sz="2000" u="none" cap="none" strike="noStrike">
                <a:solidFill>
                  <a:schemeClr val="dk1"/>
                </a:solidFill>
                <a:latin typeface="Arial"/>
                <a:ea typeface="Arial"/>
                <a:cs typeface="Arial"/>
                <a:sym typeface="Arial"/>
              </a:rPr>
              <a:t>SOTA scores</a:t>
            </a:r>
            <a:endParaRPr b="0" i="0" sz="2000" u="none" cap="none" strike="noStrike">
              <a:solidFill>
                <a:srgbClr val="000000"/>
              </a:solidFill>
              <a:latin typeface="Arial"/>
              <a:ea typeface="Arial"/>
              <a:cs typeface="Arial"/>
              <a:sym typeface="Arial"/>
            </a:endParaRPr>
          </a:p>
        </p:txBody>
      </p:sp>
      <p:sp>
        <p:nvSpPr>
          <p:cNvPr id="599" name="Google Shape;599;g3ac9f9fc215_3_38"/>
          <p:cNvSpPr/>
          <p:nvPr/>
        </p:nvSpPr>
        <p:spPr>
          <a:xfrm>
            <a:off x="453065" y="4767395"/>
            <a:ext cx="5380200" cy="833100"/>
          </a:xfrm>
          <a:prstGeom prst="rect">
            <a:avLst/>
          </a:prstGeom>
          <a:noFill/>
          <a:ln>
            <a:noFill/>
          </a:ln>
        </p:spPr>
        <p:txBody>
          <a:bodyPr anchorCtr="0" anchor="t" bIns="46800" lIns="90000" spcFirstLastPara="1" rIns="90000" wrap="square" tIns="45000">
            <a:noAutofit/>
          </a:bodyPr>
          <a:lstStyle/>
          <a:p>
            <a:pPr indent="-266759" lvl="0" marL="266759" marR="0" rtl="0" algn="l">
              <a:lnSpc>
                <a:spcPct val="100000"/>
              </a:lnSpc>
              <a:spcBef>
                <a:spcPts val="0"/>
              </a:spcBef>
              <a:spcAft>
                <a:spcPts val="0"/>
              </a:spcAft>
              <a:buClr>
                <a:srgbClr val="00ACA7"/>
              </a:buClr>
              <a:buSzPts val="2000"/>
              <a:buFont typeface="Arial"/>
              <a:buChar char="•"/>
            </a:pPr>
            <a:r>
              <a:rPr lang="it-IT" sz="2000">
                <a:solidFill>
                  <a:schemeClr val="dk1"/>
                </a:solidFill>
              </a:rPr>
              <a:t>Reuse previous architectures and training</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201"/>
              </a:spcBef>
              <a:spcAft>
                <a:spcPts val="0"/>
              </a:spcAft>
              <a:buNone/>
            </a:pPr>
            <a:r>
              <a:t/>
            </a:r>
            <a:endParaRPr b="0" i="0" sz="2000" u="none" cap="none" strike="noStrike">
              <a:solidFill>
                <a:srgbClr val="000000"/>
              </a:solidFill>
              <a:latin typeface="Arial"/>
              <a:ea typeface="Arial"/>
              <a:cs typeface="Arial"/>
              <a:sym typeface="Arial"/>
            </a:endParaRPr>
          </a:p>
        </p:txBody>
      </p:sp>
      <p:pic>
        <p:nvPicPr>
          <p:cNvPr id="600" name="Google Shape;600;g3ac9f9fc215_3_38" title="Conversion.png"/>
          <p:cNvPicPr preferRelativeResize="0"/>
          <p:nvPr/>
        </p:nvPicPr>
        <p:blipFill>
          <a:blip r:embed="rId3">
            <a:alphaModFix/>
          </a:blip>
          <a:stretch>
            <a:fillRect/>
          </a:stretch>
        </p:blipFill>
        <p:spPr>
          <a:xfrm>
            <a:off x="868075" y="2266700"/>
            <a:ext cx="4546698" cy="2131274"/>
          </a:xfrm>
          <a:prstGeom prst="rect">
            <a:avLst/>
          </a:prstGeom>
          <a:noFill/>
          <a:ln>
            <a:noFill/>
          </a:ln>
        </p:spPr>
      </p:pic>
      <p:pic>
        <p:nvPicPr>
          <p:cNvPr id="601" name="Google Shape;601;g3ac9f9fc215_3_38" title="spiking.png"/>
          <p:cNvPicPr preferRelativeResize="0"/>
          <p:nvPr/>
        </p:nvPicPr>
        <p:blipFill>
          <a:blip r:embed="rId4">
            <a:alphaModFix/>
          </a:blip>
          <a:stretch>
            <a:fillRect/>
          </a:stretch>
        </p:blipFill>
        <p:spPr>
          <a:xfrm>
            <a:off x="6322650" y="2266701"/>
            <a:ext cx="5135150" cy="2131275"/>
          </a:xfrm>
          <a:prstGeom prst="rect">
            <a:avLst/>
          </a:prstGeom>
          <a:noFill/>
          <a:ln>
            <a:noFill/>
          </a:ln>
        </p:spPr>
      </p:pic>
    </p:spTree>
  </p:cSld>
  <p:clrMapOvr>
    <a:masterClrMapping/>
  </p:clrMapOvr>
  <p:transition>
    <p:fade/>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7"/>
          <p:cNvSpPr txBox="1"/>
          <p:nvPr>
            <p:ph type="title"/>
          </p:nvPr>
        </p:nvSpPr>
        <p:spPr>
          <a:xfrm>
            <a:off x="146880" y="160200"/>
            <a:ext cx="11852640" cy="76248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accent1"/>
              </a:buClr>
              <a:buSzPts val="4400"/>
              <a:buFont typeface="Century Gothic"/>
              <a:buNone/>
            </a:pPr>
            <a:r>
              <a:rPr b="1" lang="it-IT" sz="4400" u="none" strike="noStrike">
                <a:solidFill>
                  <a:schemeClr val="accent1"/>
                </a:solidFill>
                <a:latin typeface="Century Gothic"/>
                <a:ea typeface="Century Gothic"/>
                <a:cs typeface="Century Gothic"/>
                <a:sym typeface="Century Gothic"/>
              </a:rPr>
              <a:t>CS brach - Segmentation</a:t>
            </a:r>
            <a:endParaRPr b="0" sz="4400" u="none" strike="noStrike">
              <a:solidFill>
                <a:srgbClr val="000000"/>
              </a:solidFill>
              <a:latin typeface="Arial"/>
              <a:ea typeface="Arial"/>
              <a:cs typeface="Arial"/>
              <a:sym typeface="Arial"/>
            </a:endParaRPr>
          </a:p>
        </p:txBody>
      </p:sp>
      <p:sp>
        <p:nvSpPr>
          <p:cNvPr id="608" name="Google Shape;608;p7"/>
          <p:cNvSpPr/>
          <p:nvPr/>
        </p:nvSpPr>
        <p:spPr>
          <a:xfrm>
            <a:off x="290880" y="923760"/>
            <a:ext cx="11275920" cy="57924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None/>
            </a:pPr>
            <a:r>
              <a:rPr b="1" i="0" lang="it-IT" sz="2700" u="none" cap="none" strike="noStrike">
                <a:solidFill>
                  <a:schemeClr val="accent3"/>
                </a:solidFill>
                <a:latin typeface="Century Gothic"/>
                <a:ea typeface="Century Gothic"/>
                <a:cs typeface="Century Gothic"/>
                <a:sym typeface="Century Gothic"/>
              </a:rPr>
              <a:t>Models</a:t>
            </a:r>
            <a:endParaRPr b="0" i="0" sz="2700" u="none" cap="none" strike="noStrike">
              <a:solidFill>
                <a:srgbClr val="000000"/>
              </a:solidFill>
              <a:latin typeface="Arial"/>
              <a:ea typeface="Arial"/>
              <a:cs typeface="Arial"/>
              <a:sym typeface="Arial"/>
            </a:endParaRPr>
          </a:p>
        </p:txBody>
      </p:sp>
      <p:pic>
        <p:nvPicPr>
          <p:cNvPr id="609" name="Google Shape;609;p7"/>
          <p:cNvPicPr preferRelativeResize="0"/>
          <p:nvPr/>
        </p:nvPicPr>
        <p:blipFill rotWithShape="1">
          <a:blip r:embed="rId4">
            <a:alphaModFix/>
          </a:blip>
          <a:srcRect b="3968" l="64278" r="4387" t="8817"/>
          <a:stretch/>
        </p:blipFill>
        <p:spPr>
          <a:xfrm>
            <a:off x="2186044" y="2056275"/>
            <a:ext cx="1845471" cy="2522249"/>
          </a:xfrm>
          <a:prstGeom prst="rect">
            <a:avLst/>
          </a:prstGeom>
          <a:noFill/>
          <a:ln>
            <a:noFill/>
          </a:ln>
        </p:spPr>
      </p:pic>
      <p:sp>
        <p:nvSpPr>
          <p:cNvPr id="610" name="Google Shape;610;p7"/>
          <p:cNvSpPr/>
          <p:nvPr/>
        </p:nvSpPr>
        <p:spPr>
          <a:xfrm>
            <a:off x="450" y="5857330"/>
            <a:ext cx="12191100" cy="531600"/>
          </a:xfrm>
          <a:prstGeom prst="rect">
            <a:avLst/>
          </a:prstGeom>
          <a:noFill/>
          <a:ln>
            <a:noFill/>
          </a:ln>
        </p:spPr>
        <p:txBody>
          <a:bodyPr anchorCtr="0" anchor="t" bIns="75950" lIns="90000" spcFirstLastPara="1" rIns="90000" wrap="square" tIns="75950">
            <a:spAutoFit/>
          </a:bodyPr>
          <a:lstStyle/>
          <a:p>
            <a:pPr indent="0" lvl="0" marL="0" marR="0" rtl="0" algn="ctr">
              <a:lnSpc>
                <a:spcPct val="115000"/>
              </a:lnSpc>
              <a:spcBef>
                <a:spcPts val="0"/>
              </a:spcBef>
              <a:spcAft>
                <a:spcPts val="0"/>
              </a:spcAft>
              <a:buNone/>
            </a:pPr>
            <a:r>
              <a:rPr lang="it-IT" sz="1100">
                <a:solidFill>
                  <a:srgbClr val="7F7F7F"/>
                </a:solidFill>
                <a:highlight>
                  <a:srgbClr val="FFFFFF"/>
                </a:highlight>
              </a:rPr>
              <a:t>[7] Hua, W., Zhou, C., Wu, J., Chua, Y., &amp; Shu, Y. (2025). MSVIT: Improving spiking vision transformer using multi-scale attention fusion. arXiv</a:t>
            </a:r>
            <a:endParaRPr sz="1100">
              <a:solidFill>
                <a:srgbClr val="7F7F7F"/>
              </a:solidFill>
              <a:highlight>
                <a:srgbClr val="FFFFFF"/>
              </a:highlight>
            </a:endParaRPr>
          </a:p>
          <a:p>
            <a:pPr indent="0" lvl="0" marL="0" marR="0" rtl="0" algn="ctr">
              <a:lnSpc>
                <a:spcPct val="90000"/>
              </a:lnSpc>
              <a:spcBef>
                <a:spcPts val="0"/>
              </a:spcBef>
              <a:spcAft>
                <a:spcPts val="0"/>
              </a:spcAft>
              <a:buNone/>
            </a:pPr>
            <a:r>
              <a:rPr lang="it-IT" sz="1100">
                <a:solidFill>
                  <a:srgbClr val="7F7F7F"/>
                </a:solidFill>
                <a:highlight>
                  <a:srgbClr val="FFFFFF"/>
                </a:highlight>
              </a:rPr>
              <a:t>[8] Zhou, C., Zhang, H., Zhou, Z., Yu, L., Huang, L., Fan, X., Yuan, L., Ma, Z., Zhou, H., &amp; Tian, Y. (2024). QKFormer: Hierarchical spiking transformer using Q-K attention. arXiv. </a:t>
            </a:r>
            <a:endParaRPr sz="1100">
              <a:solidFill>
                <a:srgbClr val="7F7F7F"/>
              </a:solidFill>
              <a:highlight>
                <a:srgbClr val="FFFFFF"/>
              </a:highlight>
            </a:endParaRPr>
          </a:p>
        </p:txBody>
      </p:sp>
      <p:sp>
        <p:nvSpPr>
          <p:cNvPr id="611" name="Google Shape;611;p7"/>
          <p:cNvSpPr/>
          <p:nvPr/>
        </p:nvSpPr>
        <p:spPr>
          <a:xfrm>
            <a:off x="976080" y="1620000"/>
            <a:ext cx="4265400" cy="216000"/>
          </a:xfrm>
          <a:prstGeom prst="rect">
            <a:avLst/>
          </a:prstGeom>
          <a:noFill/>
          <a:ln>
            <a:noFill/>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1" i="0" lang="it-IT" sz="1100" u="none" cap="none" strike="noStrike">
                <a:solidFill>
                  <a:schemeClr val="dk1"/>
                </a:solidFill>
                <a:latin typeface="Century Gothic"/>
                <a:ea typeface="Century Gothic"/>
                <a:cs typeface="Century Gothic"/>
                <a:sym typeface="Century Gothic"/>
              </a:rPr>
              <a:t>MSViT [</a:t>
            </a:r>
            <a:r>
              <a:rPr b="1" lang="it-IT" sz="1100">
                <a:solidFill>
                  <a:schemeClr val="dk1"/>
                </a:solidFill>
                <a:latin typeface="Century Gothic"/>
                <a:ea typeface="Century Gothic"/>
                <a:cs typeface="Century Gothic"/>
                <a:sym typeface="Century Gothic"/>
              </a:rPr>
              <a:t>7</a:t>
            </a:r>
            <a:r>
              <a:rPr b="1" i="0" lang="it-IT" sz="1100" u="none" cap="none" strike="noStrike">
                <a:solidFill>
                  <a:schemeClr val="dk1"/>
                </a:solidFill>
                <a:latin typeface="Century Gothic"/>
                <a:ea typeface="Century Gothic"/>
                <a:cs typeface="Century Gothic"/>
                <a:sym typeface="Century Gothic"/>
              </a:rPr>
              <a:t>]</a:t>
            </a:r>
            <a:endParaRPr b="0" i="0" sz="1100" u="none" cap="none" strike="noStrike">
              <a:solidFill>
                <a:srgbClr val="000000"/>
              </a:solidFill>
              <a:latin typeface="Arial"/>
              <a:ea typeface="Arial"/>
              <a:cs typeface="Arial"/>
              <a:sym typeface="Arial"/>
            </a:endParaRPr>
          </a:p>
        </p:txBody>
      </p:sp>
      <p:pic>
        <p:nvPicPr>
          <p:cNvPr id="612" name="Google Shape;612;p7"/>
          <p:cNvPicPr preferRelativeResize="0"/>
          <p:nvPr/>
        </p:nvPicPr>
        <p:blipFill rotWithShape="1">
          <a:blip r:embed="rId5">
            <a:alphaModFix/>
          </a:blip>
          <a:srcRect b="0" l="1431" r="34413" t="0"/>
          <a:stretch/>
        </p:blipFill>
        <p:spPr>
          <a:xfrm>
            <a:off x="7186273" y="2371500"/>
            <a:ext cx="3809999" cy="1891800"/>
          </a:xfrm>
          <a:prstGeom prst="rect">
            <a:avLst/>
          </a:prstGeom>
          <a:noFill/>
          <a:ln>
            <a:noFill/>
          </a:ln>
        </p:spPr>
      </p:pic>
      <p:sp>
        <p:nvSpPr>
          <p:cNvPr id="613" name="Google Shape;613;p7"/>
          <p:cNvSpPr/>
          <p:nvPr/>
        </p:nvSpPr>
        <p:spPr>
          <a:xfrm>
            <a:off x="6306673" y="1597640"/>
            <a:ext cx="5569200" cy="260700"/>
          </a:xfrm>
          <a:prstGeom prst="rect">
            <a:avLst/>
          </a:prstGeom>
          <a:noFill/>
          <a:ln>
            <a:noFill/>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1" i="0" lang="it-IT" sz="1100" u="none" cap="none" strike="noStrike">
                <a:solidFill>
                  <a:schemeClr val="dk1"/>
                </a:solidFill>
                <a:latin typeface="Century Gothic"/>
                <a:ea typeface="Century Gothic"/>
                <a:cs typeface="Century Gothic"/>
                <a:sym typeface="Century Gothic"/>
              </a:rPr>
              <a:t>QK attention [</a:t>
            </a:r>
            <a:r>
              <a:rPr b="1" lang="it-IT" sz="1100">
                <a:solidFill>
                  <a:schemeClr val="dk1"/>
                </a:solidFill>
                <a:latin typeface="Century Gothic"/>
                <a:ea typeface="Century Gothic"/>
                <a:cs typeface="Century Gothic"/>
                <a:sym typeface="Century Gothic"/>
              </a:rPr>
              <a:t>8</a:t>
            </a:r>
            <a:r>
              <a:rPr b="1" i="0" lang="it-IT" sz="1100" u="none" cap="none" strike="noStrike">
                <a:solidFill>
                  <a:schemeClr val="dk1"/>
                </a:solidFill>
                <a:latin typeface="Century Gothic"/>
                <a:ea typeface="Century Gothic"/>
                <a:cs typeface="Century Gothic"/>
                <a:sym typeface="Century Gothic"/>
              </a:rPr>
              <a:t>]</a:t>
            </a:r>
            <a:endParaRPr b="0" i="0" sz="1100" u="none" cap="none" strike="noStrike">
              <a:solidFill>
                <a:srgbClr val="000000"/>
              </a:solidFill>
              <a:latin typeface="Arial"/>
              <a:ea typeface="Arial"/>
              <a:cs typeface="Arial"/>
              <a:sym typeface="Arial"/>
            </a:endParaRPr>
          </a:p>
        </p:txBody>
      </p:sp>
      <p:sp>
        <p:nvSpPr>
          <p:cNvPr id="614" name="Google Shape;614;p7"/>
          <p:cNvSpPr txBox="1"/>
          <p:nvPr>
            <p:ph idx="1" type="body"/>
          </p:nvPr>
        </p:nvSpPr>
        <p:spPr>
          <a:xfrm>
            <a:off x="418680" y="4769460"/>
            <a:ext cx="5380200" cy="833100"/>
          </a:xfrm>
          <a:prstGeom prst="rect">
            <a:avLst/>
          </a:prstGeom>
          <a:noFill/>
          <a:ln>
            <a:noFill/>
          </a:ln>
        </p:spPr>
        <p:txBody>
          <a:bodyPr anchorCtr="0" anchor="t" bIns="46800" lIns="91425" spcFirstLastPara="1" rIns="91425" wrap="square" tIns="45700">
            <a:noAutofit/>
          </a:bodyPr>
          <a:lstStyle/>
          <a:p>
            <a:pPr indent="-266759" lvl="0" marL="266759" marR="0" rtl="0" algn="l">
              <a:lnSpc>
                <a:spcPct val="100000"/>
              </a:lnSpc>
              <a:spcBef>
                <a:spcPts val="0"/>
              </a:spcBef>
              <a:spcAft>
                <a:spcPts val="0"/>
              </a:spcAft>
              <a:buClr>
                <a:srgbClr val="00ACA7"/>
              </a:buClr>
              <a:buSzPts val="2000"/>
              <a:buFont typeface="Arial"/>
              <a:buChar char="•"/>
            </a:pPr>
            <a:r>
              <a:rPr lang="it-IT" sz="2000">
                <a:solidFill>
                  <a:schemeClr val="dk1"/>
                </a:solidFill>
              </a:rPr>
              <a:t>High performance thanks to the multi-step approach</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201"/>
              </a:spcBef>
              <a:spcAft>
                <a:spcPts val="0"/>
              </a:spcAft>
              <a:buNone/>
            </a:pPr>
            <a:r>
              <a:t/>
            </a:r>
            <a:endParaRPr b="0" i="0" sz="2000" u="none" cap="none" strike="noStrike">
              <a:solidFill>
                <a:srgbClr val="000000"/>
              </a:solidFill>
              <a:latin typeface="Arial"/>
              <a:ea typeface="Arial"/>
              <a:cs typeface="Arial"/>
              <a:sym typeface="Arial"/>
            </a:endParaRPr>
          </a:p>
        </p:txBody>
      </p:sp>
      <p:sp>
        <p:nvSpPr>
          <p:cNvPr id="615" name="Google Shape;615;p7"/>
          <p:cNvSpPr/>
          <p:nvPr/>
        </p:nvSpPr>
        <p:spPr>
          <a:xfrm>
            <a:off x="6401173" y="4769460"/>
            <a:ext cx="5380200" cy="833100"/>
          </a:xfrm>
          <a:prstGeom prst="rect">
            <a:avLst/>
          </a:prstGeom>
          <a:noFill/>
          <a:ln>
            <a:noFill/>
          </a:ln>
        </p:spPr>
        <p:txBody>
          <a:bodyPr anchorCtr="0" anchor="t" bIns="46800" lIns="90000" spcFirstLastPara="1" rIns="90000" wrap="square" tIns="45000">
            <a:noAutofit/>
          </a:bodyPr>
          <a:lstStyle/>
          <a:p>
            <a:pPr indent="-266759" lvl="0" marL="266759" marR="0" rtl="0" algn="l">
              <a:lnSpc>
                <a:spcPct val="100000"/>
              </a:lnSpc>
              <a:spcBef>
                <a:spcPts val="0"/>
              </a:spcBef>
              <a:spcAft>
                <a:spcPts val="0"/>
              </a:spcAft>
              <a:buClr>
                <a:srgbClr val="00ACA7"/>
              </a:buClr>
              <a:buSzPts val="2000"/>
              <a:buFont typeface="Arial"/>
              <a:buChar char="•"/>
            </a:pPr>
            <a:r>
              <a:rPr lang="it-IT" sz="2000">
                <a:solidFill>
                  <a:schemeClr val="dk1"/>
                </a:solidFill>
              </a:rPr>
              <a:t>Reduced number of steps to be as efficient as possible</a:t>
            </a:r>
            <a:endParaRPr b="0" i="0" sz="2000" u="none" cap="none" strike="noStrike">
              <a:solidFill>
                <a:srgbClr val="000000"/>
              </a:solidFill>
              <a:latin typeface="Arial"/>
              <a:ea typeface="Arial"/>
              <a:cs typeface="Arial"/>
              <a:sym typeface="Arial"/>
            </a:endParaRPr>
          </a:p>
          <a:p>
            <a:pPr indent="0" lvl="0" marL="457200" marR="0" rtl="0" algn="l">
              <a:lnSpc>
                <a:spcPct val="100000"/>
              </a:lnSpc>
              <a:spcBef>
                <a:spcPts val="201"/>
              </a:spcBef>
              <a:spcAft>
                <a:spcPts val="0"/>
              </a:spcAft>
              <a:buNone/>
            </a:pPr>
            <a:r>
              <a:t/>
            </a:r>
            <a:endParaRPr b="0" i="0" sz="20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g3abbfcdf618_0_19"/>
          <p:cNvSpPr txBox="1"/>
          <p:nvPr>
            <p:ph type="title"/>
          </p:nvPr>
        </p:nvSpPr>
        <p:spPr>
          <a:xfrm>
            <a:off x="146880" y="160200"/>
            <a:ext cx="11852700" cy="762600"/>
          </a:xfrm>
          <a:prstGeom prst="rect">
            <a:avLst/>
          </a:prstGeom>
          <a:noFill/>
          <a:ln>
            <a:noFill/>
          </a:ln>
        </p:spPr>
        <p:txBody>
          <a:bodyPr anchorCtr="0" anchor="t" bIns="91425" lIns="216000" spcFirstLastPara="1" rIns="91425" wrap="square" tIns="144000">
            <a:noAutofit/>
          </a:bodyPr>
          <a:lstStyle/>
          <a:p>
            <a:pPr indent="0" lvl="0" marL="0" rtl="0" algn="l">
              <a:lnSpc>
                <a:spcPct val="90000"/>
              </a:lnSpc>
              <a:spcBef>
                <a:spcPts val="0"/>
              </a:spcBef>
              <a:spcAft>
                <a:spcPts val="0"/>
              </a:spcAft>
              <a:buClr>
                <a:schemeClr val="accent1"/>
              </a:buClr>
              <a:buSzPts val="4400"/>
              <a:buFont typeface="Century Gothic"/>
              <a:buNone/>
            </a:pPr>
            <a:r>
              <a:rPr b="1" lang="it-IT" sz="4400" u="none" strike="noStrike">
                <a:solidFill>
                  <a:schemeClr val="accent1"/>
                </a:solidFill>
                <a:latin typeface="Century Gothic"/>
                <a:ea typeface="Century Gothic"/>
                <a:cs typeface="Century Gothic"/>
                <a:sym typeface="Century Gothic"/>
              </a:rPr>
              <a:t>CS brach - Segmentation</a:t>
            </a:r>
            <a:endParaRPr b="0" sz="4400" u="none" strike="noStrike">
              <a:solidFill>
                <a:srgbClr val="000000"/>
              </a:solidFill>
              <a:latin typeface="Arial"/>
              <a:ea typeface="Arial"/>
              <a:cs typeface="Arial"/>
              <a:sym typeface="Arial"/>
            </a:endParaRPr>
          </a:p>
        </p:txBody>
      </p:sp>
      <p:sp>
        <p:nvSpPr>
          <p:cNvPr id="622" name="Google Shape;622;g3abbfcdf618_0_19"/>
          <p:cNvSpPr/>
          <p:nvPr/>
        </p:nvSpPr>
        <p:spPr>
          <a:xfrm>
            <a:off x="290880" y="923760"/>
            <a:ext cx="11275800" cy="579300"/>
          </a:xfrm>
          <a:prstGeom prst="rect">
            <a:avLst/>
          </a:prstGeom>
          <a:noFill/>
          <a:ln>
            <a:noFill/>
          </a:ln>
        </p:spPr>
        <p:txBody>
          <a:bodyPr anchorCtr="0" anchor="t" bIns="91425" lIns="90000" spcFirstLastPara="1" rIns="90000" wrap="square" tIns="91425">
            <a:noAutofit/>
          </a:bodyPr>
          <a:lstStyle/>
          <a:p>
            <a:pPr indent="0" lvl="0" marL="0" marR="0" rtl="0" algn="l">
              <a:lnSpc>
                <a:spcPct val="90000"/>
              </a:lnSpc>
              <a:spcBef>
                <a:spcPts val="0"/>
              </a:spcBef>
              <a:spcAft>
                <a:spcPts val="0"/>
              </a:spcAft>
              <a:buNone/>
            </a:pPr>
            <a:r>
              <a:rPr b="1" lang="it-IT" sz="2700">
                <a:solidFill>
                  <a:schemeClr val="accent3"/>
                </a:solidFill>
                <a:latin typeface="Century Gothic"/>
                <a:ea typeface="Century Gothic"/>
                <a:cs typeface="Century Gothic"/>
                <a:sym typeface="Century Gothic"/>
              </a:rPr>
              <a:t>Proposed approach</a:t>
            </a:r>
            <a:endParaRPr b="0" i="0" sz="2700" u="none" cap="none" strike="noStrike">
              <a:solidFill>
                <a:srgbClr val="000000"/>
              </a:solidFill>
              <a:latin typeface="Arial"/>
              <a:ea typeface="Arial"/>
              <a:cs typeface="Arial"/>
              <a:sym typeface="Arial"/>
            </a:endParaRPr>
          </a:p>
        </p:txBody>
      </p:sp>
      <p:pic>
        <p:nvPicPr>
          <p:cNvPr id="623" name="Google Shape;623;g3abbfcdf618_0_19"/>
          <p:cNvPicPr preferRelativeResize="0"/>
          <p:nvPr/>
        </p:nvPicPr>
        <p:blipFill rotWithShape="1">
          <a:blip r:embed="rId3">
            <a:alphaModFix/>
          </a:blip>
          <a:srcRect b="3968" l="64278" r="4387" t="8817"/>
          <a:stretch/>
        </p:blipFill>
        <p:spPr>
          <a:xfrm>
            <a:off x="2138426" y="2056275"/>
            <a:ext cx="2247824" cy="3072175"/>
          </a:xfrm>
          <a:prstGeom prst="rect">
            <a:avLst/>
          </a:prstGeom>
          <a:noFill/>
          <a:ln>
            <a:noFill/>
          </a:ln>
        </p:spPr>
      </p:pic>
      <p:sp>
        <p:nvSpPr>
          <p:cNvPr id="624" name="Google Shape;624;g3abbfcdf618_0_19"/>
          <p:cNvSpPr/>
          <p:nvPr/>
        </p:nvSpPr>
        <p:spPr>
          <a:xfrm>
            <a:off x="450" y="5857330"/>
            <a:ext cx="12191100" cy="531600"/>
          </a:xfrm>
          <a:prstGeom prst="rect">
            <a:avLst/>
          </a:prstGeom>
          <a:noFill/>
          <a:ln>
            <a:noFill/>
          </a:ln>
        </p:spPr>
        <p:txBody>
          <a:bodyPr anchorCtr="0" anchor="t" bIns="75950" lIns="90000" spcFirstLastPara="1" rIns="90000" wrap="square" tIns="75950">
            <a:noAutofit/>
          </a:bodyPr>
          <a:lstStyle/>
          <a:p>
            <a:pPr indent="0" lvl="0" marL="0" marR="0" rtl="0" algn="ctr">
              <a:lnSpc>
                <a:spcPct val="115000"/>
              </a:lnSpc>
              <a:spcBef>
                <a:spcPts val="0"/>
              </a:spcBef>
              <a:spcAft>
                <a:spcPts val="0"/>
              </a:spcAft>
              <a:buNone/>
            </a:pPr>
            <a:r>
              <a:rPr lang="it-IT" sz="1100">
                <a:solidFill>
                  <a:srgbClr val="7F7F7F"/>
                </a:solidFill>
                <a:highlight>
                  <a:srgbClr val="FFFFFF"/>
                </a:highlight>
              </a:rPr>
              <a:t>[7] Hua, W., Zhou, C., Wu, J., Chua, Y., &amp; Shu, Y. (2025). MSVIT: Improving spiking vision transformer using multi-scale attention fusion. arXiv</a:t>
            </a:r>
            <a:endParaRPr sz="1100">
              <a:solidFill>
                <a:srgbClr val="7F7F7F"/>
              </a:solidFill>
              <a:highlight>
                <a:srgbClr val="FFFFFF"/>
              </a:highlight>
            </a:endParaRPr>
          </a:p>
          <a:p>
            <a:pPr indent="0" lvl="0" marL="0" marR="0" rtl="0" algn="ctr">
              <a:lnSpc>
                <a:spcPct val="90000"/>
              </a:lnSpc>
              <a:spcBef>
                <a:spcPts val="0"/>
              </a:spcBef>
              <a:spcAft>
                <a:spcPts val="0"/>
              </a:spcAft>
              <a:buNone/>
            </a:pPr>
            <a:r>
              <a:rPr lang="it-IT" sz="1100">
                <a:solidFill>
                  <a:srgbClr val="7F7F7F"/>
                </a:solidFill>
                <a:highlight>
                  <a:srgbClr val="FFFFFF"/>
                </a:highlight>
              </a:rPr>
              <a:t>[8] Zhou, C., Zhang, H., Zhou, Z., Yu, L., Huang, L., Fan, X., Yuan, L., Ma, Z., Zhou, H., &amp; Tian, Y. (2024). QKFormer: Hierarchical spiking transformer using Q-K attention. arXiv. </a:t>
            </a:r>
            <a:endParaRPr sz="1100">
              <a:solidFill>
                <a:srgbClr val="7F7F7F"/>
              </a:solidFill>
              <a:highlight>
                <a:srgbClr val="FFFFFF"/>
              </a:highlight>
            </a:endParaRPr>
          </a:p>
        </p:txBody>
      </p:sp>
      <p:sp>
        <p:nvSpPr>
          <p:cNvPr id="625" name="Google Shape;625;g3abbfcdf618_0_19"/>
          <p:cNvSpPr/>
          <p:nvPr/>
        </p:nvSpPr>
        <p:spPr>
          <a:xfrm>
            <a:off x="976080" y="1620000"/>
            <a:ext cx="4265400" cy="216000"/>
          </a:xfrm>
          <a:prstGeom prst="rect">
            <a:avLst/>
          </a:prstGeom>
          <a:noFill/>
          <a:ln>
            <a:noFill/>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1" i="0" lang="it-IT" sz="1100" u="none" cap="none" strike="noStrike">
                <a:solidFill>
                  <a:schemeClr val="dk1"/>
                </a:solidFill>
                <a:latin typeface="Century Gothic"/>
                <a:ea typeface="Century Gothic"/>
                <a:cs typeface="Century Gothic"/>
                <a:sym typeface="Century Gothic"/>
              </a:rPr>
              <a:t>MSViT [</a:t>
            </a:r>
            <a:r>
              <a:rPr b="1" lang="it-IT" sz="1100">
                <a:solidFill>
                  <a:schemeClr val="dk1"/>
                </a:solidFill>
                <a:latin typeface="Century Gothic"/>
                <a:ea typeface="Century Gothic"/>
                <a:cs typeface="Century Gothic"/>
                <a:sym typeface="Century Gothic"/>
              </a:rPr>
              <a:t>7</a:t>
            </a:r>
            <a:r>
              <a:rPr b="1" i="0" lang="it-IT" sz="1100" u="none" cap="none" strike="noStrike">
                <a:solidFill>
                  <a:schemeClr val="dk1"/>
                </a:solidFill>
                <a:latin typeface="Century Gothic"/>
                <a:ea typeface="Century Gothic"/>
                <a:cs typeface="Century Gothic"/>
                <a:sym typeface="Century Gothic"/>
              </a:rPr>
              <a:t>]</a:t>
            </a:r>
            <a:endParaRPr b="0" i="0" sz="1100" u="none" cap="none" strike="noStrike">
              <a:solidFill>
                <a:srgbClr val="000000"/>
              </a:solidFill>
              <a:latin typeface="Arial"/>
              <a:ea typeface="Arial"/>
              <a:cs typeface="Arial"/>
              <a:sym typeface="Arial"/>
            </a:endParaRPr>
          </a:p>
        </p:txBody>
      </p:sp>
      <p:pic>
        <p:nvPicPr>
          <p:cNvPr id="626" name="Google Shape;626;g3abbfcdf618_0_19"/>
          <p:cNvPicPr preferRelativeResize="0"/>
          <p:nvPr/>
        </p:nvPicPr>
        <p:blipFill rotWithShape="1">
          <a:blip r:embed="rId4">
            <a:alphaModFix/>
          </a:blip>
          <a:srcRect b="0" l="1431" r="34413" t="0"/>
          <a:stretch/>
        </p:blipFill>
        <p:spPr>
          <a:xfrm>
            <a:off x="6586165" y="2389888"/>
            <a:ext cx="4843462" cy="2404950"/>
          </a:xfrm>
          <a:prstGeom prst="rect">
            <a:avLst/>
          </a:prstGeom>
          <a:noFill/>
          <a:ln>
            <a:noFill/>
          </a:ln>
        </p:spPr>
      </p:pic>
      <p:sp>
        <p:nvSpPr>
          <p:cNvPr id="627" name="Google Shape;627;g3abbfcdf618_0_19"/>
          <p:cNvSpPr/>
          <p:nvPr/>
        </p:nvSpPr>
        <p:spPr>
          <a:xfrm>
            <a:off x="6306673" y="1597640"/>
            <a:ext cx="5569200" cy="260700"/>
          </a:xfrm>
          <a:prstGeom prst="rect">
            <a:avLst/>
          </a:prstGeom>
          <a:noFill/>
          <a:ln>
            <a:noFill/>
          </a:ln>
        </p:spPr>
        <p:txBody>
          <a:bodyPr anchorCtr="0" anchor="ctr" bIns="91425" lIns="90000" spcFirstLastPara="1" rIns="90000" wrap="square" tIns="91425">
            <a:noAutofit/>
          </a:bodyPr>
          <a:lstStyle/>
          <a:p>
            <a:pPr indent="0" lvl="0" marL="0" marR="0" rtl="0" algn="ctr">
              <a:lnSpc>
                <a:spcPct val="100000"/>
              </a:lnSpc>
              <a:spcBef>
                <a:spcPts val="0"/>
              </a:spcBef>
              <a:spcAft>
                <a:spcPts val="0"/>
              </a:spcAft>
              <a:buNone/>
            </a:pPr>
            <a:r>
              <a:rPr b="1" i="0" lang="it-IT" sz="1100" u="none" cap="none" strike="noStrike">
                <a:solidFill>
                  <a:schemeClr val="dk1"/>
                </a:solidFill>
                <a:latin typeface="Century Gothic"/>
                <a:ea typeface="Century Gothic"/>
                <a:cs typeface="Century Gothic"/>
                <a:sym typeface="Century Gothic"/>
              </a:rPr>
              <a:t>QK attention [</a:t>
            </a:r>
            <a:r>
              <a:rPr b="1" lang="it-IT" sz="1100">
                <a:solidFill>
                  <a:schemeClr val="dk1"/>
                </a:solidFill>
                <a:latin typeface="Century Gothic"/>
                <a:ea typeface="Century Gothic"/>
                <a:cs typeface="Century Gothic"/>
                <a:sym typeface="Century Gothic"/>
              </a:rPr>
              <a:t>8</a:t>
            </a:r>
            <a:r>
              <a:rPr b="1" i="0" lang="it-IT" sz="1100" u="none" cap="none" strike="noStrike">
                <a:solidFill>
                  <a:schemeClr val="dk1"/>
                </a:solidFill>
                <a:latin typeface="Century Gothic"/>
                <a:ea typeface="Century Gothic"/>
                <a:cs typeface="Century Gothic"/>
                <a:sym typeface="Century Gothic"/>
              </a:rPr>
              <a:t>]</a:t>
            </a:r>
            <a:endParaRPr b="0" i="0" sz="1100" u="none" cap="none" strike="noStrike">
              <a:solidFill>
                <a:srgbClr val="000000"/>
              </a:solidFill>
              <a:latin typeface="Arial"/>
              <a:ea typeface="Arial"/>
              <a:cs typeface="Arial"/>
              <a:sym typeface="Arial"/>
            </a:endParaRPr>
          </a:p>
        </p:txBody>
      </p:sp>
      <p:sp>
        <p:nvSpPr>
          <p:cNvPr id="628" name="Google Shape;628;g3abbfcdf618_0_19"/>
          <p:cNvSpPr/>
          <p:nvPr/>
        </p:nvSpPr>
        <p:spPr>
          <a:xfrm>
            <a:off x="2138415" y="2882675"/>
            <a:ext cx="2314800" cy="1199100"/>
          </a:xfrm>
          <a:prstGeom prst="roundRect">
            <a:avLst>
              <a:gd fmla="val 16667" name="adj"/>
            </a:avLst>
          </a:prstGeom>
          <a:solidFill>
            <a:schemeClr val="accent4">
              <a:alpha val="15690"/>
            </a:schemeClr>
          </a:solidFill>
          <a:ln cap="flat" cmpd="sng" w="25400">
            <a:solidFill>
              <a:srgbClr val="00678F"/>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629" name="Google Shape;629;g3abbfcdf618_0_19"/>
          <p:cNvCxnSpPr/>
          <p:nvPr/>
        </p:nvCxnSpPr>
        <p:spPr>
          <a:xfrm rot="10800000">
            <a:off x="4453150" y="3493025"/>
            <a:ext cx="1954800" cy="0"/>
          </a:xfrm>
          <a:prstGeom prst="straightConnector1">
            <a:avLst/>
          </a:prstGeom>
          <a:noFill/>
          <a:ln cap="flat" cmpd="sng" w="38100">
            <a:solidFill>
              <a:srgbClr val="00678F"/>
            </a:solidFill>
            <a:prstDash val="solid"/>
            <a:round/>
            <a:headEnd len="sm" w="sm" type="none"/>
            <a:tailEnd len="med" w="med" type="triangle"/>
          </a:ln>
        </p:spPr>
      </p:cxnSp>
      <p:sp>
        <p:nvSpPr>
          <p:cNvPr id="630" name="Google Shape;630;g3abbfcdf618_0_19"/>
          <p:cNvSpPr txBox="1"/>
          <p:nvPr>
            <p:ph idx="1" type="body"/>
          </p:nvPr>
        </p:nvSpPr>
        <p:spPr>
          <a:xfrm>
            <a:off x="1952575" y="5258283"/>
            <a:ext cx="9105900" cy="469200"/>
          </a:xfrm>
          <a:prstGeom prst="rect">
            <a:avLst/>
          </a:prstGeom>
          <a:noFill/>
          <a:ln>
            <a:noFill/>
          </a:ln>
        </p:spPr>
        <p:txBody>
          <a:bodyPr anchorCtr="0" anchor="t" bIns="46800" lIns="91425" spcFirstLastPara="1" rIns="91425" wrap="square" tIns="45700">
            <a:normAutofit/>
          </a:bodyPr>
          <a:lstStyle/>
          <a:p>
            <a:pPr indent="-266759" lvl="0" marL="266759" marR="0" rtl="0" algn="l">
              <a:lnSpc>
                <a:spcPct val="100000"/>
              </a:lnSpc>
              <a:spcBef>
                <a:spcPts val="0"/>
              </a:spcBef>
              <a:spcAft>
                <a:spcPts val="0"/>
              </a:spcAft>
              <a:buClr>
                <a:srgbClr val="00ACA7"/>
              </a:buClr>
              <a:buSzPts val="2000"/>
              <a:buFont typeface="Arial"/>
              <a:buChar char="•"/>
            </a:pPr>
            <a:r>
              <a:rPr b="0" i="0" lang="it-IT" sz="2000" u="none" cap="none" strike="noStrike">
                <a:solidFill>
                  <a:schemeClr val="dk1"/>
                </a:solidFill>
                <a:latin typeface="Arial"/>
                <a:ea typeface="Arial"/>
                <a:cs typeface="Arial"/>
                <a:sym typeface="Arial"/>
              </a:rPr>
              <a:t>Put together the power of MSViT with the efficiency of QKformer</a:t>
            </a:r>
            <a:endParaRPr sz="2000">
              <a:solidFill>
                <a:schemeClr val="dk1"/>
              </a:solidFill>
            </a:endParaRPr>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00678F"/>
      </a:dk2>
      <a:lt2>
        <a:srgbClr val="00CAC2"/>
      </a:lt2>
      <a:accent1>
        <a:srgbClr val="00678F"/>
      </a:accent1>
      <a:accent2>
        <a:srgbClr val="008AA5"/>
      </a:accent2>
      <a:accent3>
        <a:srgbClr val="00ACA7"/>
      </a:accent3>
      <a:accent4>
        <a:srgbClr val="00CAC2"/>
      </a:accent4>
      <a:accent5>
        <a:srgbClr val="7EF9C1"/>
      </a:accent5>
      <a:accent6>
        <a:srgbClr val="A33C54"/>
      </a:accent6>
      <a:hlink>
        <a:srgbClr val="D26E9F"/>
      </a:hlink>
      <a:folHlink>
        <a:srgbClr val="9363B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2023-11-29T12:05:19Z</dcterms:created>
  <dc:creator>Tania Sari Bonaventura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16</vt:i4>
  </property>
  <property fmtid="{D5CDD505-2E9C-101B-9397-08002B2CF9AE}" pid="3" name="PresentationFormat">
    <vt:lpwstr>Widescreen</vt:lpwstr>
  </property>
  <property fmtid="{D5CDD505-2E9C-101B-9397-08002B2CF9AE}" pid="4" name="Slides">
    <vt:i4>16</vt:i4>
  </property>
</Properties>
</file>