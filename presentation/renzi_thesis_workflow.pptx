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0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media/image13.png" ContentType="image/png"/>
  <Override PartName="/ppt/media/image12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17.png" ContentType="image/png"/>
  <Override PartName="/ppt/media/image9.png" ContentType="image/png"/>
  <Override PartName="/ppt/media/image6.png" ContentType="image/png"/>
  <Override PartName="/ppt/media/image1.png" ContentType="image/png"/>
  <Override PartName="/ppt/media/image10.png" ContentType="image/png"/>
  <Override PartName="/ppt/media/image16.png" ContentType="image/png"/>
  <Override PartName="/ppt/media/image3.png" ContentType="image/png"/>
  <Override PartName="/ppt/media/image2.png" ContentType="image/png"/>
  <Override PartName="/ppt/media/image11.png" ContentType="image/png"/>
  <Override PartName="/ppt/media/image7.png" ContentType="image/png"/>
  <Override PartName="/ppt/media/image8.png" ContentType="image/png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fonts/Font_1_Century_Gothic_Regular.fntdata" ContentType="application/x-fontdata"/>
  <Override PartName="/ppt/fonts/Font_7_Noto_Sans_Devanagari_Regular.fntdata" ContentType="application/x-fontdata"/>
  <Override PartName="/ppt/fonts/Font_3_Century_Gothic_Italic.fntdata" ContentType="application/x-fontdata"/>
  <Override PartName="/ppt/fonts/Font_4_Century_Gothic_BoldItalic.fntdata" ContentType="application/x-fontdata"/>
  <Override PartName="/ppt/fonts/Font_2_Century_Gothic_Bold.fntdata" ContentType="application/x-fontdata"/>
  <Override PartName="/ppt/fonts/Font_5_Noto_Sans_CJK_SC_Regular.fntdata" ContentType="application/x-fontdata"/>
  <Override PartName="/ppt/fonts/Font_6_Noto_Sans_CJK_SC_Bold.fntdata" ContentType="application/x-fontdata"/>
  <Override PartName="/ppt/fonts/Font_8_Noto_Sans_Devanagari_Bold.fntdata" ContentType="application/x-fontdata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2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Wingdings"/>
    </p:embeddedFont>
    <p:embeddedFont>
      <p:font typeface="Century Gothic"/>
      <p:regular r:id="rId20"/>
      <p:bold r:id="rId21"/>
      <p:italic r:id="rId22"/>
      <p:boldItalic r:id="rId23"/>
    </p:embeddedFont>
    <p:embeddedFont>
      <p:font typeface="Noto Sans CJK SC"/>
      <p:regular r:id="rId24"/>
      <p:bold r:id="rId25"/>
    </p:embeddedFont>
    <p:embeddedFont>
      <p:font typeface="Roboto"/>
    </p:embeddedFont>
    <p:embeddedFont>
      <p:font typeface="Noto Sans Devanagari"/>
      <p:regular r:id="rId26"/>
      <p:bold r:id="rId27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font" Target="fonts/Font_1_Century_Gothic_Regular.fntdata"/><Relationship Id="rId21" Type="http://schemas.openxmlformats.org/officeDocument/2006/relationships/font" Target="fonts/Font_2_Century_Gothic_Bold.fntdata"/><Relationship Id="rId22" Type="http://schemas.openxmlformats.org/officeDocument/2006/relationships/font" Target="fonts/Font_3_Century_Gothic_Italic.fntdata"/><Relationship Id="rId23" Type="http://schemas.openxmlformats.org/officeDocument/2006/relationships/font" Target="fonts/Font_4_Century_Gothic_BoldItalic.fntdata"/><Relationship Id="rId24" Type="http://schemas.openxmlformats.org/officeDocument/2006/relationships/font" Target="fonts/Font_5_Noto_Sans_CJK_SC_Regular.fntdata"/><Relationship Id="rId25" Type="http://schemas.openxmlformats.org/officeDocument/2006/relationships/font" Target="fonts/Font_6_Noto_Sans_CJK_SC_Bold.fntdata"/><Relationship Id="rId26" Type="http://schemas.openxmlformats.org/officeDocument/2006/relationships/font" Target="fonts/Font_7_Noto_Sans_Devanagari_Regular.fntdata"/><Relationship Id="rId27" Type="http://schemas.openxmlformats.org/officeDocument/2006/relationships/font" Target="fonts/Font_8_Noto_Sans_Devanagari_Bold.fntdata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58A789B-6E48-4163-A56F-6BE264A66C16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E7EF1E-7409-4FB3-AD19-92DA6D1F9CD4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E2D8B8-17CC-4E0C-8A0E-E7CE513770C1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107098-077E-4163-94E9-7A614D210017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E59C1B-22F5-4B19-8CA2-9416FD4EF5B4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56732A-D921-4585-BBE1-EED4240EF0B7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2CCB65-2E03-426E-BC72-A377D5E9EF82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58B2DE-C4B6-47FC-917F-0A0184338315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642074-F09A-4349-BB46-139384363A48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8193E3-8E2A-42E8-B8D1-3F037AB706BC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481B9F-1426-4DBC-BE3C-E69ED9E9EB34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6E771E-DE40-4A52-BC4E-45086590084D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4BF0AE-15F8-4FA1-85D9-74551851DC6D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E30222-24A3-436F-B606-420C614CED93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16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233EC1-486F-44D9-A0A8-DD1E4912AD44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D34381-D63A-4DB4-B9C4-03870A12B4FD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89B330-616D-4CBA-A93B-530C30AC8B6D}" type="slidenum"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3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5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 rot="5400000">
            <a:off x="7133760" y="1956240"/>
            <a:ext cx="5811120" cy="262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 rot="5400000">
            <a:off x="1800360" y="-596160"/>
            <a:ext cx="5811120" cy="773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2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A7D599-D307-4ADF-905A-794C5C9971C4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 hidden="1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11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Google Shape;12;p7" hidden="1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13" name="Google Shape;13;p7" hidden="1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23920" y="1122480"/>
            <a:ext cx="5190480" cy="276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" name="Google Shape;17;p8" descr=""/>
          <p:cNvPicPr/>
          <p:nvPr/>
        </p:nvPicPr>
        <p:blipFill>
          <a:blip r:embed="rId3"/>
          <a:stretch/>
        </p:blipFill>
        <p:spPr>
          <a:xfrm>
            <a:off x="4916880" y="5877360"/>
            <a:ext cx="2795400" cy="76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18;p8" descr="A black background with white text&#10;&#10;Description automatically generated"/>
          <p:cNvPicPr/>
          <p:nvPr/>
        </p:nvPicPr>
        <p:blipFill>
          <a:blip r:embed="rId4"/>
          <a:srcRect l="7343" t="17272" r="6560" b="17334"/>
          <a:stretch/>
        </p:blipFill>
        <p:spPr>
          <a:xfrm>
            <a:off x="1106640" y="5886720"/>
            <a:ext cx="2370960" cy="7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Google Shape;19;p8"/>
          <p:cNvSpPr/>
          <p:nvPr/>
        </p:nvSpPr>
        <p:spPr>
          <a:xfrm rot="20087400">
            <a:off x="7459560" y="-772920"/>
            <a:ext cx="885240" cy="842976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18" name="Google Shape;20;p8"/>
          <p:cNvSpPr/>
          <p:nvPr/>
        </p:nvSpPr>
        <p:spPr>
          <a:xfrm rot="20087400">
            <a:off x="8342640" y="-1881720"/>
            <a:ext cx="5185440" cy="9289800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21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23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dt" idx="3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sldNum" idx="4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8A514A-8CEA-4795-96BA-B224195B167E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32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34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4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5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6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DD5C06-D307-44AD-BC13-FAD5C321AD34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40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42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7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8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4A8EB8-4EC4-4572-8513-61E051D9CACE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49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51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dt" idx="9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10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3218D5-3C0D-4F6D-99D1-0544E6C57A64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55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57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11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sldNum" idx="12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6C617B-4707-42E0-86EB-E045BDEC4B22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64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66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13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sldNum" idx="14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A9E8CB-F8A6-40D6-9EF9-587274C61F3B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10;p7"/>
          <p:cNvSpPr/>
          <p:nvPr/>
        </p:nvSpPr>
        <p:spPr>
          <a:xfrm>
            <a:off x="0" y="6329880"/>
            <a:ext cx="9037440" cy="527400"/>
          </a:xfrm>
          <a:custGeom>
            <a:avLst/>
            <a:gdLst>
              <a:gd name="textAreaLeft" fmla="*/ 0 w 9037440"/>
              <a:gd name="textAreaRight" fmla="*/ 9038160 w 903744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pic>
        <p:nvPicPr>
          <p:cNvPr id="73" name="Google Shape;11;p7" descr=""/>
          <p:cNvPicPr/>
          <p:nvPr/>
        </p:nvPicPr>
        <p:blipFill>
          <a:blip r:embed="rId2"/>
          <a:stretch/>
        </p:blipFill>
        <p:spPr>
          <a:xfrm>
            <a:off x="479520" y="6448680"/>
            <a:ext cx="2100240" cy="36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Google Shape;12;p7"/>
          <p:cNvSpPr/>
          <p:nvPr/>
        </p:nvSpPr>
        <p:spPr>
          <a:xfrm rot="10800000">
            <a:off x="9697320" y="6330600"/>
            <a:ext cx="2494800" cy="527400"/>
          </a:xfrm>
          <a:custGeom>
            <a:avLst/>
            <a:gdLst>
              <a:gd name="textAreaLeft" fmla="*/ 0 w 2494800"/>
              <a:gd name="textAreaRight" fmla="*/ 2495520 w 2494800"/>
              <a:gd name="textAreaTop" fmla="*/ 0 h 527400"/>
              <a:gd name="textAreaBottom" fmla="*/ 528120 h 527400"/>
            </a:gdLst>
            <a:ahLst/>
            <a:cxnLst/>
            <a:rect l="textAreaLeft" t="textAreaTop" r="textAreaRight" b="textAreaBottom"/>
            <a:pathLst>
              <a:path w="9038317" h="575187">
                <a:moveTo>
                  <a:pt x="0" y="0"/>
                </a:moveTo>
                <a:lnTo>
                  <a:pt x="8763621" y="0"/>
                </a:lnTo>
                <a:lnTo>
                  <a:pt x="9038317" y="575187"/>
                </a:lnTo>
                <a:lnTo>
                  <a:pt x="0" y="575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75" name="Google Shape;13;p7"/>
          <p:cNvSpPr/>
          <p:nvPr/>
        </p:nvSpPr>
        <p:spPr>
          <a:xfrm rot="20087400">
            <a:off x="8939880" y="6089040"/>
            <a:ext cx="887400" cy="1029240"/>
          </a:xfrm>
          <a:custGeom>
            <a:avLst/>
            <a:gdLst>
              <a:gd name="textAreaLeft" fmla="*/ 0 w 887400"/>
              <a:gd name="textAreaRight" fmla="*/ 888120 w 887400"/>
              <a:gd name="textAreaTop" fmla="*/ 0 h 1029240"/>
              <a:gd name="textAreaBottom" fmla="*/ 1029960 h 1029240"/>
            </a:gdLst>
            <a:ahLst/>
            <a:cxnLst/>
            <a:rect l="textAreaLeft" t="textAreaTop" r="textAreaRight" b="textAreaBottom"/>
            <a:pathLst>
              <a:path w="888289" h="1029830">
                <a:moveTo>
                  <a:pt x="1706" y="0"/>
                </a:moveTo>
                <a:lnTo>
                  <a:pt x="888289" y="418745"/>
                </a:lnTo>
                <a:cubicBezTo>
                  <a:pt x="887836" y="696227"/>
                  <a:pt x="883548" y="752348"/>
                  <a:pt x="883095" y="1029830"/>
                </a:cubicBezTo>
                <a:lnTo>
                  <a:pt x="0" y="609435"/>
                </a:lnTo>
                <a:cubicBezTo>
                  <a:pt x="201" y="192372"/>
                  <a:pt x="1505" y="417063"/>
                  <a:pt x="1706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it-IT" sz="1800" strike="noStrike" u="none">
              <a:solidFill>
                <a:schemeClr val="lt1"/>
              </a:solidFill>
              <a:effectLst/>
              <a:uFillTx/>
              <a:latin typeface="Century Gothic"/>
              <a:ea typeface="Century Gothic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 rot="5400000">
            <a:off x="3920760" y="-1256040"/>
            <a:ext cx="4350600" cy="1051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it-IT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15"/>
          </p:nvPr>
        </p:nvSpPr>
        <p:spPr>
          <a:xfrm>
            <a:off x="47242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it-IT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16"/>
          </p:nvPr>
        </p:nvSpPr>
        <p:spPr>
          <a:xfrm>
            <a:off x="8610480" y="6365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E6AB91-8AF5-4EEA-B2FD-7C5C9FD53F63}" type="slidenum">
              <a:rPr b="0" lang="it-IT" sz="1200" strike="noStrike" u="none">
                <a:solidFill>
                  <a:srgbClr val="888888"/>
                </a:solidFill>
                <a:effectLst/>
                <a:uFillTx/>
                <a:latin typeface="Century Gothic"/>
                <a:ea typeface="Century Gothic"/>
              </a:rPr>
              <a:t>&lt;number&gt;</a:t>
            </a:fld>
            <a:endParaRPr b="0" lang="it-IT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hyperlink" Target="https://doi.org/10.3390/rs14010161" TargetMode="External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hyperlink" Target="https://arxiv.org/abs/2505.14719v3" TargetMode="External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hyperlink" Target="https://indico.esa.int/event/531/contributions/10627/attachments/6642/11819/poster_SEFUW_print.pdf" TargetMode="External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123920" y="1122480"/>
            <a:ext cx="5190480" cy="276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60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On-Board RFI detection</a:t>
            </a:r>
            <a:endParaRPr b="0" lang="it-IT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123920" y="3952800"/>
            <a:ext cx="6322680" cy="130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Paolo Renzi 1887793</a:t>
            </a:r>
            <a:endParaRPr b="0" lang="it-IT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Google Shape;420;p23" descr=""/>
          <p:cNvPicPr/>
          <p:nvPr/>
        </p:nvPicPr>
        <p:blipFill>
          <a:blip r:embed="rId1"/>
          <a:stretch/>
        </p:blipFill>
        <p:spPr>
          <a:xfrm>
            <a:off x="8790120" y="1638360"/>
            <a:ext cx="3363120" cy="33631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351720" y="1014840"/>
            <a:ext cx="11332080" cy="47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 fontScale="6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Per applicare le correzioni, l’idea è la seguente: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Mantieni il formato nel limiti del possibile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I commenti a fumetto vanno addressati e poi rimossi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Per ogni slide seleziona 3/4 parole da mettere in grassetto che rappresentino le chiavi di lettura delle slide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Ogni frase max 1 riga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Centriamo rispetto alla slide immagini/cose </a:t>
            </a:r>
            <a:r>
              <a:rPr b="1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like no tomorrow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Animazioni solo se necessarie, transizioni morphing a 0.5 secondi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20000"/>
              </a:lnSpc>
              <a:buClr>
                <a:srgbClr val="00aca7"/>
              </a:buClr>
              <a:buFont typeface="Arial"/>
              <a:buChar char="•"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Se hai altre idee implementale senza problems </a:t>
            </a: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Wingdings"/>
                <a:ea typeface="Century Gothic"/>
              </a:rPr>
              <a:t>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Naturalmente cancella questa slide una volta fatte le correzioni ;)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it-IT" sz="36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(te lo dico non perché non mi fidi di te, ma perché una volta c’è mancato poco che una cosa simile finisse nella presentazione di tesi e da lì sono traumatizzato LOL) </a:t>
            </a:r>
            <a:endParaRPr b="0" lang="it-IT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Backgro</a:t>
            </a: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und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Radio Frequency Interference (RFI)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34800" y="1503720"/>
            <a:ext cx="1156572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Signals human generated in the same frequency used by the satellite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Dove avvengono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Don’t allow to see and ruins the SAR image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Synthetic Aperture Radar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magine 7" descr=""/>
          <p:cNvPicPr/>
          <p:nvPr/>
        </p:nvPicPr>
        <p:blipFill>
          <a:blip r:embed="rId1"/>
          <a:srcRect l="3834" t="51360" r="4903" b="1805"/>
          <a:stretch/>
        </p:blipFill>
        <p:spPr>
          <a:xfrm>
            <a:off x="2499120" y="3043800"/>
            <a:ext cx="3093480" cy="299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magine 8" descr=""/>
          <p:cNvPicPr/>
          <p:nvPr/>
        </p:nvPicPr>
        <p:blipFill>
          <a:blip r:embed="rId2"/>
          <a:srcRect l="0" t="1642" r="5206" b="51360"/>
          <a:stretch/>
        </p:blipFill>
        <p:spPr>
          <a:xfrm>
            <a:off x="6269760" y="3039120"/>
            <a:ext cx="3134160" cy="293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Fumetto: rettangolo con angoli arrotondati 1"/>
          <p:cNvSpPr/>
          <p:nvPr/>
        </p:nvSpPr>
        <p:spPr>
          <a:xfrm>
            <a:off x="6814080" y="923760"/>
            <a:ext cx="3243600" cy="1386720"/>
          </a:xfrm>
          <a:prstGeom prst="wedgeRoundRectCallout">
            <a:avLst>
              <a:gd name="adj1" fmla="val -70640"/>
              <a:gd name="adj2" fmla="val 178518"/>
              <a:gd name="adj3" fmla="val 16667"/>
            </a:avLst>
          </a:prstGeom>
          <a:solidFill>
            <a:srgbClr val="00678f"/>
          </a:solidFill>
          <a:ln>
            <a:solidFill>
              <a:srgbClr val="002d3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Riusciamo ad avere due immagini di migliore risoluzione? Magari le prendiamo dal dataset e le plottiamo bene una affianco all’altra in un’unica figura</a:t>
            </a:r>
            <a:endParaRPr b="0" lang="it-IT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Background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Problems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34800" y="1503720"/>
            <a:ext cx="11565720" cy="11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Data is hard to find and no ground truth exists in those cases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Lightweight/Efficency in the model is necessary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Fumetto: rettangolo con angoli arrotondati 1"/>
          <p:cNvSpPr/>
          <p:nvPr/>
        </p:nvSpPr>
        <p:spPr>
          <a:xfrm>
            <a:off x="4307040" y="3322440"/>
            <a:ext cx="3243600" cy="1386720"/>
          </a:xfrm>
          <a:prstGeom prst="wedgeRoundRectCallout">
            <a:avLst>
              <a:gd name="adj1" fmla="val -15621"/>
              <a:gd name="adj2" fmla="val 120734"/>
              <a:gd name="adj3" fmla="val 16667"/>
            </a:avLst>
          </a:prstGeom>
          <a:solidFill>
            <a:srgbClr val="00678f"/>
          </a:solidFill>
          <a:ln>
            <a:solidFill>
              <a:srgbClr val="002d3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it-IT" sz="1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Magari due immagini, una che giustifica il primo punto, una che fa vedere su quale hardware deve runnare il tutto</a:t>
            </a:r>
            <a:endParaRPr b="0" lang="it-IT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080000" y="2499120"/>
            <a:ext cx="5169240" cy="344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40000" y="2700000"/>
            <a:ext cx="4853520" cy="272988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Proposed approach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Two branch pipeline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290880" y="5317560"/>
            <a:ext cx="11516400" cy="8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1" lang="it-IT" sz="2000" strike="noStrike" u="none">
                <a:solidFill>
                  <a:schemeClr val="accent2"/>
                </a:solidFill>
                <a:effectLst/>
                <a:uFillTx/>
                <a:latin typeface="Arial"/>
                <a:ea typeface="Century Gothic"/>
              </a:rPr>
              <a:t>CS brach: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 first a classification step to see if the RFI is there then segmentation to find it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1" lang="it-IT" sz="2000" strike="noStrike" u="none">
                <a:solidFill>
                  <a:schemeClr val="accent4"/>
                </a:solidFill>
                <a:effectLst/>
                <a:uFillTx/>
                <a:latin typeface="Arial"/>
                <a:ea typeface="Century Gothic"/>
              </a:rPr>
              <a:t>Anomaly branch:</a:t>
            </a: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 check for anomaly on th burst scale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" name="Gruppo 22"/>
          <p:cNvGrpSpPr/>
          <p:nvPr/>
        </p:nvGrpSpPr>
        <p:grpSpPr>
          <a:xfrm>
            <a:off x="879480" y="1565640"/>
            <a:ext cx="10098720" cy="3751200"/>
            <a:chOff x="879480" y="1565640"/>
            <a:chExt cx="10098720" cy="3751200"/>
          </a:xfrm>
        </p:grpSpPr>
        <p:grpSp>
          <p:nvGrpSpPr>
            <p:cNvPr id="106" name="Gruppo 21"/>
            <p:cNvGrpSpPr/>
            <p:nvPr/>
          </p:nvGrpSpPr>
          <p:grpSpPr>
            <a:xfrm>
              <a:off x="879480" y="1565640"/>
              <a:ext cx="10098720" cy="3751200"/>
              <a:chOff x="879480" y="1565640"/>
              <a:chExt cx="10098720" cy="3751200"/>
            </a:xfrm>
          </p:grpSpPr>
          <p:sp>
            <p:nvSpPr>
              <p:cNvPr id="107" name="CasellaDiTesto 9"/>
              <p:cNvSpPr/>
              <p:nvPr/>
            </p:nvSpPr>
            <p:spPr>
              <a:xfrm>
                <a:off x="6523920" y="1565640"/>
                <a:ext cx="1194120" cy="307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algn="ctr">
                  <a:lnSpc>
                    <a:spcPct val="100000"/>
                  </a:lnSpc>
                </a:pPr>
                <a:r>
                  <a:rPr b="1" lang="it-IT" sz="1400" strike="noStrike" u="none">
                    <a:solidFill>
                      <a:schemeClr val="accent2"/>
                    </a:solidFill>
                    <a:effectLst/>
                    <a:uFillTx/>
                    <a:latin typeface="Arial"/>
                    <a:ea typeface="Arial"/>
                  </a:rPr>
                  <a:t>CS branch</a:t>
                </a:r>
                <a:endParaRPr b="0" lang="it-IT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08" name="Immagine 13" descr=""/>
              <p:cNvPicPr/>
              <p:nvPr/>
            </p:nvPicPr>
            <p:blipFill>
              <a:blip r:embed="rId1"/>
              <a:stretch/>
            </p:blipFill>
            <p:spPr>
              <a:xfrm>
                <a:off x="879480" y="1919520"/>
                <a:ext cx="10098720" cy="29768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cxnSp>
            <p:nvCxnSpPr>
              <p:cNvPr id="109" name="Connettore diritto 10"/>
              <p:cNvCxnSpPr/>
              <p:nvPr/>
            </p:nvCxnSpPr>
            <p:spPr>
              <a:xfrm>
                <a:off x="3375720" y="4943160"/>
                <a:ext cx="5407920" cy="720"/>
              </a:xfrm>
              <a:prstGeom prst="straightConnector1">
                <a:avLst/>
              </a:prstGeom>
              <a:ln w="0">
                <a:solidFill>
                  <a:srgbClr val="00cac2"/>
                </a:solidFill>
                <a:headEnd len="med" type="oval" w="med"/>
                <a:tailEnd len="med" type="oval" w="med"/>
              </a:ln>
            </p:spPr>
          </p:cxnSp>
          <p:sp>
            <p:nvSpPr>
              <p:cNvPr id="110" name="CasellaDiTesto 11"/>
              <p:cNvSpPr/>
              <p:nvPr/>
            </p:nvSpPr>
            <p:spPr>
              <a:xfrm>
                <a:off x="5271840" y="5009760"/>
                <a:ext cx="1614600" cy="3070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b="1" lang="it-IT" sz="1400" strike="noStrike" u="none">
                    <a:solidFill>
                      <a:schemeClr val="accent4"/>
                    </a:solidFill>
                    <a:effectLst/>
                    <a:uFillTx/>
                    <a:latin typeface="Arial"/>
                    <a:ea typeface="Arial"/>
                  </a:rPr>
                  <a:t>Anomaly branch</a:t>
                </a:r>
                <a:endParaRPr b="0" lang="it-IT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11" name="Connettore diritto 8"/>
            <p:cNvCxnSpPr/>
            <p:nvPr/>
          </p:nvCxnSpPr>
          <p:spPr>
            <a:xfrm>
              <a:off x="3375720" y="1919520"/>
              <a:ext cx="7491600" cy="720"/>
            </a:xfrm>
            <a:prstGeom prst="straightConnector1">
              <a:avLst/>
            </a:prstGeom>
            <a:ln w="0">
              <a:solidFill>
                <a:srgbClr val="00648b"/>
              </a:solidFill>
              <a:headEnd len="med" type="oval" w="med"/>
              <a:tailEnd len="med" type="oval" w="med"/>
            </a:ln>
          </p:spPr>
        </p:cxnSp>
      </p:grp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CS brach - Classification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Models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magine 1" descr=""/>
          <p:cNvPicPr/>
          <p:nvPr/>
        </p:nvPicPr>
        <p:blipFill>
          <a:blip r:embed="rId1"/>
          <a:stretch/>
        </p:blipFill>
        <p:spPr>
          <a:xfrm>
            <a:off x="418680" y="1820160"/>
            <a:ext cx="5441760" cy="28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Google Shape;724;g35c1ac36009_0_12"/>
          <p:cNvSpPr/>
          <p:nvPr/>
        </p:nvSpPr>
        <p:spPr>
          <a:xfrm>
            <a:off x="0" y="5982480"/>
            <a:ext cx="12191400" cy="4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spAutoFit/>
          </a:bodyPr>
          <a:p>
            <a:pPr algn="ctr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it-IT" sz="11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[1]Shi, C., Zhang, X., Sun, J., &amp; Wang, L. (2022). A lightweight convolutional neural network based on group-wise hybrid attention for remote sensing scene classification. Remote Sensing, 14(1), Article 161. </a:t>
            </a:r>
            <a:r>
              <a:rPr b="0" lang="it-IT" sz="11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  <a:hlinkClick r:id="rId2"/>
              </a:rPr>
              <a:t>https://doi.org/10.3390/rs14010161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magine 5" descr=""/>
          <p:cNvPicPr/>
          <p:nvPr/>
        </p:nvPicPr>
        <p:blipFill>
          <a:blip r:embed="rId3"/>
          <a:stretch/>
        </p:blipFill>
        <p:spPr>
          <a:xfrm>
            <a:off x="7085880" y="2273400"/>
            <a:ext cx="3959280" cy="196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Google Shape;769;g35c1ac36009_0_61"/>
          <p:cNvSpPr/>
          <p:nvPr/>
        </p:nvSpPr>
        <p:spPr>
          <a:xfrm>
            <a:off x="86400" y="1558800"/>
            <a:ext cx="556956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Unconditioned DDPM Trained From Scratch [1]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769;g35c1ac36009_0_61"/>
          <p:cNvSpPr/>
          <p:nvPr/>
        </p:nvSpPr>
        <p:spPr>
          <a:xfrm>
            <a:off x="6535440" y="1558800"/>
            <a:ext cx="556956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Simple CNN [2]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18680" y="4798800"/>
            <a:ext cx="5380560" cy="8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lightweight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Still achives SOTA scores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egnaposto testo 5"/>
          <p:cNvSpPr/>
          <p:nvPr/>
        </p:nvSpPr>
        <p:spPr>
          <a:xfrm>
            <a:off x="6535440" y="4740120"/>
            <a:ext cx="5380560" cy="83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Baseline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Even lighter and more customizable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CS brach - Classification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Results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Tabella 9"/>
          <p:cNvGraphicFramePr/>
          <p:nvPr/>
        </p:nvGraphicFramePr>
        <p:xfrm>
          <a:off x="2031840" y="2381760"/>
          <a:ext cx="8408160" cy="1269000"/>
        </p:xfrm>
        <a:graphic>
          <a:graphicData uri="http://schemas.openxmlformats.org/drawingml/2006/table">
            <a:tbl>
              <a:tblPr/>
              <a:tblGrid>
                <a:gridCol w="2550240"/>
                <a:gridCol w="1323720"/>
                <a:gridCol w="1383480"/>
                <a:gridCol w="1193040"/>
                <a:gridCol w="1957680"/>
              </a:tblGrid>
              <a:tr h="528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Precision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Recall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 Score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DDPM [1]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70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CNN [2]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CS </a:t>
            </a: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brach - </a:t>
            </a: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Segmen</a:t>
            </a: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tation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Models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magine 1" descr=""/>
          <p:cNvPicPr/>
          <p:nvPr/>
        </p:nvPicPr>
        <p:blipFill>
          <a:blip r:embed="rId1"/>
          <a:srcRect l="0" t="1134" r="0" b="0"/>
          <a:stretch/>
        </p:blipFill>
        <p:spPr>
          <a:xfrm>
            <a:off x="360000" y="1836720"/>
            <a:ext cx="5889960" cy="285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Google Shape;724;g35c1ac36009_0_12"/>
          <p:cNvSpPr/>
          <p:nvPr/>
        </p:nvSpPr>
        <p:spPr>
          <a:xfrm>
            <a:off x="0" y="5982480"/>
            <a:ext cx="121914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spAutoFit/>
          </a:bodyPr>
          <a:p>
            <a:pPr algn="ctr">
              <a:lnSpc>
                <a:spcPct val="50000"/>
              </a:lnSpc>
              <a:spcBef>
                <a:spcPts val="1191"/>
              </a:spcBef>
              <a:tabLst>
                <a:tab algn="l" pos="0"/>
              </a:tabLst>
            </a:pPr>
            <a:r>
              <a:rPr b="0" lang="it-IT" sz="10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[3]Hua, W., Zhou, C., Wu, J., Chua, Y., &amp; Shu, Y. (2025). MSVIT: Improving spiking vision transformer using multi-scale attention fusion. ArXiv. </a:t>
            </a:r>
            <a:r>
              <a:rPr b="0" lang="it-IT" sz="10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  <a:hlinkClick r:id="rId2"/>
              </a:rPr>
              <a:t>https://arxiv.org/abs/2505.14719v3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it-IT" sz="10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[4]Zhou, C., Zhang, H., Zhou, Z., Yu, L., Huang, L., Fan, X., Yuan, L., Ma, Z., Zhou, H., &amp; Tian, Y. (2024). QKFormer: Hierarchical spiking transformer using Q-K attention. arXiv. 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769;g35c1ac36009_0_61"/>
          <p:cNvSpPr/>
          <p:nvPr/>
        </p:nvSpPr>
        <p:spPr>
          <a:xfrm>
            <a:off x="1172160" y="1620000"/>
            <a:ext cx="4265640" cy="2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MSViT [3]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2204640" y="5100480"/>
            <a:ext cx="7052040" cy="8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Bello perché 1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Bello perché 2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magine 2" descr=""/>
          <p:cNvPicPr/>
          <p:nvPr/>
        </p:nvPicPr>
        <p:blipFill>
          <a:blip r:embed="rId3"/>
          <a:stretch/>
        </p:blipFill>
        <p:spPr>
          <a:xfrm>
            <a:off x="6120360" y="2247480"/>
            <a:ext cx="5939280" cy="189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Google Shape;769;g35c1ac36009_0_ 1"/>
          <p:cNvSpPr/>
          <p:nvPr/>
        </p:nvSpPr>
        <p:spPr>
          <a:xfrm>
            <a:off x="6421680" y="2058840"/>
            <a:ext cx="556956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QK attention [4]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CS brach - Segmentation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Results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Tabella 1"/>
          <p:cNvGraphicFramePr/>
          <p:nvPr/>
        </p:nvGraphicFramePr>
        <p:xfrm>
          <a:off x="2032200" y="2418120"/>
          <a:ext cx="8408160" cy="1269000"/>
        </p:xfrm>
        <a:graphic>
          <a:graphicData uri="http://schemas.openxmlformats.org/drawingml/2006/table">
            <a:tbl>
              <a:tblPr/>
              <a:tblGrid>
                <a:gridCol w="2550240"/>
                <a:gridCol w="1323720"/>
                <a:gridCol w="1383480"/>
                <a:gridCol w="1193040"/>
                <a:gridCol w="1957680"/>
              </a:tblGrid>
              <a:tr h="528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Precision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Recall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 Score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DDPM [1]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70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CNN [2]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CS brach - Segmentation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Proposed approach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724;g35c1ac36009_0_12"/>
          <p:cNvSpPr/>
          <p:nvPr/>
        </p:nvSpPr>
        <p:spPr>
          <a:xfrm>
            <a:off x="0" y="5982480"/>
            <a:ext cx="121914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it-IT" sz="10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[4]Zhou, C., Zhang, H., Zhou, Z., Yu, L., Huang, L., Fan, X., Yuan, L., Ma, Z., Zhou, H., &amp; Tian, Y. (2024). QKFormer: Hierarchical spiking transformer using Q-K attention. arXiv. 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magine 5" descr=""/>
          <p:cNvPicPr/>
          <p:nvPr/>
        </p:nvPicPr>
        <p:blipFill>
          <a:blip r:embed="rId1"/>
          <a:stretch/>
        </p:blipFill>
        <p:spPr>
          <a:xfrm>
            <a:off x="4918680" y="2267280"/>
            <a:ext cx="5939280" cy="189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Immagine 8" descr=""/>
          <p:cNvPicPr/>
          <p:nvPr/>
        </p:nvPicPr>
        <p:blipFill>
          <a:blip r:embed="rId2"/>
          <a:srcRect l="12" t="0" r="12" b="0"/>
          <a:stretch/>
        </p:blipFill>
        <p:spPr>
          <a:xfrm>
            <a:off x="1488240" y="1586160"/>
            <a:ext cx="2382120" cy="32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Rettangolo 14"/>
          <p:cNvSpPr/>
          <p:nvPr/>
        </p:nvSpPr>
        <p:spPr>
          <a:xfrm>
            <a:off x="1087200" y="2827800"/>
            <a:ext cx="520560" cy="1690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it-IT" sz="1800" strike="noStrike" u="non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1" name="Rettangolo con angoli arrotondati 15"/>
          <p:cNvSpPr/>
          <p:nvPr/>
        </p:nvSpPr>
        <p:spPr>
          <a:xfrm>
            <a:off x="1405440" y="2586600"/>
            <a:ext cx="2315160" cy="1199520"/>
          </a:xfrm>
          <a:prstGeom prst="roundRect">
            <a:avLst>
              <a:gd name="adj" fmla="val 16667"/>
            </a:avLst>
          </a:prstGeom>
          <a:solidFill>
            <a:schemeClr val="accent4">
              <a:alpha val="16000"/>
            </a:schemeClr>
          </a:solidFill>
          <a:ln>
            <a:solidFill>
              <a:srgbClr val="00678f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it-IT" sz="1400" strike="noStrike" u="non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142" name="Connettore 2 17"/>
          <p:cNvCxnSpPr>
            <a:stCxn id="141" idx="3"/>
          </p:cNvCxnSpPr>
          <p:nvPr/>
        </p:nvCxnSpPr>
        <p:spPr>
          <a:xfrm>
            <a:off x="3720600" y="3186360"/>
            <a:ext cx="1145520" cy="10440"/>
          </a:xfrm>
          <a:prstGeom prst="straightConnector1">
            <a:avLst/>
          </a:prstGeom>
          <a:ln w="38100">
            <a:solidFill>
              <a:srgbClr val="00678f"/>
            </a:solidFill>
            <a:round/>
            <a:tailEnd len="med" type="triangle" w="med"/>
          </a:ln>
        </p:spPr>
      </p:cxnSp>
      <p:sp>
        <p:nvSpPr>
          <p:cNvPr id="143" name="Google Shape;769;g35c1ac36009_0_61"/>
          <p:cNvSpPr/>
          <p:nvPr/>
        </p:nvSpPr>
        <p:spPr>
          <a:xfrm>
            <a:off x="5220000" y="2078640"/>
            <a:ext cx="556956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QK attention [4]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333440" y="4746240"/>
            <a:ext cx="9106200" cy="8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Puts together the power of MSViT with the efficiency of QKformer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CS brach - Segmentation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Results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7" name="Tabella 2"/>
          <p:cNvGraphicFramePr/>
          <p:nvPr/>
        </p:nvGraphicFramePr>
        <p:xfrm>
          <a:off x="2246040" y="2390760"/>
          <a:ext cx="8408160" cy="1269000"/>
        </p:xfrm>
        <a:graphic>
          <a:graphicData uri="http://schemas.openxmlformats.org/drawingml/2006/table">
            <a:tbl>
              <a:tblPr/>
              <a:tblGrid>
                <a:gridCol w="2550240"/>
                <a:gridCol w="1323720"/>
                <a:gridCol w="1383480"/>
                <a:gridCol w="1193040"/>
                <a:gridCol w="1957680"/>
              </a:tblGrid>
              <a:tr h="528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Precision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Recall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 Score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DDPM [1]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70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CNN [2]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Anomaly brach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Models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magine 1" descr=""/>
          <p:cNvPicPr/>
          <p:nvPr/>
        </p:nvPicPr>
        <p:blipFill>
          <a:blip r:embed="rId1"/>
          <a:stretch/>
        </p:blipFill>
        <p:spPr>
          <a:xfrm>
            <a:off x="643320" y="1646640"/>
            <a:ext cx="4992840" cy="282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Google Shape;724;g35c1ac36009_0_12"/>
          <p:cNvSpPr/>
          <p:nvPr/>
        </p:nvSpPr>
        <p:spPr>
          <a:xfrm>
            <a:off x="0" y="5982480"/>
            <a:ext cx="1219140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spAutoFit/>
          </a:bodyPr>
          <a:p>
            <a:pPr algn="ctr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it-IT" sz="11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[5] Ritirato, P., Sorrentino, G., &amp; Conficconi, D. (2024). Spiking autoencoder architecture for anomaly detection on satellite data with FPGAs [Poster]. European Space Agency. </a:t>
            </a:r>
            <a:r>
              <a:rPr b="0" lang="it-IT" sz="11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  <a:hlinkClick r:id="rId2"/>
              </a:rPr>
              <a:t>https://indico.esa.int/event/531/contributions/10627/attachments/6642/11819/poster_SEFUW_print.pdf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2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it-IT" sz="10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[6]George, A., Mihaylova, L., &amp; Anderson, S. (2025). Explainable deep convolutional multi-type anomaly detection. arXiv.https://arxiv.org/abs/2511.11165v1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magine 5" descr=""/>
          <p:cNvPicPr/>
          <p:nvPr/>
        </p:nvPicPr>
        <p:blipFill>
          <a:blip r:embed="rId3"/>
          <a:stretch/>
        </p:blipFill>
        <p:spPr>
          <a:xfrm>
            <a:off x="7254720" y="2099880"/>
            <a:ext cx="3621600" cy="196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Google Shape;769;g35c1ac36009_0_61"/>
          <p:cNvSpPr/>
          <p:nvPr/>
        </p:nvSpPr>
        <p:spPr>
          <a:xfrm>
            <a:off x="761040" y="1384920"/>
            <a:ext cx="489492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ADStrobot [5]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769;g35c1ac36009_0_61"/>
          <p:cNvSpPr/>
          <p:nvPr/>
        </p:nvSpPr>
        <p:spPr>
          <a:xfrm>
            <a:off x="6535440" y="1384920"/>
            <a:ext cx="556956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MultiTypeFCDD [6]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18680" y="4798800"/>
            <a:ext cx="5380560" cy="8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Lightweight U-style net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Spiking network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egnaposto testo 5"/>
          <p:cNvSpPr/>
          <p:nvPr/>
        </p:nvSpPr>
        <p:spPr>
          <a:xfrm>
            <a:off x="6535440" y="4740120"/>
            <a:ext cx="5380560" cy="83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Standar Convolutional encoder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Heatmap output to find the Interference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Anomaly branch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Results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9" name="Tabella 3"/>
          <p:cNvGraphicFramePr/>
          <p:nvPr/>
        </p:nvGraphicFramePr>
        <p:xfrm>
          <a:off x="1907640" y="2415600"/>
          <a:ext cx="8408160" cy="1269000"/>
        </p:xfrm>
        <a:graphic>
          <a:graphicData uri="http://schemas.openxmlformats.org/drawingml/2006/table">
            <a:tbl>
              <a:tblPr/>
              <a:tblGrid>
                <a:gridCol w="2550240"/>
                <a:gridCol w="1323720"/>
                <a:gridCol w="1383480"/>
                <a:gridCol w="1193040"/>
                <a:gridCol w="1957680"/>
              </a:tblGrid>
              <a:tr h="528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Precision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Recall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 Score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DDPM [1]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70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CNN [2]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Anomaly brach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Proposed approach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724;g35c1ac36009_0_12"/>
          <p:cNvSpPr/>
          <p:nvPr/>
        </p:nvSpPr>
        <p:spPr>
          <a:xfrm>
            <a:off x="0" y="5982480"/>
            <a:ext cx="1219140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it-IT" sz="11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Metti qui le references in stile APA, una sotto l’altra se più di una, davanti ad ognuna metti il numeretto [x]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769;g35c1ac36009_0_61"/>
          <p:cNvSpPr/>
          <p:nvPr/>
        </p:nvSpPr>
        <p:spPr>
          <a:xfrm>
            <a:off x="3190320" y="1355040"/>
            <a:ext cx="4894920" cy="2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it-IT" sz="1100" strike="noStrike" u="none">
                <a:solidFill>
                  <a:schemeClr val="dk1"/>
                </a:solidFill>
                <a:effectLst/>
                <a:uFillTx/>
                <a:latin typeface="Century Gothic"/>
                <a:ea typeface="Arial"/>
              </a:rPr>
              <a:t>Spiking CNN autoencoder [7] (la cit è per l’autoencoder)</a:t>
            </a:r>
            <a:endParaRPr b="0" lang="it-IT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18680" y="4798800"/>
            <a:ext cx="5380560" cy="83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Bello perché 1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Bello perché 2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magine 11" descr=""/>
          <p:cNvPicPr/>
          <p:nvPr/>
        </p:nvPicPr>
        <p:blipFill>
          <a:blip r:embed="rId1"/>
          <a:stretch/>
        </p:blipFill>
        <p:spPr>
          <a:xfrm>
            <a:off x="3498120" y="1632600"/>
            <a:ext cx="4139280" cy="30229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Anomaly branch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Results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Tabella 4"/>
          <p:cNvGraphicFramePr/>
          <p:nvPr/>
        </p:nvGraphicFramePr>
        <p:xfrm>
          <a:off x="2032200" y="2382120"/>
          <a:ext cx="8408160" cy="1269000"/>
        </p:xfrm>
        <a:graphic>
          <a:graphicData uri="http://schemas.openxmlformats.org/drawingml/2006/table">
            <a:tbl>
              <a:tblPr/>
              <a:tblGrid>
                <a:gridCol w="2550240"/>
                <a:gridCol w="1323720"/>
                <a:gridCol w="1383480"/>
                <a:gridCol w="1193040"/>
                <a:gridCol w="1957680"/>
              </a:tblGrid>
              <a:tr h="528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Method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Accuracy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Precision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Recall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F1 Score (%)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678f"/>
                      </a:solidFill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DDPM [1]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accent1">
                        <a:alpha val="20000"/>
                      </a:schemeClr>
                    </a:solidFill>
                  </a:tcPr>
                </a:tc>
              </a:tr>
              <a:tr h="370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CNN [2]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…</a:t>
                      </a:r>
                      <a:endParaRPr b="0" lang="it-IT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it-IT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678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146880" y="160200"/>
            <a:ext cx="11853000" cy="762840"/>
          </a:xfrm>
          <a:prstGeom prst="rect">
            <a:avLst/>
          </a:prstGeom>
          <a:noFill/>
          <a:ln w="0">
            <a:noFill/>
          </a:ln>
        </p:spPr>
        <p:txBody>
          <a:bodyPr lIns="216000" rIns="91440" tIns="14400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chemeClr val="accent1"/>
                </a:solidFill>
                <a:effectLst/>
                <a:uFillTx/>
                <a:latin typeface="Century Gothic"/>
                <a:ea typeface="Century Gothic"/>
              </a:rPr>
              <a:t>Next steps</a:t>
            </a:r>
            <a:endParaRPr b="0" lang="it-IT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1252;g399254cf8a6_0_0"/>
          <p:cNvSpPr/>
          <p:nvPr/>
        </p:nvSpPr>
        <p:spPr>
          <a:xfrm>
            <a:off x="290880" y="923760"/>
            <a:ext cx="112762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</a:pPr>
            <a:r>
              <a:rPr b="1" lang="it-IT" sz="2700" strike="noStrike" u="none">
                <a:solidFill>
                  <a:schemeClr val="accent3"/>
                </a:solidFill>
                <a:effectLst/>
                <a:uFillTx/>
                <a:latin typeface="Century Gothic"/>
                <a:ea typeface="Century Gothic"/>
              </a:rPr>
              <a:t>Energy</a:t>
            </a:r>
            <a:endParaRPr b="0" lang="it-IT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334800" y="1503720"/>
            <a:ext cx="11565720" cy="117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6800" anchor="t">
            <a:normAutofit/>
          </a:bodyPr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Very useful in OOD detection [7]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Can use previously trained models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>
              <a:lnSpc>
                <a:spcPct val="100000"/>
              </a:lnSpc>
              <a:spcAft>
                <a:spcPts val="201"/>
              </a:spcAft>
              <a:buClr>
                <a:srgbClr val="00aca7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Century Gothic"/>
              </a:rPr>
              <a:t>Checks the difference in logits betwen in and out of distributions samples</a:t>
            </a:r>
            <a:endParaRPr b="0" lang="it-IT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724;g35c1ac36009_0_12"/>
          <p:cNvSpPr/>
          <p:nvPr/>
        </p:nvSpPr>
        <p:spPr>
          <a:xfrm>
            <a:off x="0" y="5982480"/>
            <a:ext cx="12191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960" bIns="75960" anchor="t">
            <a:spAutoFit/>
          </a:bodyPr>
          <a:p>
            <a:pPr algn="ctr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it-IT" sz="1000" strike="noStrike" u="none">
                <a:solidFill>
                  <a:schemeClr val="lt1">
                    <a:lumMod val="50000"/>
                  </a:schemeClr>
                </a:solidFill>
                <a:effectLst/>
                <a:highlight>
                  <a:srgbClr val="ffffff"/>
                </a:highlight>
                <a:uFillTx/>
                <a:latin typeface="Arial"/>
                <a:ea typeface="Roboto"/>
              </a:rPr>
              <a:t>[7]Liu, W., Wang, X., Owens, J. D., &amp; Li, Y. (2021, April 26). Energy-based out-of-distribution detection. ArXiv https://arxiv.org/pdf/2010.03759</a:t>
            </a:r>
            <a:endParaRPr b="0" lang="it-IT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980000" y="2715480"/>
            <a:ext cx="8771760" cy="3044520"/>
          </a:xfrm>
          <a:prstGeom prst="rect">
            <a:avLst/>
          </a:prstGeom>
          <a:noFill/>
          <a:ln w="0"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0678f"/>
      </a:dk2>
      <a:lt2>
        <a:srgbClr val="00cac2"/>
      </a:lt2>
      <a:accent1>
        <a:srgbClr val="00678f"/>
      </a:accent1>
      <a:accent2>
        <a:srgbClr val="008aa5"/>
      </a:accent2>
      <a:accent3>
        <a:srgbClr val="00aca7"/>
      </a:accent3>
      <a:accent4>
        <a:srgbClr val="00cac2"/>
      </a:accent4>
      <a:accent5>
        <a:srgbClr val="7ef9c1"/>
      </a:accent5>
      <a:accent6>
        <a:srgbClr val="a33c54"/>
      </a:accent6>
      <a:hlink>
        <a:srgbClr val="d26e9f"/>
      </a:hlink>
      <a:folHlink>
        <a:srgbClr val="9363b4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Application>LibreOffice/25.8.3.2$Linux_X86_64 LibreOffice_project/580$Build-2</Application>
  <AppVersion>15.0000</AppVersion>
  <Words>705</Words>
  <Paragraphs>141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2023-11-29T12:05:19Z</dcterms:created>
  <dc:creator>Tania Sari Bonaventura</dc:creator>
  <dc:description/>
  <dc:language>it-IT</dc:language>
  <cp:lastModifiedBy/>
  <dcterms:modified xsi:type="dcterms:W3CDTF">2025-11-27T15:02:57Z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Widescreen</vt:lpwstr>
  </property>
  <property fmtid="{D5CDD505-2E9C-101B-9397-08002B2CF9AE}" pid="4" name="Slides">
    <vt:i4>16</vt:i4>
  </property>
</Properties>
</file>